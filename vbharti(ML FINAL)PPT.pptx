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81" r:id="rId2"/>
    <p:sldId id="352" r:id="rId3"/>
    <p:sldId id="324" r:id="rId4"/>
    <p:sldId id="326" r:id="rId5"/>
    <p:sldId id="327" r:id="rId6"/>
    <p:sldId id="328" r:id="rId7"/>
    <p:sldId id="330" r:id="rId8"/>
    <p:sldId id="331" r:id="rId9"/>
    <p:sldId id="332" r:id="rId10"/>
    <p:sldId id="334" r:id="rId11"/>
    <p:sldId id="335" r:id="rId12"/>
    <p:sldId id="336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6" r:id="rId21"/>
    <p:sldId id="348" r:id="rId22"/>
    <p:sldId id="349" r:id="rId23"/>
    <p:sldId id="351" r:id="rId24"/>
    <p:sldId id="32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0CDD76-BD36-47DC-99AA-4CCC20B4F73D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735777-EAE7-4633-AED0-7C67901D44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303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35777-EAE7-4633-AED0-7C67901D44A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6816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735777-EAE7-4633-AED0-7C67901D44A4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3565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F5DC5-E8E1-4A4B-A884-6C770968C94A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towardsdatascience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analyticsvidhya.com/" TargetMode="External"/><Relationship Id="rId5" Type="http://schemas.openxmlformats.org/officeDocument/2006/relationships/hyperlink" Target="https://en.wikipedia.org/wiki/Machine_learning" TargetMode="External"/><Relationship Id="rId4" Type="http://schemas.openxmlformats.org/officeDocument/2006/relationships/hyperlink" Target="https://www.geeksforgeeks.org/machine-learning/" TargetMode="External"/><Relationship Id="rId9" Type="http://schemas.openxmlformats.org/officeDocument/2006/relationships/hyperlink" Target="https://scikit-learn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latin typeface="Georgia" pitchFamily="34" charset="0"/>
              </a:rPr>
              <a:t>Machine Learning</a:t>
            </a:r>
            <a:endParaRPr lang="en-US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</a:t>
            </a:r>
            <a:r>
              <a:rPr lang="en-US" sz="1467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Vishav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Bharti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Miss Riya 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532B7D-8A63-4600-9B2F-48936A864DF8}"/>
              </a:ext>
            </a:extLst>
          </p:cNvPr>
          <p:cNvSpPr/>
          <p:nvPr/>
        </p:nvSpPr>
        <p:spPr>
          <a:xfrm>
            <a:off x="435685" y="1173487"/>
            <a:ext cx="1105761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Introduction to Machine Learning.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Data </a:t>
            </a:r>
            <a:r>
              <a:rPr lang="en-IN" sz="2800" dirty="0" err="1"/>
              <a:t>Preprocessing</a:t>
            </a:r>
            <a:r>
              <a:rPr lang="en-IN" sz="2800" dirty="0"/>
              <a:t> &amp; EDA.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Linear &amp; Logistic Regression.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Decision Trees &amp; Random Forests.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SVM &amp; K-Nearest </a:t>
            </a:r>
            <a:r>
              <a:rPr lang="en-IN" sz="2800" dirty="0" err="1"/>
              <a:t>Neighbors</a:t>
            </a:r>
            <a:r>
              <a:rPr lang="en-IN" sz="2800" dirty="0"/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Clustering &amp; Dimensionality Reduction.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Model Evaluation &amp; Hyperparameter Tuning.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Feature Engineering &amp; Pipelines.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Introduction to NLP.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2800" dirty="0"/>
              <a:t>Machine Learning Capstone.</a:t>
            </a:r>
          </a:p>
        </p:txBody>
      </p:sp>
    </p:spTree>
    <p:extLst>
      <p:ext uri="{BB962C8B-B14F-4D97-AF65-F5344CB8AC3E}">
        <p14:creationId xmlns:p14="http://schemas.microsoft.com/office/powerpoint/2010/main" val="886605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Machine learning 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52AE20-C73A-4F8A-A93A-7CD91D4F289D}"/>
              </a:ext>
            </a:extLst>
          </p:cNvPr>
          <p:cNvSpPr txBox="1"/>
          <p:nvPr/>
        </p:nvSpPr>
        <p:spPr>
          <a:xfrm>
            <a:off x="435685" y="994359"/>
            <a:ext cx="30131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i="1" dirty="0">
                <a:solidFill>
                  <a:schemeClr val="accent1">
                    <a:lumMod val="75000"/>
                  </a:schemeClr>
                </a:solidFill>
              </a:rPr>
              <a:t>What is Machine Learning?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3C5318-881B-44C9-8497-4AD1C946ADA6}"/>
              </a:ext>
            </a:extLst>
          </p:cNvPr>
          <p:cNvSpPr txBox="1"/>
          <p:nvPr/>
        </p:nvSpPr>
        <p:spPr>
          <a:xfrm>
            <a:off x="435685" y="1418743"/>
            <a:ext cx="1133856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Machine Learning (ML) is a branch of Artificial Intelligence (AI) that enables computers to learn patterns from data and make predictions or decisions without being explicitly programmed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B7550B-6D4C-42A2-B3C0-E0C737AF0257}"/>
              </a:ext>
            </a:extLst>
          </p:cNvPr>
          <p:cNvSpPr txBox="1"/>
          <p:nvPr/>
        </p:nvSpPr>
        <p:spPr>
          <a:xfrm>
            <a:off x="362533" y="2014895"/>
            <a:ext cx="11338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Types of Machine Learning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D4C2AB-8D9F-4F8C-876C-3D1918A1B73D}"/>
              </a:ext>
            </a:extLst>
          </p:cNvPr>
          <p:cNvSpPr txBox="1"/>
          <p:nvPr/>
        </p:nvSpPr>
        <p:spPr>
          <a:xfrm>
            <a:off x="417755" y="2646926"/>
            <a:ext cx="83516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model learns using </a:t>
            </a:r>
            <a:r>
              <a:rPr lang="en-US" sz="1600" b="1" dirty="0"/>
              <a:t>labeled data</a:t>
            </a:r>
            <a:r>
              <a:rPr lang="en-US" sz="1600" dirty="0"/>
              <a:t>, where the correct output is already known</a:t>
            </a:r>
            <a:r>
              <a:rPr lang="en-US" dirty="0"/>
              <a:t>.</a:t>
            </a:r>
          </a:p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Examples</a:t>
            </a:r>
            <a:r>
              <a:rPr lang="en-IN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/>
              <a:t>Email spam classification.</a:t>
            </a:r>
          </a:p>
          <a:p>
            <a:endParaRPr lang="en-IN" b="1" dirty="0"/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8FBF8F26-A1D9-4386-BF43-6FD21C727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755" y="2328566"/>
            <a:ext cx="113385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Supervised learning: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14C6B1B-A14A-4D94-BA7F-147B0C66D003}"/>
              </a:ext>
            </a:extLst>
          </p:cNvPr>
          <p:cNvSpPr txBox="1"/>
          <p:nvPr/>
        </p:nvSpPr>
        <p:spPr>
          <a:xfrm>
            <a:off x="435685" y="3429901"/>
            <a:ext cx="585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Unsupervised learning: </a:t>
            </a:r>
            <a:endParaRPr lang="en-IN" b="1" dirty="0">
              <a:solidFill>
                <a:srgbClr val="C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DB7AC5-351C-4D47-9F4A-67D21C49D7EA}"/>
              </a:ext>
            </a:extLst>
          </p:cNvPr>
          <p:cNvSpPr txBox="1"/>
          <p:nvPr/>
        </p:nvSpPr>
        <p:spPr>
          <a:xfrm>
            <a:off x="435685" y="3748063"/>
            <a:ext cx="10213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model learns from </a:t>
            </a:r>
            <a:r>
              <a:rPr lang="en-US" sz="1600" b="1" dirty="0"/>
              <a:t>unlabeled data</a:t>
            </a:r>
            <a:r>
              <a:rPr lang="en-US" sz="1600" dirty="0"/>
              <a:t> by identifying hidden patterns.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Examples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Customer segmentation.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87E988-D405-4357-BDE3-5CDFD1379A87}"/>
              </a:ext>
            </a:extLst>
          </p:cNvPr>
          <p:cNvSpPr txBox="1"/>
          <p:nvPr/>
        </p:nvSpPr>
        <p:spPr>
          <a:xfrm>
            <a:off x="11721625" y="6584434"/>
            <a:ext cx="24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D83A82-B6CB-4048-A6EB-67061CC33993}"/>
              </a:ext>
            </a:extLst>
          </p:cNvPr>
          <p:cNvSpPr txBox="1"/>
          <p:nvPr/>
        </p:nvSpPr>
        <p:spPr>
          <a:xfrm>
            <a:off x="435685" y="4472281"/>
            <a:ext cx="559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Reinforcement Learning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97698C9-D4E2-4FE6-8F54-55452F64291A}"/>
              </a:ext>
            </a:extLst>
          </p:cNvPr>
          <p:cNvSpPr/>
          <p:nvPr/>
        </p:nvSpPr>
        <p:spPr>
          <a:xfrm>
            <a:off x="435685" y="467352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An agent learns by interacting with an environment and receiving rewards or penalties.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Components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Agent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Environment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Actions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Rewards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5644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EA6FB-FD1D-4D96-A343-D6C3FC5E245D}"/>
              </a:ext>
            </a:extLst>
          </p:cNvPr>
          <p:cNvSpPr txBox="1"/>
          <p:nvPr/>
        </p:nvSpPr>
        <p:spPr>
          <a:xfrm>
            <a:off x="417755" y="885417"/>
            <a:ext cx="11057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rgbClr val="C00000"/>
                </a:solidFill>
              </a:rPr>
              <a:t>Machine Learning Workflow :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AEC2A429-5B42-441F-9301-6F7B86961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755" y="1276543"/>
            <a:ext cx="815053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Preprocessing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Clean and transform data.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Selection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Choose algorithm (e.g., decision tree, neural network).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Fit the model to training data.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Test accuracy and performance.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Integrate into real-world applications.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Gather raw data.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Track performance and retrain if needed</a:t>
            </a:r>
          </a:p>
        </p:txBody>
      </p:sp>
      <p:pic>
        <p:nvPicPr>
          <p:cNvPr id="2051" name="Picture 3" descr="Workflow of machine learning for effective data processing outline ...">
            <a:extLst>
              <a:ext uri="{FF2B5EF4-FFF2-40B4-BE49-F238E27FC236}">
                <a16:creationId xmlns:a16="http://schemas.microsoft.com/office/drawing/2014/main" id="{39FAC90E-31A6-48AE-9C02-9853FFEF53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3092425"/>
            <a:ext cx="4002641" cy="3206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580343-854E-4C25-8899-A76C532244EC}"/>
              </a:ext>
            </a:extLst>
          </p:cNvPr>
          <p:cNvSpPr/>
          <p:nvPr/>
        </p:nvSpPr>
        <p:spPr>
          <a:xfrm>
            <a:off x="8366585" y="5519097"/>
            <a:ext cx="439271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6CB719-7EC8-4224-BA7C-EACC4A158691}"/>
              </a:ext>
            </a:extLst>
          </p:cNvPr>
          <p:cNvSpPr txBox="1"/>
          <p:nvPr/>
        </p:nvSpPr>
        <p:spPr>
          <a:xfrm>
            <a:off x="11721625" y="6584434"/>
            <a:ext cx="24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63A77A-9A27-4971-9D82-30B200BF3EDC}"/>
              </a:ext>
            </a:extLst>
          </p:cNvPr>
          <p:cNvSpPr/>
          <p:nvPr/>
        </p:nvSpPr>
        <p:spPr>
          <a:xfrm>
            <a:off x="417754" y="82642"/>
            <a:ext cx="109943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ML </a:t>
            </a:r>
            <a:r>
              <a:rPr lang="en-US" sz="2800" b="1" dirty="0" err="1">
                <a:solidFill>
                  <a:schemeClr val="accent1">
                    <a:lumMod val="50000"/>
                  </a:schemeClr>
                </a:solidFill>
              </a:rPr>
              <a:t>Workfflow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endParaRPr lang="en-IN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755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EE3C3C-A38F-4DE8-8F93-122EA308C560}"/>
              </a:ext>
            </a:extLst>
          </p:cNvPr>
          <p:cNvSpPr txBox="1"/>
          <p:nvPr/>
        </p:nvSpPr>
        <p:spPr>
          <a:xfrm>
            <a:off x="346037" y="1500372"/>
            <a:ext cx="1105761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 preprocessing is the process of cleaning, transforming, and organizing raw data into a format suitable for machine learning models. High-quality preprocessing improves model accuracy, reduces bias, and speeds up training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EA09B6A5-3CD7-455E-A46B-A14B28275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037" y="2212012"/>
            <a:ext cx="1105761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Handling Missing Values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occur due to incomplete data collection, system errors, or unavailable information. They must be handled before model training.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Methods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 err="1"/>
              <a:t>Fillna</a:t>
            </a:r>
            <a:r>
              <a:rPr lang="en-US" sz="1600" b="1" dirty="0"/>
              <a:t>()- </a:t>
            </a:r>
            <a:r>
              <a:rPr lang="en-US" sz="1600" dirty="0"/>
              <a:t>Replaces missing values with statistical measures such as mean, median, mode, or a fixed value.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600" b="1" dirty="0" err="1"/>
              <a:t>Dropna</a:t>
            </a:r>
            <a:r>
              <a:rPr lang="en-US" sz="1600" b="1" dirty="0"/>
              <a:t>()-</a:t>
            </a:r>
            <a:r>
              <a:rPr lang="en-US" sz="1600" dirty="0"/>
              <a:t>Removes rows or columns containing missing values when they are few or not critical.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1600" dirty="0"/>
              <a:t> -Pandas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39CEC7-8CB5-4D4F-B639-27F597412FB7}"/>
              </a:ext>
            </a:extLst>
          </p:cNvPr>
          <p:cNvSpPr txBox="1"/>
          <p:nvPr/>
        </p:nvSpPr>
        <p:spPr>
          <a:xfrm>
            <a:off x="346037" y="4562825"/>
            <a:ext cx="109679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Advantages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 Improves data quality.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 Prevents model errors.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 Produces more reliable predictions.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3E6C68-AB17-4A6D-8D94-CDAA68CEED9B}"/>
              </a:ext>
            </a:extLst>
          </p:cNvPr>
          <p:cNvSpPr txBox="1"/>
          <p:nvPr/>
        </p:nvSpPr>
        <p:spPr>
          <a:xfrm>
            <a:off x="435685" y="5207825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6CD15B-0687-44AD-8EBB-470229AF5849}"/>
              </a:ext>
            </a:extLst>
          </p:cNvPr>
          <p:cNvSpPr txBox="1"/>
          <p:nvPr/>
        </p:nvSpPr>
        <p:spPr>
          <a:xfrm>
            <a:off x="346037" y="1009754"/>
            <a:ext cx="3859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Data </a:t>
            </a:r>
            <a:r>
              <a:rPr lang="en-IN" b="1" dirty="0" err="1">
                <a:solidFill>
                  <a:srgbClr val="C00000"/>
                </a:solidFill>
              </a:rPr>
              <a:t>preprocessing</a:t>
            </a:r>
            <a:r>
              <a:rPr lang="en-IN" b="1" dirty="0">
                <a:solidFill>
                  <a:srgbClr val="C00000"/>
                </a:solidFill>
              </a:rPr>
              <a:t>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929F64-8853-4ABA-A49F-4D27769B8DC6}"/>
              </a:ext>
            </a:extLst>
          </p:cNvPr>
          <p:cNvSpPr txBox="1"/>
          <p:nvPr/>
        </p:nvSpPr>
        <p:spPr>
          <a:xfrm>
            <a:off x="11721625" y="6584434"/>
            <a:ext cx="24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4CA67C-4A7E-4047-A9FE-27D0443EC539}"/>
              </a:ext>
            </a:extLst>
          </p:cNvPr>
          <p:cNvSpPr/>
          <p:nvPr/>
        </p:nvSpPr>
        <p:spPr>
          <a:xfrm>
            <a:off x="417754" y="82642"/>
            <a:ext cx="109943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Data preprocessing &amp;  Handling Missing values</a:t>
            </a:r>
            <a:endParaRPr lang="en-IN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748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54C4D0-CA2E-4BFE-82C9-12BEA7158169}"/>
              </a:ext>
            </a:extLst>
          </p:cNvPr>
          <p:cNvSpPr txBox="1"/>
          <p:nvPr/>
        </p:nvSpPr>
        <p:spPr>
          <a:xfrm>
            <a:off x="5795682" y="312868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2E375E-7C4A-49B8-99C0-46A207F890B3}"/>
              </a:ext>
            </a:extLst>
          </p:cNvPr>
          <p:cNvSpPr txBox="1"/>
          <p:nvPr/>
        </p:nvSpPr>
        <p:spPr>
          <a:xfrm>
            <a:off x="435685" y="1018209"/>
            <a:ext cx="4961965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6895AA-EEFA-4215-9CEC-7D08B0DF6B53}"/>
              </a:ext>
            </a:extLst>
          </p:cNvPr>
          <p:cNvSpPr txBox="1"/>
          <p:nvPr/>
        </p:nvSpPr>
        <p:spPr>
          <a:xfrm>
            <a:off x="435684" y="994359"/>
            <a:ext cx="1105761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Encoding Categorical Variables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sz="1600" dirty="0"/>
              <a:t>Machine learning algorithms work with numerical data, so categorical variables must be converted into numbers.</a:t>
            </a:r>
          </a:p>
          <a:p>
            <a:r>
              <a:rPr lang="en-US" sz="1600" i="1" dirty="0"/>
              <a:t>Why it matters: ML algorithms work with numbers, not text.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869B29-0A06-45B5-935D-C6125C521DFF}"/>
              </a:ext>
            </a:extLst>
          </p:cNvPr>
          <p:cNvSpPr txBox="1"/>
          <p:nvPr/>
        </p:nvSpPr>
        <p:spPr>
          <a:xfrm>
            <a:off x="435684" y="1879983"/>
            <a:ext cx="11152637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Techniques:</a:t>
            </a:r>
            <a:endParaRPr lang="en-IN" dirty="0"/>
          </a:p>
          <a:p>
            <a:r>
              <a:rPr lang="en-IN" sz="1600" b="1" dirty="0" err="1"/>
              <a:t>LabelEncoder</a:t>
            </a:r>
            <a:r>
              <a:rPr lang="en-IN" sz="1600" dirty="0"/>
              <a:t>: Converts categories into integers (</a:t>
            </a:r>
            <a:r>
              <a:rPr lang="en-US" sz="1600" dirty="0"/>
              <a:t>Assigns a unique integer to each category.</a:t>
            </a:r>
            <a:r>
              <a:rPr lang="en-IN" sz="1600" dirty="0"/>
              <a:t>). </a:t>
            </a: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</a:p>
          <a:p>
            <a:endParaRPr lang="en-IN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r>
              <a:rPr lang="en-IN" sz="1600" b="1" dirty="0" err="1"/>
              <a:t>OneHotEncoder</a:t>
            </a:r>
            <a:r>
              <a:rPr lang="en-IN" sz="1600" dirty="0"/>
              <a:t>: Creates binary columns for each category (</a:t>
            </a:r>
            <a:r>
              <a:rPr lang="en-US" sz="1600" dirty="0"/>
              <a:t>Creates a separate binary column for each category</a:t>
            </a:r>
            <a:r>
              <a:rPr lang="en-IN" sz="1600" dirty="0"/>
              <a:t>). </a:t>
            </a:r>
            <a:endParaRPr lang="en-IN" dirty="0"/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IN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3D9C5222-F13E-4883-9CF1-DDBD356D9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763952"/>
              </p:ext>
            </p:extLst>
          </p:nvPr>
        </p:nvGraphicFramePr>
        <p:xfrm>
          <a:off x="525328" y="2789100"/>
          <a:ext cx="11057616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8808">
                  <a:extLst>
                    <a:ext uri="{9D8B030D-6E8A-4147-A177-3AD203B41FA5}">
                      <a16:colId xmlns:a16="http://schemas.microsoft.com/office/drawing/2014/main" val="2042174586"/>
                    </a:ext>
                  </a:extLst>
                </a:gridCol>
                <a:gridCol w="5528808">
                  <a:extLst>
                    <a:ext uri="{9D8B030D-6E8A-4147-A177-3AD203B41FA5}">
                      <a16:colId xmlns:a16="http://schemas.microsoft.com/office/drawing/2014/main" val="39325245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Gender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Encoded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3277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83899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Female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468144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1B52952-13B2-45D1-85F4-34910A2EC3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002062"/>
              </p:ext>
            </p:extLst>
          </p:nvPr>
        </p:nvGraphicFramePr>
        <p:xfrm>
          <a:off x="525327" y="4912059"/>
          <a:ext cx="1106836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7092">
                  <a:extLst>
                    <a:ext uri="{9D8B030D-6E8A-4147-A177-3AD203B41FA5}">
                      <a16:colId xmlns:a16="http://schemas.microsoft.com/office/drawing/2014/main" val="499931370"/>
                    </a:ext>
                  </a:extLst>
                </a:gridCol>
                <a:gridCol w="2767092">
                  <a:extLst>
                    <a:ext uri="{9D8B030D-6E8A-4147-A177-3AD203B41FA5}">
                      <a16:colId xmlns:a16="http://schemas.microsoft.com/office/drawing/2014/main" val="1853190466"/>
                    </a:ext>
                  </a:extLst>
                </a:gridCol>
                <a:gridCol w="2767092">
                  <a:extLst>
                    <a:ext uri="{9D8B030D-6E8A-4147-A177-3AD203B41FA5}">
                      <a16:colId xmlns:a16="http://schemas.microsoft.com/office/drawing/2014/main" val="3283057861"/>
                    </a:ext>
                  </a:extLst>
                </a:gridCol>
                <a:gridCol w="2767092">
                  <a:extLst>
                    <a:ext uri="{9D8B030D-6E8A-4147-A177-3AD203B41FA5}">
                      <a16:colId xmlns:a16="http://schemas.microsoft.com/office/drawing/2014/main" val="37851127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err="1"/>
                        <a:t>Color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Green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875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3201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180598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9BACE68-677C-40C5-80C9-86BF1486CEC0}"/>
              </a:ext>
            </a:extLst>
          </p:cNvPr>
          <p:cNvSpPr txBox="1"/>
          <p:nvPr/>
        </p:nvSpPr>
        <p:spPr>
          <a:xfrm>
            <a:off x="11721625" y="6584434"/>
            <a:ext cx="24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B38FAE-5155-4021-AC45-8A18FE00206F}"/>
              </a:ext>
            </a:extLst>
          </p:cNvPr>
          <p:cNvSpPr/>
          <p:nvPr/>
        </p:nvSpPr>
        <p:spPr>
          <a:xfrm>
            <a:off x="417754" y="82642"/>
            <a:ext cx="109943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Encoding categorical variables</a:t>
            </a:r>
            <a:endParaRPr lang="en-IN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124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B9D353-956A-4C6D-9D42-70A11048F403}"/>
              </a:ext>
            </a:extLst>
          </p:cNvPr>
          <p:cNvSpPr txBox="1"/>
          <p:nvPr/>
        </p:nvSpPr>
        <p:spPr>
          <a:xfrm>
            <a:off x="435684" y="1229122"/>
            <a:ext cx="11057613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Feature Scaling</a:t>
            </a:r>
          </a:p>
          <a:p>
            <a:r>
              <a:rPr lang="en-IN" sz="1600" dirty="0"/>
              <a:t>Features with different ranges can bias machine learning models. Scaling ensures equal importance.</a:t>
            </a:r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r>
              <a:rPr lang="en-US" sz="1600" b="1" dirty="0">
                <a:solidFill>
                  <a:srgbClr val="C00000"/>
                </a:solidFill>
              </a:rPr>
              <a:t>Train-Test Split</a:t>
            </a:r>
          </a:p>
          <a:p>
            <a:r>
              <a:rPr lang="en-US" sz="1600" dirty="0"/>
              <a:t>Separates data for training and evaluation.</a:t>
            </a:r>
          </a:p>
          <a:p>
            <a:r>
              <a:rPr lang="en-US" sz="1600" dirty="0"/>
              <a:t>Common ratio: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80% Training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20% Testing</a:t>
            </a:r>
          </a:p>
          <a:p>
            <a:endParaRPr lang="en-US" sz="1600" b="1" dirty="0"/>
          </a:p>
          <a:p>
            <a:endParaRPr lang="en-IN" sz="1600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B79D438-868A-4BFE-81D9-F0D95CEC81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303022"/>
              </p:ext>
            </p:extLst>
          </p:nvPr>
        </p:nvGraphicFramePr>
        <p:xfrm>
          <a:off x="435684" y="1954542"/>
          <a:ext cx="11057613" cy="2519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5273">
                  <a:extLst>
                    <a:ext uri="{9D8B030D-6E8A-4147-A177-3AD203B41FA5}">
                      <a16:colId xmlns:a16="http://schemas.microsoft.com/office/drawing/2014/main" val="1165162667"/>
                    </a:ext>
                  </a:extLst>
                </a:gridCol>
                <a:gridCol w="5522340">
                  <a:extLst>
                    <a:ext uri="{9D8B030D-6E8A-4147-A177-3AD203B41FA5}">
                      <a16:colId xmlns:a16="http://schemas.microsoft.com/office/drawing/2014/main" val="1785886879"/>
                    </a:ext>
                  </a:extLst>
                </a:gridCol>
              </a:tblGrid>
              <a:tr h="554391">
                <a:tc>
                  <a:txBody>
                    <a:bodyPr/>
                    <a:lstStyle/>
                    <a:p>
                      <a:r>
                        <a:rPr lang="en-US" dirty="0"/>
                        <a:t>                </a:t>
                      </a:r>
                      <a:r>
                        <a:rPr lang="en-US" dirty="0" err="1"/>
                        <a:t>StandardScaler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              </a:t>
                      </a:r>
                      <a:r>
                        <a:rPr lang="en-US" dirty="0" err="1">
                          <a:solidFill>
                            <a:schemeClr val="bg1"/>
                          </a:solidFill>
                        </a:rPr>
                        <a:t>MinMaxscaler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08197"/>
                  </a:ext>
                </a:extLst>
              </a:tr>
              <a:tr h="19651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Formula:</a:t>
                      </a:r>
                      <a:r>
                        <a:rPr lang="en-IN" sz="18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 </a:t>
                      </a:r>
                      <a:endParaRPr lang="en-US" sz="1800" dirty="0"/>
                    </a:p>
                    <a:p>
                      <a:endParaRPr lang="en-IN" sz="1800" dirty="0"/>
                    </a:p>
                    <a:p>
                      <a:endParaRPr lang="en-IN" sz="1800" dirty="0"/>
                    </a:p>
                    <a:p>
                      <a:r>
                        <a:rPr lang="en-IN" sz="1800" dirty="0"/>
                        <a:t>Mean = 0 </a:t>
                      </a:r>
                    </a:p>
                    <a:p>
                      <a:r>
                        <a:rPr lang="en-IN" sz="1800" dirty="0"/>
                        <a:t>Standard Deviation = 1 </a:t>
                      </a:r>
                    </a:p>
                    <a:p>
                      <a:r>
                        <a:rPr lang="en-IN" sz="1800" dirty="0"/>
                        <a:t>Used in- SVM, Logistic Regression, 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F</a:t>
                      </a:r>
                      <a:r>
                        <a:rPr lang="en-IN" sz="18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ormula</a:t>
                      </a:r>
                      <a:r>
                        <a:rPr lang="en-IN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: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8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/>
                        <a:t>Range = 0 to 1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657716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8E22F6F0-FD30-4EEA-8B27-1C8BD4906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2037" y="2611678"/>
            <a:ext cx="1369438" cy="8573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A3B626-CF2F-404A-8572-EE2DDEFE6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704" y="2668836"/>
            <a:ext cx="1743318" cy="7430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6DB328-08EA-44B9-AC26-E0DB9BF122AC}"/>
              </a:ext>
            </a:extLst>
          </p:cNvPr>
          <p:cNvSpPr txBox="1"/>
          <p:nvPr/>
        </p:nvSpPr>
        <p:spPr>
          <a:xfrm>
            <a:off x="11721625" y="6584434"/>
            <a:ext cx="24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4CCE0A-6C57-4C6B-A218-899C9C2E9030}"/>
              </a:ext>
            </a:extLst>
          </p:cNvPr>
          <p:cNvSpPr/>
          <p:nvPr/>
        </p:nvSpPr>
        <p:spPr>
          <a:xfrm>
            <a:off x="417754" y="82642"/>
            <a:ext cx="109943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Feature scaling </a:t>
            </a:r>
            <a:endParaRPr lang="en-IN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3985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95F34-C949-461C-9EBA-CC702688C20E}"/>
              </a:ext>
            </a:extLst>
          </p:cNvPr>
          <p:cNvSpPr txBox="1"/>
          <p:nvPr/>
        </p:nvSpPr>
        <p:spPr>
          <a:xfrm>
            <a:off x="435685" y="933544"/>
            <a:ext cx="11057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Exploratory Data Analysis (EDA)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38C20B-529C-4160-A8B2-DDCA50BD6081}"/>
              </a:ext>
            </a:extLst>
          </p:cNvPr>
          <p:cNvSpPr txBox="1"/>
          <p:nvPr/>
        </p:nvSpPr>
        <p:spPr>
          <a:xfrm>
            <a:off x="435684" y="1256709"/>
            <a:ext cx="1105761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is EDA?</a:t>
            </a:r>
          </a:p>
          <a:p>
            <a:r>
              <a:rPr lang="en-US" sz="1600" dirty="0"/>
              <a:t>EDA helps understand data before building a machine learning model.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Objectives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Find missing values 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Understand distributions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Discover relationships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/>
              <a:t>Identify patterns</a:t>
            </a:r>
            <a:endParaRPr lang="en-IN" sz="1600" dirty="0"/>
          </a:p>
          <a:p>
            <a:endParaRPr lang="en-US" sz="1600" b="1" dirty="0"/>
          </a:p>
          <a:p>
            <a:r>
              <a:rPr lang="en-US" sz="1600" b="1" dirty="0"/>
              <a:t>Purpose:</a:t>
            </a:r>
            <a:r>
              <a:rPr lang="en-US" sz="1600" dirty="0"/>
              <a:t> Understand data distribution and relationships before modeling.</a:t>
            </a:r>
            <a:endParaRPr lang="en-US" sz="1600" b="1" dirty="0"/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Tools:</a:t>
            </a:r>
            <a:endParaRPr lang="en-US" sz="16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sz="1600" b="1" dirty="0"/>
              <a:t>Seaborn</a:t>
            </a:r>
            <a:r>
              <a:rPr lang="en-US" sz="1600" dirty="0"/>
              <a:t>: High-level statistical plots (heatmap, boxplot).</a:t>
            </a:r>
          </a:p>
          <a:p>
            <a:r>
              <a:rPr lang="en-US" sz="1600" b="1" dirty="0"/>
              <a:t>Matplotlib</a:t>
            </a:r>
            <a:r>
              <a:rPr lang="en-US" sz="1600" dirty="0"/>
              <a:t>: Flexible plotting (histograms, scatter plots, line charts).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Heatmap for correlation between features.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Pairplot</a:t>
            </a:r>
            <a:r>
              <a:rPr lang="en-US" dirty="0"/>
              <a:t> to visualize relationships between variables.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Histogram to distribute in single numerical features.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4102" name="Picture 6" descr="Matplotlib Histogram Plot Tutorial And Examples">
            <a:extLst>
              <a:ext uri="{FF2B5EF4-FFF2-40B4-BE49-F238E27FC236}">
                <a16:creationId xmlns:a16="http://schemas.microsoft.com/office/drawing/2014/main" id="{CC1D6C97-911C-4DFD-A5C4-6A1F1DE7A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5533" y="4107913"/>
            <a:ext cx="2464144" cy="1852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CAC5720-D5C8-4DB4-A826-56CC403317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8538" y="1346396"/>
            <a:ext cx="2255297" cy="255305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AF522DB-92AF-473F-980D-6CA9E41B75FD}"/>
              </a:ext>
            </a:extLst>
          </p:cNvPr>
          <p:cNvSpPr txBox="1"/>
          <p:nvPr/>
        </p:nvSpPr>
        <p:spPr>
          <a:xfrm>
            <a:off x="8565533" y="977064"/>
            <a:ext cx="1770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EDA Workflow: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E0F1C9-7F88-425D-98F6-9FA124BFAB95}"/>
              </a:ext>
            </a:extLst>
          </p:cNvPr>
          <p:cNvSpPr txBox="1"/>
          <p:nvPr/>
        </p:nvSpPr>
        <p:spPr>
          <a:xfrm>
            <a:off x="11721625" y="6584434"/>
            <a:ext cx="24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2BAE0D-1F04-41F5-A7ED-2B68517000BC}"/>
              </a:ext>
            </a:extLst>
          </p:cNvPr>
          <p:cNvSpPr/>
          <p:nvPr/>
        </p:nvSpPr>
        <p:spPr>
          <a:xfrm>
            <a:off x="417754" y="82642"/>
            <a:ext cx="109943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EDA</a:t>
            </a:r>
            <a:endParaRPr lang="en-IN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530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8965" y="6670069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820A1B-26B0-4C41-8569-E1F5E5C05D25}"/>
              </a:ext>
            </a:extLst>
          </p:cNvPr>
          <p:cNvSpPr txBox="1"/>
          <p:nvPr/>
        </p:nvSpPr>
        <p:spPr>
          <a:xfrm>
            <a:off x="435685" y="1086537"/>
            <a:ext cx="11057613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Linear Regression</a:t>
            </a:r>
          </a:p>
          <a:p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is Linear Regression?</a:t>
            </a:r>
          </a:p>
          <a:p>
            <a:r>
              <a:rPr lang="en-US" sz="1600" dirty="0"/>
              <a:t>Linear Regression is a </a:t>
            </a:r>
            <a:r>
              <a:rPr lang="en-US" sz="1600" b="1" dirty="0"/>
              <a:t>supervised machine learning algorithm</a:t>
            </a:r>
            <a:r>
              <a:rPr lang="en-US" sz="1600" dirty="0"/>
              <a:t> used to predict a </a:t>
            </a:r>
            <a:r>
              <a:rPr lang="en-US" sz="1600" b="1" dirty="0"/>
              <a:t>continuous numerical value</a:t>
            </a:r>
            <a:r>
              <a:rPr lang="en-US" sz="1600" dirty="0"/>
              <a:t> (e.g., house price, salary, temperature) by finding the best-fit straight line that represents the relationship between independent variables (features) and the dependent variable (target).</a:t>
            </a:r>
          </a:p>
          <a:p>
            <a:r>
              <a:rPr lang="en-US" sz="1600" b="1" dirty="0"/>
              <a:t>Mathematical Equation:                              </a:t>
            </a:r>
            <a:r>
              <a:rPr lang="en-US" sz="1400" dirty="0"/>
              <a:t>Where: </a:t>
            </a:r>
            <a:r>
              <a:rPr lang="en-US" sz="1400" b="1" dirty="0"/>
              <a:t>y </a:t>
            </a:r>
            <a:r>
              <a:rPr lang="en-US" sz="1400" dirty="0"/>
              <a:t>= Predicted output ,</a:t>
            </a:r>
            <a:r>
              <a:rPr lang="en-US" sz="1400" b="1" dirty="0"/>
              <a:t>β₀</a:t>
            </a:r>
            <a:r>
              <a:rPr lang="en-US" sz="1400" dirty="0"/>
              <a:t> = Intercept (bias) ,</a:t>
            </a:r>
            <a:r>
              <a:rPr lang="en-US" sz="1400" b="1" dirty="0"/>
              <a:t> β₁</a:t>
            </a:r>
            <a:r>
              <a:rPr lang="en-US" sz="1400" dirty="0"/>
              <a:t> = Slope (weight),</a:t>
            </a:r>
            <a:r>
              <a:rPr lang="en-US" sz="1400" b="1" dirty="0"/>
              <a:t> x</a:t>
            </a:r>
            <a:r>
              <a:rPr lang="en-US" sz="1400" dirty="0"/>
              <a:t> = Input feature ,</a:t>
            </a:r>
            <a:r>
              <a:rPr lang="en-US" sz="1400" b="1" dirty="0"/>
              <a:t>ε</a:t>
            </a:r>
            <a:r>
              <a:rPr lang="en-US" sz="1400" dirty="0"/>
              <a:t> = Error term </a:t>
            </a:r>
          </a:p>
          <a:p>
            <a:r>
              <a:rPr lang="en-US" sz="1200" i="1" dirty="0"/>
              <a:t>The objective is to minimize the prediction error by finding the optimal values of </a:t>
            </a:r>
            <a:r>
              <a:rPr lang="en-US" sz="1200" b="1" i="1" dirty="0"/>
              <a:t>β₀</a:t>
            </a:r>
            <a:r>
              <a:rPr lang="en-US" sz="1200" i="1" dirty="0"/>
              <a:t> and </a:t>
            </a:r>
            <a:r>
              <a:rPr lang="el-GR" sz="1200" b="1" dirty="0"/>
              <a:t>β₁</a:t>
            </a:r>
            <a:r>
              <a:rPr lang="el-GR" sz="1200" dirty="0"/>
              <a:t>.</a:t>
            </a:r>
            <a:endParaRPr lang="en-IN" sz="1200" dirty="0"/>
          </a:p>
          <a:p>
            <a:endParaRPr lang="en-US" sz="1400" dirty="0"/>
          </a:p>
          <a:p>
            <a:endParaRPr lang="en-US" sz="16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0856C9-BDCA-454A-9B65-05F1F27D0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425" y="2462250"/>
            <a:ext cx="1247949" cy="238158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5B85B3F-D4E0-465F-A747-25B7D6DCB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202224"/>
              </p:ext>
            </p:extLst>
          </p:nvPr>
        </p:nvGraphicFramePr>
        <p:xfrm>
          <a:off x="435684" y="2949388"/>
          <a:ext cx="10779163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5038">
                  <a:extLst>
                    <a:ext uri="{9D8B030D-6E8A-4147-A177-3AD203B41FA5}">
                      <a16:colId xmlns:a16="http://schemas.microsoft.com/office/drawing/2014/main" val="2741896965"/>
                    </a:ext>
                  </a:extLst>
                </a:gridCol>
                <a:gridCol w="5354125">
                  <a:extLst>
                    <a:ext uri="{9D8B030D-6E8A-4147-A177-3AD203B41FA5}">
                      <a16:colId xmlns:a16="http://schemas.microsoft.com/office/drawing/2014/main" val="2991654437"/>
                    </a:ext>
                  </a:extLst>
                </a:gridCol>
              </a:tblGrid>
              <a:tr h="5893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        Cost Function (Mean Squared Error – MSE)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>
                          <a:solidFill>
                            <a:schemeClr val="bg1"/>
                          </a:solidFill>
                        </a:rPr>
                        <a:t>                              Gradient Descent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0462793"/>
                  </a:ext>
                </a:extLst>
              </a:tr>
              <a:tr h="2694353">
                <a:tc>
                  <a:txBody>
                    <a:bodyPr/>
                    <a:lstStyle/>
                    <a:p>
                      <a:r>
                        <a:rPr lang="en-IN" sz="1200" dirty="0"/>
                        <a:t>The Cost Function measures how far the predicted values are from the actual values.</a:t>
                      </a:r>
                    </a:p>
                    <a:p>
                      <a:endParaRPr lang="en-IN" sz="1200" dirty="0"/>
                    </a:p>
                    <a:p>
                      <a:endParaRPr lang="en-IN" sz="1200" dirty="0"/>
                    </a:p>
                    <a:p>
                      <a:endParaRPr lang="en-IN" sz="1200" dirty="0"/>
                    </a:p>
                    <a:p>
                      <a:r>
                        <a:rPr lang="en-IN" sz="1200" dirty="0"/>
                        <a:t>Where: </a:t>
                      </a:r>
                      <a:r>
                        <a:rPr lang="en-IN" sz="1200" b="1" dirty="0"/>
                        <a:t>m</a:t>
                      </a:r>
                      <a:r>
                        <a:rPr lang="en-IN" sz="1200" dirty="0"/>
                        <a:t> = Number of training examples </a:t>
                      </a:r>
                    </a:p>
                    <a:p>
                      <a:r>
                        <a:rPr lang="en-IN" sz="1200" b="1" dirty="0"/>
                        <a:t>              h(x)</a:t>
                      </a:r>
                      <a:r>
                        <a:rPr lang="en-IN" sz="1200" dirty="0"/>
                        <a:t> = Predicted value </a:t>
                      </a:r>
                    </a:p>
                    <a:p>
                      <a:r>
                        <a:rPr lang="en-IN" sz="1200" b="1" dirty="0"/>
                        <a:t>              y</a:t>
                      </a:r>
                      <a:r>
                        <a:rPr lang="en-IN" sz="1200" dirty="0"/>
                        <a:t> = Actual value </a:t>
                      </a:r>
                    </a:p>
                    <a:p>
                      <a:endParaRPr lang="en-IN" sz="1200" b="1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  <a:p>
                      <a:r>
                        <a:rPr lang="en-IN" sz="12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Why MSE?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IN" sz="1200" dirty="0"/>
                        <a:t>Penalizes larger errors more heavily.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IN" sz="1200" dirty="0"/>
                        <a:t>Smooth and differentiable, making optimization easier. 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ü"/>
                      </a:pPr>
                      <a:r>
                        <a:rPr lang="en-IN" sz="1200" dirty="0"/>
                        <a:t>Lower MSE indicates a better-performing model</a:t>
                      </a:r>
                      <a:r>
                        <a:rPr lang="en-IN" sz="1800" dirty="0"/>
                        <a:t>. 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Gradient Descent is an optimization algorithm that minimizes the cost function by updating the model parameters iteratively.</a:t>
                      </a:r>
                    </a:p>
                    <a:p>
                      <a:r>
                        <a:rPr lang="en-IN" sz="1200" b="1" dirty="0"/>
                        <a:t>Update Rule:</a:t>
                      </a:r>
                      <a:r>
                        <a:rPr lang="en-IN" sz="1200" dirty="0"/>
                        <a:t>​ </a:t>
                      </a:r>
                    </a:p>
                    <a:p>
                      <a:endParaRPr lang="en-IN" sz="1200" dirty="0"/>
                    </a:p>
                    <a:p>
                      <a:r>
                        <a:rPr lang="en-IN" sz="1200" dirty="0"/>
                        <a:t>Where: </a:t>
                      </a:r>
                      <a:r>
                        <a:rPr lang="el-GR" sz="1200" b="1" dirty="0"/>
                        <a:t>θ</a:t>
                      </a:r>
                      <a:r>
                        <a:rPr lang="el-GR" sz="1200" dirty="0"/>
                        <a:t> = </a:t>
                      </a:r>
                      <a:r>
                        <a:rPr lang="en-IN" sz="1200" dirty="0"/>
                        <a:t>Model parameter </a:t>
                      </a:r>
                    </a:p>
                    <a:p>
                      <a:r>
                        <a:rPr lang="en-US" sz="1200" b="1" dirty="0"/>
                        <a:t>              </a:t>
                      </a:r>
                      <a:r>
                        <a:rPr lang="el-GR" sz="1200" b="1" dirty="0"/>
                        <a:t>α</a:t>
                      </a:r>
                      <a:r>
                        <a:rPr lang="el-GR" sz="1200" dirty="0"/>
                        <a:t> = </a:t>
                      </a:r>
                      <a:r>
                        <a:rPr lang="en-IN" sz="1200" dirty="0"/>
                        <a:t>Learning rate </a:t>
                      </a:r>
                    </a:p>
                    <a:p>
                      <a:r>
                        <a:rPr lang="en-IN" sz="1200" b="1" dirty="0"/>
                        <a:t>              ∂J/∂</a:t>
                      </a:r>
                      <a:r>
                        <a:rPr lang="el-GR" sz="1200" b="1" dirty="0"/>
                        <a:t>θ</a:t>
                      </a:r>
                      <a:r>
                        <a:rPr lang="el-GR" sz="1200" dirty="0"/>
                        <a:t> = </a:t>
                      </a:r>
                      <a:r>
                        <a:rPr lang="en-IN" sz="1200" dirty="0"/>
                        <a:t>Gradient of the cost function </a:t>
                      </a:r>
                    </a:p>
                    <a:p>
                      <a:r>
                        <a:rPr lang="en-IN" sz="1200" b="1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Working Process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N" sz="1200" dirty="0"/>
                        <a:t>Initialize parameters randomly.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N" sz="1200" dirty="0"/>
                        <a:t>Calculate prediction.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N" sz="1200" dirty="0"/>
                        <a:t>Compute error using the cost function.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N" sz="1200" dirty="0"/>
                        <a:t>Update weights. </a:t>
                      </a:r>
                    </a:p>
                    <a:p>
                      <a:pPr marL="342900" indent="-342900">
                        <a:buFont typeface="+mj-lt"/>
                        <a:buAutoNum type="arabicPeriod"/>
                      </a:pPr>
                      <a:r>
                        <a:rPr lang="en-IN" sz="1200" dirty="0"/>
                        <a:t>Repeat until the minimum cost is achieved</a:t>
                      </a:r>
                      <a:endParaRPr lang="en-IN" sz="1200" b="1" dirty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8631847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08E80B1D-ACEA-46F7-A302-4612EA96BF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803" y="3802419"/>
            <a:ext cx="1837764" cy="5300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66600CC-12C7-4E82-8215-F5F78E2120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7854" y="4003097"/>
            <a:ext cx="838005" cy="3827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2A2978A-CF4B-48F7-97D9-7EDF8D199CA8}"/>
              </a:ext>
            </a:extLst>
          </p:cNvPr>
          <p:cNvSpPr txBox="1"/>
          <p:nvPr/>
        </p:nvSpPr>
        <p:spPr>
          <a:xfrm>
            <a:off x="11721625" y="6584434"/>
            <a:ext cx="24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893638-BADB-4DAE-917B-6648891DA037}"/>
              </a:ext>
            </a:extLst>
          </p:cNvPr>
          <p:cNvSpPr/>
          <p:nvPr/>
        </p:nvSpPr>
        <p:spPr>
          <a:xfrm>
            <a:off x="417754" y="82642"/>
            <a:ext cx="109943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Linear Regression</a:t>
            </a:r>
            <a:endParaRPr lang="en-IN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647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6F1B48-EC90-493A-9BA4-4C5C84C98EB8}"/>
              </a:ext>
            </a:extLst>
          </p:cNvPr>
          <p:cNvSpPr txBox="1"/>
          <p:nvPr/>
        </p:nvSpPr>
        <p:spPr>
          <a:xfrm>
            <a:off x="435684" y="994358"/>
            <a:ext cx="5461397" cy="23698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Logistic Regression</a:t>
            </a:r>
          </a:p>
          <a:p>
            <a:r>
              <a:rPr lang="en-US" sz="1200" dirty="0"/>
              <a:t>Logistic Regression is a supervised learning algorithm used for </a:t>
            </a:r>
            <a:r>
              <a:rPr lang="en-US" sz="1200" b="1" dirty="0"/>
              <a:t>binary classification problems</a:t>
            </a:r>
            <a:r>
              <a:rPr lang="en-US" sz="1200" dirty="0"/>
              <a:t>, where the output belongs to one of two classes.</a:t>
            </a:r>
          </a:p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Spam or Not Spam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Pass or Fail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Disease or No Disease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/>
              <a:t>Fraud or Genuine Transaction </a:t>
            </a:r>
          </a:p>
          <a:p>
            <a:r>
              <a:rPr lang="en-US" sz="1200" dirty="0"/>
              <a:t>Unlike Linear Regression, Logistic Regression predicts the </a:t>
            </a:r>
            <a:r>
              <a:rPr lang="en-US" sz="1200" b="1" dirty="0"/>
              <a:t>probability</a:t>
            </a:r>
            <a:r>
              <a:rPr lang="en-US" sz="1200" dirty="0"/>
              <a:t> that a data point belongs to a particular class.</a:t>
            </a:r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827DFD-F0BF-4DFA-80D7-E4FC0C017BE7}"/>
              </a:ext>
            </a:extLst>
          </p:cNvPr>
          <p:cNvSpPr txBox="1"/>
          <p:nvPr/>
        </p:nvSpPr>
        <p:spPr>
          <a:xfrm>
            <a:off x="6294920" y="1000205"/>
            <a:ext cx="5198378" cy="236988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</a:rPr>
              <a:t>Sigmoid Function</a:t>
            </a:r>
          </a:p>
          <a:p>
            <a:r>
              <a:rPr lang="en-IN" sz="1200" dirty="0"/>
              <a:t>The predicted probability is calculated using the Sigmoid (Logistic) </a:t>
            </a:r>
            <a:r>
              <a:rPr lang="en-IN" sz="1200" dirty="0">
                <a:solidFill>
                  <a:schemeClr val="accent6">
                    <a:lumMod val="75000"/>
                  </a:schemeClr>
                </a:solidFill>
              </a:rPr>
              <a:t>Function: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Where:</a:t>
            </a:r>
            <a:endParaRPr lang="en-IN" sz="1200" dirty="0"/>
          </a:p>
          <a:p>
            <a:r>
              <a:rPr lang="en-IN" sz="1200" b="1" dirty="0">
                <a:solidFill>
                  <a:schemeClr val="accent6">
                    <a:lumMod val="75000"/>
                  </a:schemeClr>
                </a:solidFill>
              </a:rPr>
              <a:t>Properties:</a:t>
            </a:r>
          </a:p>
          <a:p>
            <a:r>
              <a:rPr lang="en-IN" sz="1200" dirty="0"/>
              <a:t>Output always lies between </a:t>
            </a:r>
            <a:r>
              <a:rPr lang="en-IN" sz="1200" b="1" dirty="0"/>
              <a:t>0 and 1</a:t>
            </a:r>
            <a:r>
              <a:rPr lang="en-IN" sz="1200" dirty="0"/>
              <a:t>. </a:t>
            </a:r>
          </a:p>
          <a:p>
            <a:r>
              <a:rPr lang="en-IN" sz="1200" dirty="0"/>
              <a:t>Converts any real value into a probability. </a:t>
            </a:r>
          </a:p>
          <a:p>
            <a:r>
              <a:rPr lang="en-IN" sz="1200" dirty="0"/>
              <a:t>Produces an S-shaped (sigmoid) curve. </a:t>
            </a:r>
          </a:p>
          <a:p>
            <a:r>
              <a:rPr lang="en-IN" sz="1200" b="1" dirty="0">
                <a:solidFill>
                  <a:schemeClr val="accent1">
                    <a:lumMod val="75000"/>
                  </a:schemeClr>
                </a:solidFill>
              </a:rPr>
              <a:t>Classification Rule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Probability ≥ 0.5 → Class 1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Probability &lt; 0.5 → Class 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EB865F-6BAA-4547-82E7-BA7BBBDCB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712" y="1444141"/>
            <a:ext cx="1058865" cy="371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942F56-CADD-4698-B9FB-7C42098A41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9577" y="1822889"/>
            <a:ext cx="845885" cy="3104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C78105-BEAB-43A8-BA7A-0E739F17083C}"/>
              </a:ext>
            </a:extLst>
          </p:cNvPr>
          <p:cNvSpPr txBox="1"/>
          <p:nvPr/>
        </p:nvSpPr>
        <p:spPr>
          <a:xfrm>
            <a:off x="435685" y="3438813"/>
            <a:ext cx="5461396" cy="29238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Decision Boundary</a:t>
            </a:r>
          </a:p>
          <a:p>
            <a:r>
              <a:rPr lang="en-US" sz="1200" dirty="0"/>
              <a:t>A Decision Boundary is the line (or curve) that separates different classes in the feature space.</a:t>
            </a:r>
          </a:p>
          <a:p>
            <a:r>
              <a:rPr lang="en-US" sz="1200" b="1" dirty="0">
                <a:solidFill>
                  <a:schemeClr val="accent6">
                    <a:lumMod val="75000"/>
                  </a:schemeClr>
                </a:solidFill>
              </a:rPr>
              <a:t>For example: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Students with probability greater than 0.5 are classified as </a:t>
            </a:r>
            <a:r>
              <a:rPr lang="en-US" sz="1200" b="1" dirty="0"/>
              <a:t>Pass</a:t>
            </a:r>
            <a:r>
              <a:rPr lang="en-US" sz="1200" dirty="0"/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Students with probability less than 0.5 are classified as </a:t>
            </a:r>
            <a:r>
              <a:rPr lang="en-US" sz="1200" b="1" dirty="0"/>
              <a:t>Fail</a:t>
            </a:r>
            <a:r>
              <a:rPr lang="en-US" sz="1200" dirty="0"/>
              <a:t>. </a:t>
            </a:r>
          </a:p>
          <a:p>
            <a:endParaRPr lang="en-US" sz="1200" dirty="0"/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Advantages of Logistic Regression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Simple and computationally efficient.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Provides probability estimates.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200" dirty="0"/>
              <a:t>Easy to interpret. </a:t>
            </a:r>
          </a:p>
          <a:p>
            <a:r>
              <a:rPr lang="en-US" sz="1200" dirty="0"/>
              <a:t> </a:t>
            </a:r>
          </a:p>
          <a:p>
            <a:r>
              <a:rPr lang="en-US" sz="1200" b="1" dirty="0">
                <a:solidFill>
                  <a:schemeClr val="accent1">
                    <a:lumMod val="75000"/>
                  </a:schemeClr>
                </a:solidFill>
              </a:rPr>
              <a:t>Diagram to Insert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Sigmoid curve.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Scatter plot showing two classes separated by a decision boundary.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27998C-D550-4353-9AC3-40EA2372359D}"/>
              </a:ext>
            </a:extLst>
          </p:cNvPr>
          <p:cNvSpPr txBox="1"/>
          <p:nvPr/>
        </p:nvSpPr>
        <p:spPr>
          <a:xfrm>
            <a:off x="11721625" y="6584434"/>
            <a:ext cx="2420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8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C93AB6-2C49-43E0-BC34-CE8E661E8DAC}"/>
              </a:ext>
            </a:extLst>
          </p:cNvPr>
          <p:cNvSpPr/>
          <p:nvPr/>
        </p:nvSpPr>
        <p:spPr>
          <a:xfrm>
            <a:off x="417754" y="82642"/>
            <a:ext cx="109943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Logistic regression , Decision Boundary &amp; sigmoid function</a:t>
            </a:r>
            <a:endParaRPr lang="en-IN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25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1082664" y="35113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81C147-8058-41F3-A080-65C08DBAA273}"/>
              </a:ext>
            </a:extLst>
          </p:cNvPr>
          <p:cNvSpPr txBox="1"/>
          <p:nvPr/>
        </p:nvSpPr>
        <p:spPr>
          <a:xfrm>
            <a:off x="435685" y="933544"/>
            <a:ext cx="110576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Evaluation Metrics (Regression &amp; Classification)</a:t>
            </a:r>
          </a:p>
          <a:p>
            <a:r>
              <a:rPr lang="en-US" sz="1600" dirty="0"/>
              <a:t>Machine learning models are evaluated using different metrics depending on the problem type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AE0586-043C-4FDC-8576-9CAD00AFAB2F}"/>
              </a:ext>
            </a:extLst>
          </p:cNvPr>
          <p:cNvSpPr txBox="1"/>
          <p:nvPr/>
        </p:nvSpPr>
        <p:spPr>
          <a:xfrm>
            <a:off x="435686" y="1579875"/>
            <a:ext cx="3895166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Mean Squared Error (MSE)</a:t>
            </a:r>
          </a:p>
          <a:p>
            <a:r>
              <a:rPr lang="en-IN" sz="1400" dirty="0"/>
              <a:t>Measures the average squared difference between actual and predicted values.</a:t>
            </a:r>
          </a:p>
          <a:p>
            <a:r>
              <a:rPr lang="en-IN" sz="1400" b="1" dirty="0">
                <a:solidFill>
                  <a:schemeClr val="accent6">
                    <a:lumMod val="75000"/>
                  </a:schemeClr>
                </a:solidFill>
              </a:rPr>
              <a:t>Formula:</a:t>
            </a:r>
          </a:p>
          <a:p>
            <a:endParaRPr lang="en-IN" sz="1400" b="1" dirty="0"/>
          </a:p>
          <a:p>
            <a:r>
              <a:rPr lang="en-IN" sz="1400" b="1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Lower MSE indicates better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Highly sensitive to large prediction errors</a:t>
            </a:r>
          </a:p>
          <a:p>
            <a:endParaRPr lang="en-IN" sz="1400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11BFF9-BCD1-4C56-97BB-90D448316644}"/>
              </a:ext>
            </a:extLst>
          </p:cNvPr>
          <p:cNvSpPr txBox="1"/>
          <p:nvPr/>
        </p:nvSpPr>
        <p:spPr>
          <a:xfrm>
            <a:off x="4469354" y="1588888"/>
            <a:ext cx="3895166" cy="22467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Root Mean Squared Error (RMSE) </a:t>
            </a:r>
          </a:p>
          <a:p>
            <a:r>
              <a:rPr lang="en-US" sz="1400" dirty="0"/>
              <a:t>RMSE is the square root of MSE.</a:t>
            </a:r>
          </a:p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Formula:</a:t>
            </a:r>
          </a:p>
          <a:p>
            <a:endParaRPr lang="en-US" sz="1400" b="1" dirty="0"/>
          </a:p>
          <a:p>
            <a:r>
              <a:rPr lang="en-US" sz="1400" b="1" dirty="0"/>
              <a:t>Advantages: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Easier to interpret because it has the same units as the target variable.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400" dirty="0"/>
              <a:t>Lower RMSE indicates better predictions.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501A42-360F-4801-9EE3-F7963A20A671}"/>
              </a:ext>
            </a:extLst>
          </p:cNvPr>
          <p:cNvSpPr txBox="1"/>
          <p:nvPr/>
        </p:nvSpPr>
        <p:spPr>
          <a:xfrm>
            <a:off x="8503022" y="1579875"/>
            <a:ext cx="3563471" cy="22467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R² Score (Coefficient of Determination)</a:t>
            </a:r>
          </a:p>
          <a:p>
            <a:r>
              <a:rPr lang="en-IN" sz="1400" dirty="0"/>
              <a:t>Measures how much variation in the dependent variable is explained by the model.</a:t>
            </a:r>
          </a:p>
          <a:p>
            <a:r>
              <a:rPr lang="en-IN" sz="1400" b="1" dirty="0">
                <a:solidFill>
                  <a:schemeClr val="accent6">
                    <a:lumMod val="75000"/>
                  </a:schemeClr>
                </a:solidFill>
              </a:rPr>
              <a:t>Formula:</a:t>
            </a:r>
          </a:p>
          <a:p>
            <a:endParaRPr lang="en-IN" sz="1400" b="1" dirty="0"/>
          </a:p>
          <a:p>
            <a:r>
              <a:rPr lang="en-IN" sz="1400" b="1" dirty="0"/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R² = 1</a:t>
            </a:r>
            <a:r>
              <a:rPr lang="en-IN" sz="1400" dirty="0"/>
              <a:t> → Perfect prediction.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R² = 0</a:t>
            </a:r>
            <a:r>
              <a:rPr lang="en-IN" sz="1400" dirty="0"/>
              <a:t> → Model performs no better than predicting the mean.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Higher R² values indicate a better fit.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C2B3C85-BB57-4DD6-9C89-DB0C1BF7C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169" y="2316146"/>
            <a:ext cx="1483008" cy="4142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E1D2CA9-A634-4299-BFC2-A9941371E0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1997" y="2107318"/>
            <a:ext cx="1628923" cy="3759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8ED595-B508-42A0-A75B-F6A32DEFDE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7015" y="2265721"/>
            <a:ext cx="1018256" cy="4104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C900E2A-AEFD-41EE-A17E-98AF2907C2E5}"/>
              </a:ext>
            </a:extLst>
          </p:cNvPr>
          <p:cNvSpPr txBox="1"/>
          <p:nvPr/>
        </p:nvSpPr>
        <p:spPr>
          <a:xfrm>
            <a:off x="435685" y="4144686"/>
            <a:ext cx="3895167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Accuracy</a:t>
            </a:r>
          </a:p>
          <a:p>
            <a:r>
              <a:rPr lang="en-IN" sz="1400" dirty="0"/>
              <a:t>Used for classification models.</a:t>
            </a:r>
          </a:p>
          <a:p>
            <a:r>
              <a:rPr lang="en-IN" sz="1400" b="1" dirty="0">
                <a:solidFill>
                  <a:schemeClr val="accent6">
                    <a:lumMod val="75000"/>
                  </a:schemeClr>
                </a:solidFill>
              </a:rPr>
              <a:t>Formula:</a:t>
            </a:r>
          </a:p>
          <a:p>
            <a:endParaRPr lang="en-IN" sz="1400" b="1" dirty="0"/>
          </a:p>
          <a:p>
            <a:r>
              <a:rPr lang="en-IN" sz="1400" dirty="0"/>
              <a:t>​ Accuracy represents the percentage of correctly classified instances.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IN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0EFD4F-DE57-4F42-9A48-70621FF1E6ED}"/>
              </a:ext>
            </a:extLst>
          </p:cNvPr>
          <p:cNvSpPr txBox="1"/>
          <p:nvPr/>
        </p:nvSpPr>
        <p:spPr>
          <a:xfrm>
            <a:off x="4469354" y="4110438"/>
            <a:ext cx="7597139" cy="20313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1">
                    <a:lumMod val="75000"/>
                  </a:schemeClr>
                </a:solidFill>
              </a:rPr>
              <a:t>Confusion Matrix</a:t>
            </a: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400" b="1" dirty="0"/>
          </a:p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Interpretation:</a:t>
            </a:r>
          </a:p>
          <a:p>
            <a:r>
              <a:rPr lang="en-US" sz="1400" b="1" dirty="0"/>
              <a:t>TP:</a:t>
            </a:r>
            <a:r>
              <a:rPr lang="en-US" sz="1400" dirty="0"/>
              <a:t> Correctly predicted positive cases. </a:t>
            </a:r>
          </a:p>
          <a:p>
            <a:r>
              <a:rPr lang="en-US" sz="1400" b="1" dirty="0"/>
              <a:t>TN:</a:t>
            </a:r>
            <a:r>
              <a:rPr lang="en-US" sz="1400" dirty="0"/>
              <a:t> Correctly predicted negative cases. </a:t>
            </a:r>
          </a:p>
          <a:p>
            <a:r>
              <a:rPr lang="en-US" sz="1400" b="1" dirty="0"/>
              <a:t>FP:</a:t>
            </a:r>
            <a:r>
              <a:rPr lang="en-US" sz="1400" dirty="0"/>
              <a:t> Incorrectly predicted positive cases. </a:t>
            </a:r>
          </a:p>
          <a:p>
            <a:r>
              <a:rPr lang="en-US" sz="1400" b="1" dirty="0"/>
              <a:t>FN:</a:t>
            </a:r>
            <a:r>
              <a:rPr lang="en-US" sz="1400" dirty="0"/>
              <a:t> Incorrectly predicted negative cases. </a:t>
            </a:r>
          </a:p>
          <a:p>
            <a:r>
              <a:rPr lang="en-US" sz="1400" dirty="0"/>
              <a:t>The confusion matrix helps identify the types of classification errors and is used to compute additional metrics such as precision, recall, and F1-score.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067A11DE-0C8E-477C-BCF3-F52A0C210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953800"/>
              </p:ext>
            </p:extLst>
          </p:nvPr>
        </p:nvGraphicFramePr>
        <p:xfrm>
          <a:off x="7637929" y="4119451"/>
          <a:ext cx="4136315" cy="1474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2985">
                  <a:extLst>
                    <a:ext uri="{9D8B030D-6E8A-4147-A177-3AD203B41FA5}">
                      <a16:colId xmlns:a16="http://schemas.microsoft.com/office/drawing/2014/main" val="2555087425"/>
                    </a:ext>
                  </a:extLst>
                </a:gridCol>
                <a:gridCol w="1266665">
                  <a:extLst>
                    <a:ext uri="{9D8B030D-6E8A-4147-A177-3AD203B41FA5}">
                      <a16:colId xmlns:a16="http://schemas.microsoft.com/office/drawing/2014/main" val="298263426"/>
                    </a:ext>
                  </a:extLst>
                </a:gridCol>
                <a:gridCol w="1266665">
                  <a:extLst>
                    <a:ext uri="{9D8B030D-6E8A-4147-A177-3AD203B41FA5}">
                      <a16:colId xmlns:a16="http://schemas.microsoft.com/office/drawing/2014/main" val="4183991917"/>
                    </a:ext>
                  </a:extLst>
                </a:gridCol>
              </a:tblGrid>
              <a:tr h="508424">
                <a:tc>
                  <a:txBody>
                    <a:bodyPr/>
                    <a:lstStyle/>
                    <a:p>
                      <a:r>
                        <a:rPr lang="en-IN" sz="1200" dirty="0"/>
                        <a:t>Actual / Predicted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Negative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126735"/>
                  </a:ext>
                </a:extLst>
              </a:tr>
              <a:tr h="508424">
                <a:tc>
                  <a:txBody>
                    <a:bodyPr/>
                    <a:lstStyle/>
                    <a:p>
                      <a:r>
                        <a:rPr lang="en-IN" sz="1200" dirty="0"/>
                        <a:t>Positive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True Positive (TP)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False Negative (FN)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6538990"/>
                  </a:ext>
                </a:extLst>
              </a:tr>
              <a:tr h="323207">
                <a:tc>
                  <a:txBody>
                    <a:bodyPr/>
                    <a:lstStyle/>
                    <a:p>
                      <a:r>
                        <a:rPr lang="en-IN" sz="1200"/>
                        <a:t>Negative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False Positive (FP)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True Negative (TN)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8996670"/>
                  </a:ext>
                </a:extLst>
              </a:tr>
            </a:tbl>
          </a:graphicData>
        </a:graphic>
      </p:graphicFrame>
      <p:pic>
        <p:nvPicPr>
          <p:cNvPr id="19" name="Picture 18">
            <a:extLst>
              <a:ext uri="{FF2B5EF4-FFF2-40B4-BE49-F238E27FC236}">
                <a16:creationId xmlns:a16="http://schemas.microsoft.com/office/drawing/2014/main" id="{FF91AD67-5B6F-4D54-8512-941780E878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6169" y="4612248"/>
            <a:ext cx="1802866" cy="43157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45F53B9-8DDF-4087-B139-03BB8A973037}"/>
              </a:ext>
            </a:extLst>
          </p:cNvPr>
          <p:cNvSpPr txBox="1"/>
          <p:nvPr/>
        </p:nvSpPr>
        <p:spPr>
          <a:xfrm>
            <a:off x="11493298" y="6584434"/>
            <a:ext cx="470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9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3AC954-45AB-4117-9371-9B1D82F8F3D1}"/>
              </a:ext>
            </a:extLst>
          </p:cNvPr>
          <p:cNvSpPr/>
          <p:nvPr/>
        </p:nvSpPr>
        <p:spPr>
          <a:xfrm>
            <a:off x="417755" y="106189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E</a:t>
            </a:r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valuation Metrices</a:t>
            </a:r>
          </a:p>
        </p:txBody>
      </p:sp>
    </p:spTree>
    <p:extLst>
      <p:ext uri="{BB962C8B-B14F-4D97-AF65-F5344CB8AC3E}">
        <p14:creationId xmlns:p14="http://schemas.microsoft.com/office/powerpoint/2010/main" val="2358334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                                                                                                                                                                      10</a:t>
            </a:r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00C842-16B0-491A-9B93-908D87DA235F}"/>
              </a:ext>
            </a:extLst>
          </p:cNvPr>
          <p:cNvSpPr txBox="1"/>
          <p:nvPr/>
        </p:nvSpPr>
        <p:spPr>
          <a:xfrm>
            <a:off x="435685" y="888468"/>
            <a:ext cx="3876339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C00000"/>
                </a:solidFill>
              </a:rPr>
              <a:t>Decision Tree –Overfitting</a:t>
            </a:r>
          </a:p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Decision Tree</a:t>
            </a:r>
          </a:p>
          <a:p>
            <a:r>
              <a:rPr lang="en-US" sz="1400" dirty="0"/>
              <a:t>A </a:t>
            </a:r>
            <a:r>
              <a:rPr lang="en-US" sz="1400" b="1" dirty="0"/>
              <a:t>Decision Tree</a:t>
            </a:r>
            <a:r>
              <a:rPr lang="en-US" sz="1400" dirty="0"/>
              <a:t> is a supervised machine learning algorithm used for both </a:t>
            </a:r>
            <a:r>
              <a:rPr lang="en-US" sz="1400" b="1" dirty="0"/>
              <a:t>classification</a:t>
            </a:r>
            <a:r>
              <a:rPr lang="en-US" sz="1400" dirty="0"/>
              <a:t> and </a:t>
            </a:r>
            <a:r>
              <a:rPr lang="en-US" sz="1400" b="1" dirty="0"/>
              <a:t>regression</a:t>
            </a:r>
            <a:r>
              <a:rPr lang="en-US" sz="1400" dirty="0"/>
              <a:t> tasks. It makes predictions by recursively splitting the dataset into smaller subsets based on feature values. Each internal node represents a decision, each branch represents an outcome, and each leaf node represents the final prediction.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E1C7D0-FA3A-4156-9D97-CF1E90431B6B}"/>
              </a:ext>
            </a:extLst>
          </p:cNvPr>
          <p:cNvSpPr txBox="1"/>
          <p:nvPr/>
        </p:nvSpPr>
        <p:spPr>
          <a:xfrm>
            <a:off x="481951" y="3235843"/>
            <a:ext cx="3379694" cy="1600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Overfitting in Decision Trees</a:t>
            </a:r>
          </a:p>
          <a:p>
            <a:r>
              <a:rPr lang="en-US" sz="1400" dirty="0"/>
              <a:t>Overfitting occurs when a Decision Tree learns not only the underlying patterns but also the noise in the training data. As a result, it performs exceptionally well on training data but poorly on unseen test data.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0DC21BC7-B0C6-4F0F-BADB-84927222E35B}"/>
              </a:ext>
            </a:extLst>
          </p:cNvPr>
          <p:cNvSpPr/>
          <p:nvPr/>
        </p:nvSpPr>
        <p:spPr>
          <a:xfrm>
            <a:off x="481951" y="-70267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501F95-204B-46DE-8C57-059861357F2E}"/>
              </a:ext>
            </a:extLst>
          </p:cNvPr>
          <p:cNvSpPr/>
          <p:nvPr/>
        </p:nvSpPr>
        <p:spPr>
          <a:xfrm>
            <a:off x="481951" y="166005"/>
            <a:ext cx="1063985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1">
                    <a:lumMod val="50000"/>
                  </a:schemeClr>
                </a:solidFill>
              </a:rPr>
              <a:t>Decision Tree and  Random Forest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A9FA67-F708-4C0E-94AA-7C26E333431A}"/>
              </a:ext>
            </a:extLst>
          </p:cNvPr>
          <p:cNvSpPr txBox="1"/>
          <p:nvPr/>
        </p:nvSpPr>
        <p:spPr>
          <a:xfrm>
            <a:off x="4136861" y="946177"/>
            <a:ext cx="4028739" cy="48936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C00000"/>
                </a:solidFill>
              </a:rPr>
              <a:t>Random Forest</a:t>
            </a:r>
          </a:p>
          <a:p>
            <a:r>
              <a:rPr lang="en-US" sz="1400" dirty="0"/>
              <a:t>Random Forest is an </a:t>
            </a:r>
            <a:r>
              <a:rPr lang="en-US" sz="1400" b="1" dirty="0"/>
              <a:t>ensemble learning algorithm</a:t>
            </a:r>
            <a:r>
              <a:rPr lang="en-US" sz="1400" dirty="0"/>
              <a:t> that combines multiple Decision Trees to improve prediction accuracy and reduce overfitting. Instead of relying on a single tree, it aggregates predictions from many trees.</a:t>
            </a:r>
          </a:p>
          <a:p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Bagging (Bootstrap Aggregating)</a:t>
            </a:r>
          </a:p>
          <a:p>
            <a:r>
              <a:rPr lang="en-US" sz="1400" dirty="0"/>
              <a:t>Bagging is the technique used by Random Forest to build multiple Decision Trees.</a:t>
            </a:r>
          </a:p>
          <a:p>
            <a:r>
              <a:rPr lang="en-US" sz="1400" b="1" dirty="0">
                <a:solidFill>
                  <a:schemeClr val="accent6">
                    <a:lumMod val="75000"/>
                  </a:schemeClr>
                </a:solidFill>
              </a:rPr>
              <a:t>Working Process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Create multiple bootstrap samples from the original dataset using random sampling with replacement.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Train one Decision Tree on each bootstrap sample.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Each tree makes its own prediction independently.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400" dirty="0"/>
              <a:t>Combine the predictions: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Classification:</a:t>
            </a:r>
            <a:r>
              <a:rPr lang="en-US" sz="1400" dirty="0"/>
              <a:t> Majority voting.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Regression:</a:t>
            </a:r>
            <a:r>
              <a:rPr lang="en-US" sz="1400" dirty="0"/>
              <a:t> Average of all predictions.</a:t>
            </a:r>
          </a:p>
          <a:p>
            <a:endParaRPr lang="en-US" sz="1400" dirty="0"/>
          </a:p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0053D3-224C-4A50-A9C1-F51F2AAECFA3}"/>
              </a:ext>
            </a:extLst>
          </p:cNvPr>
          <p:cNvSpPr/>
          <p:nvPr/>
        </p:nvSpPr>
        <p:spPr>
          <a:xfrm>
            <a:off x="8286010" y="939704"/>
            <a:ext cx="3207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Decision Tree vs Random Forest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D66D4DD-8834-4BA7-AD31-E153E18BA8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2029692"/>
              </p:ext>
            </p:extLst>
          </p:nvPr>
        </p:nvGraphicFramePr>
        <p:xfrm>
          <a:off x="8368553" y="1352440"/>
          <a:ext cx="3645441" cy="26421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52">
                  <a:extLst>
                    <a:ext uri="{9D8B030D-6E8A-4147-A177-3AD203B41FA5}">
                      <a16:colId xmlns:a16="http://schemas.microsoft.com/office/drawing/2014/main" val="231614087"/>
                    </a:ext>
                  </a:extLst>
                </a:gridCol>
                <a:gridCol w="1753889">
                  <a:extLst>
                    <a:ext uri="{9D8B030D-6E8A-4147-A177-3AD203B41FA5}">
                      <a16:colId xmlns:a16="http://schemas.microsoft.com/office/drawing/2014/main" val="1713637000"/>
                    </a:ext>
                  </a:extLst>
                </a:gridCol>
              </a:tblGrid>
              <a:tr h="356177">
                <a:tc>
                  <a:txBody>
                    <a:bodyPr/>
                    <a:lstStyle/>
                    <a:p>
                      <a:r>
                        <a:rPr lang="en-IN" sz="1400" dirty="0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Random Forest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2984628"/>
                  </a:ext>
                </a:extLst>
              </a:tr>
              <a:tr h="356177">
                <a:tc>
                  <a:txBody>
                    <a:bodyPr/>
                    <a:lstStyle/>
                    <a:p>
                      <a:r>
                        <a:rPr lang="en-IN" sz="1400" dirty="0"/>
                        <a:t>Single 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Collection of multiple decision trees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7219143"/>
                  </a:ext>
                </a:extLst>
              </a:tr>
              <a:tr h="356177">
                <a:tc>
                  <a:txBody>
                    <a:bodyPr/>
                    <a:lstStyle/>
                    <a:p>
                      <a:r>
                        <a:rPr lang="en-IN" sz="1400" dirty="0"/>
                        <a:t>Faster and easier to interpret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More accurate and robust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9715620"/>
                  </a:ext>
                </a:extLst>
              </a:tr>
              <a:tr h="356177">
                <a:tc>
                  <a:txBody>
                    <a:bodyPr/>
                    <a:lstStyle/>
                    <a:p>
                      <a:r>
                        <a:rPr lang="en-IN" sz="1400" dirty="0"/>
                        <a:t>Higher risk of overfitting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Lower risk of overfitting due to bagging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010026"/>
                  </a:ext>
                </a:extLst>
              </a:tr>
              <a:tr h="356177">
                <a:tc>
                  <a:txBody>
                    <a:bodyPr/>
                    <a:lstStyle/>
                    <a:p>
                      <a:r>
                        <a:rPr lang="en-IN" sz="1400"/>
                        <a:t>Sensitive to noise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More stable and reliable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0292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7599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7825F2-4315-4A0D-8CD1-E4C241596359}"/>
              </a:ext>
            </a:extLst>
          </p:cNvPr>
          <p:cNvSpPr txBox="1"/>
          <p:nvPr/>
        </p:nvSpPr>
        <p:spPr>
          <a:xfrm>
            <a:off x="301214" y="896041"/>
            <a:ext cx="471902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C00000"/>
                </a:solidFill>
              </a:rPr>
              <a:t>Support Vector Machine (SVM)</a:t>
            </a:r>
          </a:p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Key Concepts:</a:t>
            </a:r>
          </a:p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Hyperplane:</a:t>
            </a:r>
            <a:r>
              <a:rPr lang="en-IN" sz="1600" dirty="0"/>
              <a:t> Decision boundary separating different classes. </a:t>
            </a:r>
          </a:p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Margin:</a:t>
            </a:r>
            <a:r>
              <a:rPr lang="en-IN" sz="1600" dirty="0"/>
              <a:t> Distance between the hyperplane and nearest data points. </a:t>
            </a:r>
          </a:p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Support Vectors: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1600" dirty="0"/>
              <a:t>Data points closest to the hyperplane that determine its position. 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b="1" dirty="0"/>
          </a:p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Kernel Trick: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1600" dirty="0"/>
              <a:t>Maps data into higher dimensions to solve non-linear classification problems. </a:t>
            </a:r>
          </a:p>
          <a:p>
            <a:pPr lvl="1"/>
            <a:r>
              <a:rPr lang="en-IN" sz="1600" dirty="0"/>
              <a:t>Examples: Linear, Polynomial</a:t>
            </a:r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</p:txBody>
      </p:sp>
      <p:pic>
        <p:nvPicPr>
          <p:cNvPr id="3076" name="Picture 4" descr="Support Vector Machine (SVM) Explained | by Vatsal | Towards Data Science">
            <a:extLst>
              <a:ext uri="{FF2B5EF4-FFF2-40B4-BE49-F238E27FC236}">
                <a16:creationId xmlns:a16="http://schemas.microsoft.com/office/drawing/2014/main" id="{14B07E45-4301-4E61-A1E7-9B98AA852A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990" y="2978396"/>
            <a:ext cx="2015656" cy="118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Support-vector machines - SVM — machine learning note documentation">
            <a:extLst>
              <a:ext uri="{FF2B5EF4-FFF2-40B4-BE49-F238E27FC236}">
                <a16:creationId xmlns:a16="http://schemas.microsoft.com/office/drawing/2014/main" id="{045B2452-7610-49B2-A8D7-9434C5888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943" y="4984541"/>
            <a:ext cx="3282469" cy="130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43D1AE-DF54-4AF6-9A67-A7AD297623C2}"/>
              </a:ext>
            </a:extLst>
          </p:cNvPr>
          <p:cNvSpPr txBox="1"/>
          <p:nvPr/>
        </p:nvSpPr>
        <p:spPr>
          <a:xfrm>
            <a:off x="5643282" y="2976282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E9FD57-667D-4A77-AEB4-2D12CE3B872D}"/>
              </a:ext>
            </a:extLst>
          </p:cNvPr>
          <p:cNvSpPr txBox="1"/>
          <p:nvPr/>
        </p:nvSpPr>
        <p:spPr>
          <a:xfrm>
            <a:off x="5020235" y="857988"/>
            <a:ext cx="408790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C00000"/>
                </a:solidFill>
              </a:rPr>
              <a:t>K‑Nearest </a:t>
            </a:r>
            <a:r>
              <a:rPr lang="en-IN" sz="1600" b="1" dirty="0" err="1">
                <a:solidFill>
                  <a:srgbClr val="C00000"/>
                </a:solidFill>
              </a:rPr>
              <a:t>Neighbors</a:t>
            </a:r>
            <a:r>
              <a:rPr lang="en-IN" sz="1600" b="1" dirty="0">
                <a:solidFill>
                  <a:srgbClr val="C00000"/>
                </a:solidFill>
              </a:rPr>
              <a:t> (KNN)</a:t>
            </a:r>
          </a:p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Concept:</a:t>
            </a:r>
            <a:r>
              <a:rPr lang="en-IN" sz="16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IN" sz="1600" dirty="0"/>
              <a:t>Classifies based on majority vote of nearest </a:t>
            </a:r>
            <a:r>
              <a:rPr lang="en-IN" sz="1600" dirty="0" err="1"/>
              <a:t>neighbors</a:t>
            </a:r>
            <a:r>
              <a:rPr lang="en-IN" sz="1600" dirty="0"/>
              <a:t>.</a:t>
            </a:r>
          </a:p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Distance Metrics:</a:t>
            </a:r>
            <a:r>
              <a:rPr lang="en-IN" sz="16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IN" sz="1600" dirty="0"/>
              <a:t>Euclidean(smaller distance=</a:t>
            </a:r>
          </a:p>
          <a:p>
            <a:r>
              <a:rPr lang="en-US" sz="1600" dirty="0"/>
              <a:t>M</a:t>
            </a:r>
            <a:r>
              <a:rPr lang="en-IN" sz="1600" dirty="0"/>
              <a:t>ore similar)</a:t>
            </a:r>
          </a:p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Choosing K:</a:t>
            </a:r>
            <a:endParaRPr lang="en-IN" sz="1600" dirty="0">
              <a:solidFill>
                <a:schemeClr val="accent6">
                  <a:lumMod val="7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Small K → sensitive to noise.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Large K → smoother decision boundary but may underfit.</a:t>
            </a:r>
          </a:p>
          <a:p>
            <a:pPr lvl="1"/>
            <a:endParaRPr lang="en-IN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4AD2AB-AC21-4E39-9300-7A91817AFE15}"/>
              </a:ext>
            </a:extLst>
          </p:cNvPr>
          <p:cNvSpPr txBox="1"/>
          <p:nvPr/>
        </p:nvSpPr>
        <p:spPr>
          <a:xfrm>
            <a:off x="5008835" y="3130298"/>
            <a:ext cx="342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SVM VS KNN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295EA38-03F6-4C1A-8C12-5B3712C42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995579"/>
              </p:ext>
            </p:extLst>
          </p:nvPr>
        </p:nvGraphicFramePr>
        <p:xfrm>
          <a:off x="5020235" y="3528367"/>
          <a:ext cx="3917577" cy="284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271">
                  <a:extLst>
                    <a:ext uri="{9D8B030D-6E8A-4147-A177-3AD203B41FA5}">
                      <a16:colId xmlns:a16="http://schemas.microsoft.com/office/drawing/2014/main" val="3793758778"/>
                    </a:ext>
                  </a:extLst>
                </a:gridCol>
                <a:gridCol w="1954306">
                  <a:extLst>
                    <a:ext uri="{9D8B030D-6E8A-4147-A177-3AD203B41FA5}">
                      <a16:colId xmlns:a16="http://schemas.microsoft.com/office/drawing/2014/main" val="4083316257"/>
                    </a:ext>
                  </a:extLst>
                </a:gridCol>
              </a:tblGrid>
              <a:tr h="399696">
                <a:tc>
                  <a:txBody>
                    <a:bodyPr/>
                    <a:lstStyle/>
                    <a:p>
                      <a:r>
                        <a:rPr lang="en-IN" sz="1400" b="1" dirty="0"/>
                        <a:t>SVM</a:t>
                      </a:r>
                      <a:endParaRPr lang="en-IN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KNN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1038092"/>
                  </a:ext>
                </a:extLst>
              </a:tr>
              <a:tr h="401890">
                <a:tc>
                  <a:txBody>
                    <a:bodyPr/>
                    <a:lstStyle/>
                    <a:p>
                      <a:r>
                        <a:rPr lang="en-IN" sz="1400" dirty="0"/>
                        <a:t>High-dimensional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Small datasets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6619772"/>
                  </a:ext>
                </a:extLst>
              </a:tr>
              <a:tr h="542487">
                <a:tc>
                  <a:txBody>
                    <a:bodyPr/>
                    <a:lstStyle/>
                    <a:p>
                      <a:r>
                        <a:rPr lang="en-IN" sz="1400" dirty="0"/>
                        <a:t>Clear class boundaries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Complex decision boundaries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001857"/>
                  </a:ext>
                </a:extLst>
              </a:tr>
              <a:tr h="399696">
                <a:tc>
                  <a:txBody>
                    <a:bodyPr/>
                    <a:lstStyle/>
                    <a:p>
                      <a:r>
                        <a:rPr lang="en-IN" sz="1400" dirty="0"/>
                        <a:t>Faster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No training phase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9730410"/>
                  </a:ext>
                </a:extLst>
              </a:tr>
              <a:tr h="558480">
                <a:tc>
                  <a:txBody>
                    <a:bodyPr/>
                    <a:lstStyle/>
                    <a:p>
                      <a:r>
                        <a:rPr lang="en-US" sz="1400" dirty="0"/>
                        <a:t>Good for text/image classification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Easy to understand and implement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7733829"/>
                  </a:ext>
                </a:extLst>
              </a:tr>
              <a:tr h="542487">
                <a:tc>
                  <a:txBody>
                    <a:bodyPr/>
                    <a:lstStyle/>
                    <a:p>
                      <a:r>
                        <a:rPr lang="en-US" sz="1400"/>
                        <a:t>Less affected by irrelevant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Sensitive to feature scaling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878289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585397B-C27F-451D-94A1-F436DB760F7F}"/>
              </a:ext>
            </a:extLst>
          </p:cNvPr>
          <p:cNvSpPr txBox="1"/>
          <p:nvPr/>
        </p:nvSpPr>
        <p:spPr>
          <a:xfrm>
            <a:off x="9054159" y="953268"/>
            <a:ext cx="29137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What is K-Fold Cross-Validation?</a:t>
            </a:r>
          </a:p>
          <a:p>
            <a:r>
              <a:rPr lang="en-US" sz="1600" dirty="0"/>
              <a:t>Dataset is divided into </a:t>
            </a:r>
            <a:r>
              <a:rPr lang="en-US" sz="1600" b="1" dirty="0"/>
              <a:t>K equal folds</a:t>
            </a:r>
            <a:r>
              <a:rPr lang="en-US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Train the model on </a:t>
            </a:r>
            <a:r>
              <a:rPr lang="en-US" sz="1600" b="1" dirty="0"/>
              <a:t>K−1 folds</a:t>
            </a:r>
            <a:r>
              <a:rPr lang="en-US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Test on the remaining fold.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Repeat until every fold has been used as the test set.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Average the results to estimate model performance.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Benefits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Better evaluation than a single train-test split.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Reduces overfitting.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Helps select the best model and hyperparameters (e.g., choosing K in KNN).</a:t>
            </a:r>
          </a:p>
          <a:p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CEBD47-2DF7-4E00-B118-85DE130B1B5C}"/>
              </a:ext>
            </a:extLst>
          </p:cNvPr>
          <p:cNvSpPr/>
          <p:nvPr/>
        </p:nvSpPr>
        <p:spPr>
          <a:xfrm>
            <a:off x="11493298" y="658443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11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7" name="Text 1">
            <a:extLst>
              <a:ext uri="{FF2B5EF4-FFF2-40B4-BE49-F238E27FC236}">
                <a16:creationId xmlns:a16="http://schemas.microsoft.com/office/drawing/2014/main" id="{8FED937B-D899-4673-B650-692A7E5D845C}"/>
              </a:ext>
            </a:extLst>
          </p:cNvPr>
          <p:cNvSpPr/>
          <p:nvPr/>
        </p:nvSpPr>
        <p:spPr>
          <a:xfrm>
            <a:off x="364090" y="-88233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VS KNN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185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154738" y="-25932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b="1" dirty="0">
              <a:solidFill>
                <a:srgbClr val="C00000"/>
              </a:solidFill>
            </a:endParaRPr>
          </a:p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650C83-B79C-4D55-8C9C-19BEA1716206}"/>
              </a:ext>
            </a:extLst>
          </p:cNvPr>
          <p:cNvSpPr txBox="1"/>
          <p:nvPr/>
        </p:nvSpPr>
        <p:spPr>
          <a:xfrm>
            <a:off x="435684" y="888468"/>
            <a:ext cx="49521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C00000"/>
                </a:solidFill>
              </a:rPr>
              <a:t>K‑Means Clustering</a:t>
            </a:r>
          </a:p>
          <a:p>
            <a:endParaRPr lang="en-IN" sz="1600" b="1" dirty="0">
              <a:solidFill>
                <a:srgbClr val="C00000"/>
              </a:solidFill>
            </a:endParaRPr>
          </a:p>
          <a:p>
            <a:endParaRPr lang="en-US" sz="1600" b="1" dirty="0">
              <a:solidFill>
                <a:srgbClr val="C00000"/>
              </a:solidFill>
            </a:endParaRPr>
          </a:p>
          <a:p>
            <a:endParaRPr lang="en-IN" sz="1600" b="1" dirty="0">
              <a:solidFill>
                <a:srgbClr val="C00000"/>
              </a:solidFill>
            </a:endParaRPr>
          </a:p>
          <a:p>
            <a:endParaRPr lang="en-IN" sz="1600" b="1" dirty="0">
              <a:solidFill>
                <a:srgbClr val="C00000"/>
              </a:solidFill>
            </a:endParaRPr>
          </a:p>
          <a:p>
            <a:endParaRPr lang="en-IN" sz="1600" b="1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Centroids:</a:t>
            </a:r>
            <a:r>
              <a:rPr lang="en-IN" sz="1600" dirty="0"/>
              <a:t> Central points representing each cluster.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Inertia:</a:t>
            </a:r>
            <a:r>
              <a:rPr lang="en-IN" sz="16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sz="1600" dirty="0"/>
              <a:t>Sum of squared distances between samples and their assigned centroid; measures cluster compactness.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Elbow Method: </a:t>
            </a:r>
            <a:r>
              <a:rPr lang="en-IN" sz="1600" dirty="0"/>
              <a:t>use to find best number of clusters</a:t>
            </a:r>
          </a:p>
          <a:p>
            <a:endParaRPr lang="en-IN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60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7B92DB9-A426-497B-8028-4FD358766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84" y="1298301"/>
            <a:ext cx="512243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unsupervised learning algorithm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to group similar data into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 clusters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cluster is represented by a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Centroid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is the mean position of all data points in that cluster.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31BD61-22FD-4642-A497-706E44C3CDAA}"/>
              </a:ext>
            </a:extLst>
          </p:cNvPr>
          <p:cNvSpPr txBox="1"/>
          <p:nvPr/>
        </p:nvSpPr>
        <p:spPr>
          <a:xfrm>
            <a:off x="5712854" y="888468"/>
            <a:ext cx="5593977" cy="403187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DBSCAN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Density‑based clustering algorithm.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Groups points that are closely packed together, marking outliers as noise.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Parameters: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b="1" dirty="0"/>
              <a:t>eps:</a:t>
            </a:r>
            <a:r>
              <a:rPr lang="en-US" sz="1600" dirty="0"/>
              <a:t> Maximum distance between two samples to be considered neighbors.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b="1" dirty="0" err="1"/>
              <a:t>minPts</a:t>
            </a:r>
            <a:r>
              <a:rPr lang="en-US" sz="1600" b="1" dirty="0"/>
              <a:t>:</a:t>
            </a:r>
            <a:r>
              <a:rPr lang="en-US" sz="1600" dirty="0"/>
              <a:t> Minimum number of points required to form a dense region.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Advantage:</a:t>
            </a:r>
            <a:r>
              <a:rPr lang="en-US" sz="1600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Finds clusters of arbitrary shape, robust to noise.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No need to specify the number of clusters.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Can detect clusters of arbitrary shapes.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Handles noise effectively.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sz="1600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DFE576BB-2C94-4426-997C-A33FDA302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84" y="4161426"/>
            <a:ext cx="5122432" cy="18774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</a:rPr>
              <a:t>Real life example: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Retailers use K‑Means to group customers based on purchasing behavior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1600" dirty="0"/>
              <a:t>Used to group patients based on genetic markers or medical test results.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in targeted marketing and personalized recommendations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B5C1FD-ACE3-474E-9656-58728FBC0F7D}"/>
              </a:ext>
            </a:extLst>
          </p:cNvPr>
          <p:cNvSpPr txBox="1"/>
          <p:nvPr/>
        </p:nvSpPr>
        <p:spPr>
          <a:xfrm>
            <a:off x="276111" y="216123"/>
            <a:ext cx="7191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K‑Means Clustering &amp; DBCAN Overview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0C9C80-6433-4CCD-A8B1-C30F41B8918D}"/>
              </a:ext>
            </a:extLst>
          </p:cNvPr>
          <p:cNvSpPr/>
          <p:nvPr/>
        </p:nvSpPr>
        <p:spPr>
          <a:xfrm>
            <a:off x="11283946" y="658443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12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529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9F60DC-CA75-4938-ABFF-786DE6F1340D}"/>
              </a:ext>
            </a:extLst>
          </p:cNvPr>
          <p:cNvSpPr txBox="1"/>
          <p:nvPr/>
        </p:nvSpPr>
        <p:spPr>
          <a:xfrm>
            <a:off x="435685" y="994359"/>
            <a:ext cx="8287397" cy="209288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rgbClr val="C00000"/>
                </a:solidFill>
              </a:rPr>
              <a:t>Principal Component Analysis (PCA)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/>
              <a:t>A </a:t>
            </a:r>
            <a:r>
              <a:rPr lang="en-IN" sz="1600" b="1" dirty="0"/>
              <a:t>dimensionality reduction</a:t>
            </a:r>
            <a:r>
              <a:rPr lang="en-IN" sz="1600" dirty="0"/>
              <a:t> technique.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1600" dirty="0"/>
              <a:t>Converts high-dimensional data into fewer dimensions while retaining maximum information. </a:t>
            </a:r>
          </a:p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Principal Components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New axes formed by combining original features.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PC1</a:t>
            </a:r>
            <a:r>
              <a:rPr lang="en-IN" sz="1600" dirty="0"/>
              <a:t> captures the maximum variance.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PC2</a:t>
            </a:r>
            <a:r>
              <a:rPr lang="en-IN" sz="1600" dirty="0"/>
              <a:t> captures the second-highest variance and is orthogonal to PC1.</a:t>
            </a:r>
          </a:p>
          <a:p>
            <a:r>
              <a:rPr lang="en-US" sz="1600" b="1" dirty="0">
                <a:solidFill>
                  <a:schemeClr val="accent4">
                    <a:lumMod val="75000"/>
                  </a:schemeClr>
                </a:solidFill>
              </a:rPr>
              <a:t>Use Case: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1600" dirty="0"/>
              <a:t>Reduces dimensionality, speeds up training, improves visualization.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CC772F-67E9-4D07-839E-2F6C3140697B}"/>
              </a:ext>
            </a:extLst>
          </p:cNvPr>
          <p:cNvSpPr txBox="1"/>
          <p:nvPr/>
        </p:nvSpPr>
        <p:spPr>
          <a:xfrm>
            <a:off x="435685" y="3237115"/>
            <a:ext cx="5660315" cy="329320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Visualizing Clusters in 2D</a:t>
            </a: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PCA reduces data to </a:t>
            </a:r>
            <a:r>
              <a:rPr lang="en-IN" sz="1600" b="1" dirty="0"/>
              <a:t>2 principal components (PC1 &amp; PC2)</a:t>
            </a:r>
            <a:r>
              <a:rPr lang="en-IN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Scatter plots display clusters clearly.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Different colours represent different clusters.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Helps evaluate clustering quality and identify overlapping clusters. </a:t>
            </a:r>
          </a:p>
          <a:p>
            <a:r>
              <a:rPr lang="en-IN" sz="1600" b="1" dirty="0">
                <a:solidFill>
                  <a:schemeClr val="accent4">
                    <a:lumMod val="75000"/>
                  </a:schemeClr>
                </a:solidFill>
              </a:rPr>
              <a:t>Applications: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Customer Segmentation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Market Analysis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Image Compression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Anomaly Detection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600" dirty="0"/>
              <a:t>Pattern Recognition</a:t>
            </a:r>
          </a:p>
          <a:p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CA9F8D-605C-488F-8152-0761D432AD5D}"/>
              </a:ext>
            </a:extLst>
          </p:cNvPr>
          <p:cNvSpPr/>
          <p:nvPr/>
        </p:nvSpPr>
        <p:spPr>
          <a:xfrm>
            <a:off x="11423945" y="658443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13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47169DF4-F6C6-4296-B80A-DCCE16E371CF}"/>
              </a:ext>
            </a:extLst>
          </p:cNvPr>
          <p:cNvSpPr/>
          <p:nvPr/>
        </p:nvSpPr>
        <p:spPr>
          <a:xfrm>
            <a:off x="435685" y="-65844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&amp; Visualizing clusters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364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Cross-validation strategies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0BE1B-8D8E-4E66-983C-0A66F1C7012A}"/>
              </a:ext>
            </a:extLst>
          </p:cNvPr>
          <p:cNvSpPr txBox="1"/>
          <p:nvPr/>
        </p:nvSpPr>
        <p:spPr>
          <a:xfrm>
            <a:off x="435685" y="954018"/>
            <a:ext cx="4710056" cy="48936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Model Evaluation Metrics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Precision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Measures the proportion of correctly predicted positive cases.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Formula: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High precision means </a:t>
            </a:r>
            <a:r>
              <a:rPr lang="en-IN" sz="1600" b="1" dirty="0"/>
              <a:t>fewer false positives</a:t>
            </a:r>
            <a:r>
              <a:rPr lang="en-IN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Recall (Sensitivity)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Measures how many actual positive cases are correctly identified.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Formula:</a:t>
            </a:r>
            <a:endParaRPr lang="en-IN" sz="1600" dirty="0"/>
          </a:p>
          <a:p>
            <a:r>
              <a:rPr lang="en-IN" sz="1600" dirty="0"/>
              <a:t>​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High recall means </a:t>
            </a:r>
            <a:r>
              <a:rPr lang="en-IN" sz="1600" b="1" dirty="0"/>
              <a:t>fewer false negatives</a:t>
            </a:r>
            <a:r>
              <a:rPr lang="en-IN" sz="1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F1-Score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Harmonic mean of Precision and Recall.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Formula: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Useful for </a:t>
            </a:r>
            <a:r>
              <a:rPr lang="en-IN" sz="1600" b="1" dirty="0"/>
              <a:t>imbalanced datasets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0BAF2E-6DBF-437E-B7DB-695C87B94449}"/>
              </a:ext>
            </a:extLst>
          </p:cNvPr>
          <p:cNvSpPr txBox="1"/>
          <p:nvPr/>
        </p:nvSpPr>
        <p:spPr>
          <a:xfrm>
            <a:off x="5230905" y="954018"/>
            <a:ext cx="6333565" cy="163121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ROC-AUC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ROC Curve:</a:t>
            </a:r>
            <a:r>
              <a:rPr lang="en-IN" sz="1600" dirty="0"/>
              <a:t> Plots True Positive Rate vs False Positive Rate.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AUC (Area Under Curve):</a:t>
            </a:r>
            <a:r>
              <a:rPr lang="en-IN" sz="1600" dirty="0"/>
              <a:t> </a:t>
            </a:r>
          </a:p>
          <a:p>
            <a:pPr lvl="1"/>
            <a:r>
              <a:rPr lang="en-IN" sz="1600" b="1" dirty="0"/>
              <a:t>1.0 = Perfect model</a:t>
            </a:r>
            <a:r>
              <a:rPr lang="en-IN" sz="1600" dirty="0"/>
              <a:t> </a:t>
            </a:r>
          </a:p>
          <a:p>
            <a:pPr lvl="1"/>
            <a:r>
              <a:rPr lang="en-IN" sz="1600" b="1" dirty="0"/>
              <a:t>0.5 = Random prediction</a:t>
            </a:r>
            <a:r>
              <a:rPr lang="en-IN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Higher AUC indicates better classification performance</a:t>
            </a:r>
            <a:r>
              <a:rPr lang="en-IN" dirty="0"/>
              <a:t>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38DBAA-C5D2-4057-83A4-A04E96BA28A4}"/>
              </a:ext>
            </a:extLst>
          </p:cNvPr>
          <p:cNvSpPr txBox="1"/>
          <p:nvPr/>
        </p:nvSpPr>
        <p:spPr>
          <a:xfrm>
            <a:off x="5230906" y="2680117"/>
            <a:ext cx="6333564" cy="30777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Cross-Validation Strategies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Used to evaluate model performance on unseen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Common methods: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b="1" dirty="0"/>
              <a:t>Train-Test Split</a:t>
            </a:r>
            <a:r>
              <a:rPr lang="en-IN" sz="1600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b="1" dirty="0"/>
              <a:t>K-Fold Cross-Validation</a:t>
            </a:r>
            <a:r>
              <a:rPr lang="en-IN" sz="1600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b="1" dirty="0"/>
              <a:t>Stratified K-Fold</a:t>
            </a:r>
            <a:r>
              <a:rPr lang="en-IN" sz="1600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b="1" dirty="0"/>
              <a:t>Leave-One-Out Cross-Validation (LOOCV)</a:t>
            </a:r>
            <a:r>
              <a:rPr lang="en-IN" sz="1600" dirty="0"/>
              <a:t> </a:t>
            </a:r>
          </a:p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Advantages:</a:t>
            </a:r>
            <a:endParaRPr lang="en-IN" sz="1600" dirty="0">
              <a:solidFill>
                <a:schemeClr val="accent6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/>
              <a:t>Reduces overfitting.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/>
              <a:t>Provides a more reliable estimate of model accuracy.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1600" dirty="0"/>
              <a:t>Makes better use of available data. </a:t>
            </a:r>
          </a:p>
          <a:p>
            <a:endParaRPr lang="en-IN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B629E2-BFB9-4B0A-9FBD-22C4B8901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5095" y="2057007"/>
            <a:ext cx="1667023" cy="4505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75B51A-03F1-424C-B1BD-98D39EF6C6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5095" y="3583260"/>
            <a:ext cx="1419423" cy="4382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0FBD8D-8BAB-411E-A9E6-A6CE06D08A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5095" y="4762635"/>
            <a:ext cx="2082917" cy="51372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B4E02D-CE29-4667-AF95-949087E64A4C}"/>
              </a:ext>
            </a:extLst>
          </p:cNvPr>
          <p:cNvSpPr/>
          <p:nvPr/>
        </p:nvSpPr>
        <p:spPr>
          <a:xfrm>
            <a:off x="11283946" y="658443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14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1261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</a:rPr>
              <a:t>Hyperparameter Tuning &amp; Bias-Variance </a:t>
            </a:r>
            <a:r>
              <a:rPr lang="en-IN" sz="2800" b="1" dirty="0" err="1">
                <a:solidFill>
                  <a:schemeClr val="accent1">
                    <a:lumMod val="75000"/>
                  </a:schemeClr>
                </a:solidFill>
              </a:rPr>
              <a:t>Tradeoff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67DB70-A661-4E00-9BB8-E653A09B12A1}"/>
              </a:ext>
            </a:extLst>
          </p:cNvPr>
          <p:cNvSpPr txBox="1"/>
          <p:nvPr/>
        </p:nvSpPr>
        <p:spPr>
          <a:xfrm>
            <a:off x="435685" y="924531"/>
            <a:ext cx="52488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Hyperparameter Tuning &amp; Bias-Variance </a:t>
            </a:r>
            <a:r>
              <a:rPr lang="en-IN" b="1" dirty="0" err="1">
                <a:solidFill>
                  <a:srgbClr val="C00000"/>
                </a:solidFill>
              </a:rPr>
              <a:t>Tradeoff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GridSearchCV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Tests </a:t>
            </a:r>
            <a:r>
              <a:rPr lang="en-US" b="1" dirty="0"/>
              <a:t>all possible combinations</a:t>
            </a:r>
            <a:r>
              <a:rPr lang="en-US" dirty="0"/>
              <a:t> of hyperparameters.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Finds the best parameter set using cross-validation.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Advantage:</a:t>
            </a:r>
            <a:r>
              <a:rPr lang="en-US" dirty="0"/>
              <a:t> Highly accurate.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Disadvantage:</a:t>
            </a:r>
            <a:r>
              <a:rPr lang="en-US" dirty="0"/>
              <a:t> Computationally expensive.</a:t>
            </a:r>
          </a:p>
          <a:p>
            <a:r>
              <a:rPr lang="en-US" b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RandomizedSearchCV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Tests </a:t>
            </a:r>
            <a:r>
              <a:rPr lang="en-US" b="1" dirty="0"/>
              <a:t>random combinations</a:t>
            </a:r>
            <a:r>
              <a:rPr lang="en-US" dirty="0"/>
              <a:t> of hyperparameters.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Faster than </a:t>
            </a:r>
            <a:r>
              <a:rPr lang="en-US" dirty="0" err="1"/>
              <a:t>GridSearchCV</a:t>
            </a:r>
            <a:r>
              <a:rPr lang="en-US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Suitable for large parameter spaces.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B11580C-E72B-4C7B-8D7A-8579E2091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415526"/>
              </p:ext>
            </p:extLst>
          </p:nvPr>
        </p:nvGraphicFramePr>
        <p:xfrm>
          <a:off x="561190" y="4450109"/>
          <a:ext cx="488038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0724">
                  <a:extLst>
                    <a:ext uri="{9D8B030D-6E8A-4147-A177-3AD203B41FA5}">
                      <a16:colId xmlns:a16="http://schemas.microsoft.com/office/drawing/2014/main" val="163087338"/>
                    </a:ext>
                  </a:extLst>
                </a:gridCol>
                <a:gridCol w="2459661">
                  <a:extLst>
                    <a:ext uri="{9D8B030D-6E8A-4147-A177-3AD203B41FA5}">
                      <a16:colId xmlns:a16="http://schemas.microsoft.com/office/drawing/2014/main" val="28029974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 err="1"/>
                        <a:t>GridSearchCV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RandomizedSearchCV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6231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Exhaustive 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Random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6565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Higher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Faster Execution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0831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/>
                        <a:t>More Computation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Less Computation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81051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24A0324-A684-4A53-A7D3-14665F9DBF59}"/>
              </a:ext>
            </a:extLst>
          </p:cNvPr>
          <p:cNvSpPr txBox="1"/>
          <p:nvPr/>
        </p:nvSpPr>
        <p:spPr>
          <a:xfrm>
            <a:off x="5684520" y="977077"/>
            <a:ext cx="5808777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Bias-Variance Tradeoff</a:t>
            </a:r>
          </a:p>
          <a:p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Bias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Error caused by overly simple models.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Leads to </a:t>
            </a:r>
            <a:r>
              <a:rPr lang="en-US" sz="1600" b="1" dirty="0"/>
              <a:t>Underfitting</a:t>
            </a:r>
            <a:r>
              <a:rPr lang="en-US" sz="1600" dirty="0"/>
              <a:t>. </a:t>
            </a:r>
          </a:p>
          <a:p>
            <a:r>
              <a:rPr lang="en-US" sz="16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Variance</a:t>
            </a:r>
            <a:endParaRPr lang="en-US" sz="160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Error caused by overly complex models.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Leads to </a:t>
            </a:r>
            <a:r>
              <a:rPr lang="en-US" sz="1600" b="1" dirty="0"/>
              <a:t>Overfitting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/>
              <a:t>Goal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Find the balance between bias and variance to achieve the best model performance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Fraud Detection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Medical Diagnosis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Spam Email Classification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Credit Risk Prediction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 Churn Prediction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D2DC394-CF65-408F-B0D4-33AC47B56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694816"/>
              </p:ext>
            </p:extLst>
          </p:nvPr>
        </p:nvGraphicFramePr>
        <p:xfrm>
          <a:off x="5684519" y="3529563"/>
          <a:ext cx="579926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1950">
                  <a:extLst>
                    <a:ext uri="{9D8B030D-6E8A-4147-A177-3AD203B41FA5}">
                      <a16:colId xmlns:a16="http://schemas.microsoft.com/office/drawing/2014/main" val="976672298"/>
                    </a:ext>
                  </a:extLst>
                </a:gridCol>
                <a:gridCol w="2967317">
                  <a:extLst>
                    <a:ext uri="{9D8B030D-6E8A-4147-A177-3AD203B41FA5}">
                      <a16:colId xmlns:a16="http://schemas.microsoft.com/office/drawing/2014/main" val="12919719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High Bias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High Variance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086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Underfitting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Overfitting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4265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/>
                        <a:t>Low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Poor 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9557878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C6C207A7-D18B-44CC-8209-0AEFF7353873}"/>
              </a:ext>
            </a:extLst>
          </p:cNvPr>
          <p:cNvSpPr/>
          <p:nvPr/>
        </p:nvSpPr>
        <p:spPr>
          <a:xfrm>
            <a:off x="11633297" y="658443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15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2231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9C84D-C279-4B2F-BAE9-5C29A626EAB3}"/>
              </a:ext>
            </a:extLst>
          </p:cNvPr>
          <p:cNvSpPr txBox="1"/>
          <p:nvPr/>
        </p:nvSpPr>
        <p:spPr>
          <a:xfrm>
            <a:off x="435685" y="933544"/>
            <a:ext cx="5534809" cy="501675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Feature Selection</a:t>
            </a:r>
          </a:p>
          <a:p>
            <a:r>
              <a:rPr lang="en-US" sz="1600" dirty="0"/>
              <a:t>Feature selection improves model performance by selecting the most relevant features and removing unnecessary ones.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1.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SelectKBest</a:t>
            </a:r>
            <a:endParaRPr 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Selects the </a:t>
            </a:r>
            <a:r>
              <a:rPr lang="en-US" sz="1600" b="1" dirty="0"/>
              <a:t>top K features</a:t>
            </a:r>
            <a:r>
              <a:rPr lang="en-US" sz="1600" dirty="0"/>
              <a:t> based on statistical tests.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Reduces dimensionality and training time.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Common scoring methods: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Chi-Square (χ²)</a:t>
            </a:r>
            <a:r>
              <a:rPr lang="en-US" sz="1600" dirty="0"/>
              <a:t> – for categorical data.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ANOVA F-test</a:t>
            </a:r>
            <a:r>
              <a:rPr lang="en-US" sz="1600" dirty="0"/>
              <a:t> – for numerical data. 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2. Recursive Feature Elimination (RFE)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Recursively removes the least important features.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Builds a model multiple times until the desired number of features remains.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Works well with algorithms like </a:t>
            </a:r>
            <a:r>
              <a:rPr lang="en-US" sz="1600" b="1" dirty="0"/>
              <a:t>Linear Regression</a:t>
            </a:r>
            <a:r>
              <a:rPr lang="en-US" sz="1600" dirty="0"/>
              <a:t> and </a:t>
            </a:r>
            <a:r>
              <a:rPr lang="en-US" sz="1600" b="1" dirty="0"/>
              <a:t>Random Forest</a:t>
            </a:r>
            <a:r>
              <a:rPr lang="en-US" sz="1600" dirty="0"/>
              <a:t>. 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3. Correlation-Based Selection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Uses a </a:t>
            </a:r>
            <a:r>
              <a:rPr lang="en-US" sz="1600" b="1" dirty="0"/>
              <a:t>correlation matrix</a:t>
            </a:r>
            <a:r>
              <a:rPr lang="en-US" sz="1600" dirty="0"/>
              <a:t> to identify relationships between features.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Removes highly correlated (redundant) features.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Helps reduce </a:t>
            </a:r>
            <a:r>
              <a:rPr lang="en-US" sz="1600" b="1" dirty="0"/>
              <a:t>multicollinearity</a:t>
            </a:r>
            <a:r>
              <a:rPr lang="en-US" sz="16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BADF05-F438-467D-981F-84C4D22B1374}"/>
              </a:ext>
            </a:extLst>
          </p:cNvPr>
          <p:cNvSpPr txBox="1"/>
          <p:nvPr/>
        </p:nvSpPr>
        <p:spPr>
          <a:xfrm>
            <a:off x="6104964" y="924531"/>
            <a:ext cx="5388333" cy="329320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</a:rPr>
              <a:t>Feature Engineering</a:t>
            </a:r>
          </a:p>
          <a:p>
            <a:r>
              <a:rPr lang="en-US" sz="1600" dirty="0"/>
              <a:t>Creating new features helps improve model accuracy.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Polynomial Features</a:t>
            </a:r>
          </a:p>
          <a:p>
            <a:r>
              <a:rPr lang="en-US" sz="1600" dirty="0"/>
              <a:t>Creates higher-degree features. 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Example: </a:t>
            </a:r>
          </a:p>
          <a:p>
            <a:pPr lvl="1"/>
            <a:r>
              <a:rPr lang="en-US" sz="1600" dirty="0"/>
              <a:t>Original: </a:t>
            </a:r>
            <a:r>
              <a:rPr lang="en-US" sz="1600" b="1" dirty="0"/>
              <a:t>x</a:t>
            </a:r>
            <a:r>
              <a:rPr lang="en-US" sz="1600" dirty="0"/>
              <a:t> </a:t>
            </a:r>
          </a:p>
          <a:p>
            <a:pPr lvl="1"/>
            <a:r>
              <a:rPr lang="en-US" sz="1600" dirty="0"/>
              <a:t>Polynomial: </a:t>
            </a:r>
            <a:r>
              <a:rPr lang="en-US" sz="1600" b="1" dirty="0"/>
              <a:t>x², x³</a:t>
            </a:r>
            <a:r>
              <a:rPr lang="en-US" sz="1600" dirty="0"/>
              <a:t> 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Interaction Features</a:t>
            </a:r>
          </a:p>
          <a:p>
            <a:r>
              <a:rPr lang="en-US" sz="1600" dirty="0"/>
              <a:t>Combines two or more features. 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  <a:r>
              <a:rPr lang="en-US" sz="1600" dirty="0"/>
              <a:t> </a:t>
            </a:r>
          </a:p>
          <a:p>
            <a:pPr lvl="1"/>
            <a:r>
              <a:rPr lang="en-US" sz="1600" b="1" dirty="0"/>
              <a:t>Age × Income</a:t>
            </a:r>
            <a:r>
              <a:rPr lang="en-US" sz="1600" dirty="0"/>
              <a:t> </a:t>
            </a:r>
          </a:p>
          <a:p>
            <a:pPr lvl="1"/>
            <a:r>
              <a:rPr lang="en-US" sz="1600" b="1" dirty="0"/>
              <a:t>Height × Weight</a:t>
            </a:r>
            <a:r>
              <a:rPr lang="en-US" sz="1600" dirty="0"/>
              <a:t> </a:t>
            </a:r>
          </a:p>
          <a:p>
            <a:r>
              <a:rPr lang="en-US" sz="1600" dirty="0"/>
              <a:t>Captures relationships between variables.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FD2A56-C614-4093-A429-EE3666C12961}"/>
              </a:ext>
            </a:extLst>
          </p:cNvPr>
          <p:cNvSpPr/>
          <p:nvPr/>
        </p:nvSpPr>
        <p:spPr>
          <a:xfrm>
            <a:off x="6104963" y="4498305"/>
            <a:ext cx="5388333" cy="147732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Feature Selection workflow:</a:t>
            </a:r>
          </a:p>
          <a:p>
            <a:r>
              <a:rPr lang="en-IN" dirty="0"/>
              <a:t>Dataset → Feature Selection → Best Features → ML  Model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4717B1-C612-4705-9EED-DC508FD3D4C6}"/>
              </a:ext>
            </a:extLst>
          </p:cNvPr>
          <p:cNvSpPr/>
          <p:nvPr/>
        </p:nvSpPr>
        <p:spPr>
          <a:xfrm>
            <a:off x="11423945" y="658443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16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328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chemeClr val="accent5">
                    <a:lumMod val="50000"/>
                  </a:schemeClr>
                </a:solidFill>
              </a:rPr>
              <a:t>Pipeline &amp; </a:t>
            </a:r>
            <a:r>
              <a:rPr lang="en-IN" sz="2800" b="1" dirty="0" err="1">
                <a:solidFill>
                  <a:schemeClr val="accent5">
                    <a:lumMod val="50000"/>
                  </a:schemeClr>
                </a:solidFill>
              </a:rPr>
              <a:t>ColumnTransformer</a:t>
            </a:r>
            <a:endParaRPr lang="en-US" sz="28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6510B0-FD09-4F43-BDEA-283DF198EA97}"/>
              </a:ext>
            </a:extLst>
          </p:cNvPr>
          <p:cNvSpPr txBox="1"/>
          <p:nvPr/>
        </p:nvSpPr>
        <p:spPr>
          <a:xfrm>
            <a:off x="435685" y="933544"/>
            <a:ext cx="3634291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</a:rPr>
              <a:t>Sklearn</a:t>
            </a:r>
            <a:r>
              <a:rPr lang="en-US" b="1" dirty="0">
                <a:solidFill>
                  <a:srgbClr val="C00000"/>
                </a:solidFill>
              </a:rPr>
              <a:t> Pipeline</a:t>
            </a:r>
          </a:p>
          <a:p>
            <a:r>
              <a:rPr lang="en-US" sz="1600" dirty="0"/>
              <a:t>A </a:t>
            </a:r>
            <a:r>
              <a:rPr lang="en-US" sz="1600" b="1" dirty="0"/>
              <a:t>Pipeline</a:t>
            </a:r>
            <a:r>
              <a:rPr lang="en-US" sz="1600" dirty="0"/>
              <a:t> chains multiple preprocessing and modeling steps into one workflow</a:t>
            </a:r>
            <a:r>
              <a:rPr lang="en-US" dirty="0"/>
              <a:t>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Pipeline Flow: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/>
              <a:t>                             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Advantages: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Simplifies workflow.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Prevents data leakage.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Makes code reusable and easier to maintain.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Automates preprocessing and model training</a:t>
            </a:r>
            <a:r>
              <a:rPr lang="en-US" dirty="0"/>
              <a:t>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77ADC4-C5E6-4406-BA47-061A47A44A61}"/>
              </a:ext>
            </a:extLst>
          </p:cNvPr>
          <p:cNvSpPr/>
          <p:nvPr/>
        </p:nvSpPr>
        <p:spPr>
          <a:xfrm>
            <a:off x="561191" y="2197893"/>
            <a:ext cx="2083397" cy="24622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r>
              <a:rPr lang="en-IN" sz="1400" dirty="0"/>
              <a:t>Raw Data</a:t>
            </a:r>
          </a:p>
          <a:p>
            <a:r>
              <a:rPr lang="en-IN" sz="1400" dirty="0"/>
              <a:t>     ↓</a:t>
            </a:r>
          </a:p>
          <a:p>
            <a:r>
              <a:rPr lang="en-IN" sz="1400" dirty="0"/>
              <a:t>Data Cleaning</a:t>
            </a:r>
          </a:p>
          <a:p>
            <a:r>
              <a:rPr lang="en-IN" sz="1400" dirty="0"/>
              <a:t>     ↓</a:t>
            </a:r>
          </a:p>
          <a:p>
            <a:r>
              <a:rPr lang="en-IN" sz="1400" dirty="0"/>
              <a:t>Feature Scaling</a:t>
            </a:r>
          </a:p>
          <a:p>
            <a:r>
              <a:rPr lang="en-IN" sz="1400" dirty="0"/>
              <a:t>     ↓</a:t>
            </a:r>
          </a:p>
          <a:p>
            <a:r>
              <a:rPr lang="en-IN" sz="1400" dirty="0"/>
              <a:t>Feature Selection</a:t>
            </a:r>
          </a:p>
          <a:p>
            <a:r>
              <a:rPr lang="en-IN" sz="1400" dirty="0"/>
              <a:t>     ↓</a:t>
            </a:r>
          </a:p>
          <a:p>
            <a:r>
              <a:rPr lang="en-IN" sz="1400" dirty="0"/>
              <a:t>Machine Learning Model</a:t>
            </a:r>
          </a:p>
          <a:p>
            <a:r>
              <a:rPr lang="en-IN" sz="1400" dirty="0"/>
              <a:t>     ↓</a:t>
            </a:r>
          </a:p>
          <a:p>
            <a:r>
              <a:rPr lang="en-IN" sz="1400" dirty="0"/>
              <a:t>Prediction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0FBD0E-FDCE-4228-9C22-CD2B1FEEBBAE}"/>
              </a:ext>
            </a:extLst>
          </p:cNvPr>
          <p:cNvSpPr txBox="1"/>
          <p:nvPr/>
        </p:nvSpPr>
        <p:spPr>
          <a:xfrm>
            <a:off x="4285131" y="888468"/>
            <a:ext cx="363429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</a:rPr>
              <a:t>ColumnTransformer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sz="1600" dirty="0"/>
              <a:t>Processes </a:t>
            </a:r>
            <a:r>
              <a:rPr lang="en-US" sz="1600" b="1" dirty="0"/>
              <a:t>different data types</a:t>
            </a:r>
            <a:r>
              <a:rPr lang="en-US" sz="1600" dirty="0"/>
              <a:t> using different preprocessing techniques.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IN" sz="1600" b="1" dirty="0">
                <a:solidFill>
                  <a:schemeClr val="accent6">
                    <a:lumMod val="75000"/>
                  </a:schemeClr>
                </a:solidFill>
              </a:rPr>
              <a:t>Workflow:</a:t>
            </a:r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US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EFF21B4-FF79-4A19-B78A-F626E6537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969805"/>
              </p:ext>
            </p:extLst>
          </p:nvPr>
        </p:nvGraphicFramePr>
        <p:xfrm>
          <a:off x="4328464" y="1979796"/>
          <a:ext cx="3426012" cy="13105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5824">
                  <a:extLst>
                    <a:ext uri="{9D8B030D-6E8A-4147-A177-3AD203B41FA5}">
                      <a16:colId xmlns:a16="http://schemas.microsoft.com/office/drawing/2014/main" val="2418255760"/>
                    </a:ext>
                  </a:extLst>
                </a:gridCol>
                <a:gridCol w="1730188">
                  <a:extLst>
                    <a:ext uri="{9D8B030D-6E8A-4147-A177-3AD203B41FA5}">
                      <a16:colId xmlns:a16="http://schemas.microsoft.com/office/drawing/2014/main" val="2484617637"/>
                    </a:ext>
                  </a:extLst>
                </a:gridCol>
              </a:tblGrid>
              <a:tr h="327629">
                <a:tc>
                  <a:txBody>
                    <a:bodyPr/>
                    <a:lstStyle/>
                    <a:p>
                      <a:r>
                        <a:rPr lang="en-IN" sz="1400" dirty="0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Transformation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019579"/>
                  </a:ext>
                </a:extLst>
              </a:tr>
              <a:tr h="327629">
                <a:tc>
                  <a:txBody>
                    <a:bodyPr/>
                    <a:lstStyle/>
                    <a:p>
                      <a:r>
                        <a:rPr lang="en-IN" sz="1400" dirty="0"/>
                        <a:t>Numerical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StandardScaler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7763966"/>
                  </a:ext>
                </a:extLst>
              </a:tr>
              <a:tr h="327629">
                <a:tc>
                  <a:txBody>
                    <a:bodyPr/>
                    <a:lstStyle/>
                    <a:p>
                      <a:r>
                        <a:rPr lang="en-IN" sz="1400"/>
                        <a:t>Categorical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OneHotEncoder</a:t>
                      </a:r>
                      <a:endParaRPr lang="en-IN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1968279"/>
                  </a:ext>
                </a:extLst>
              </a:tr>
              <a:tr h="327629">
                <a:tc>
                  <a:txBody>
                    <a:bodyPr/>
                    <a:lstStyle/>
                    <a:p>
                      <a:r>
                        <a:rPr lang="en-IN" sz="1400" dirty="0"/>
                        <a:t>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TF-IDF Vectorizer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7192060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AB4D18E6-860A-4AFF-85E0-79AE5CA93E6F}"/>
              </a:ext>
            </a:extLst>
          </p:cNvPr>
          <p:cNvSpPr/>
          <p:nvPr/>
        </p:nvSpPr>
        <p:spPr>
          <a:xfrm>
            <a:off x="6320120" y="3428999"/>
            <a:ext cx="1407460" cy="30469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r>
              <a:rPr lang="en-IN" sz="1200" dirty="0"/>
              <a:t>   Dataset</a:t>
            </a:r>
          </a:p>
          <a:p>
            <a:r>
              <a:rPr lang="en-IN" sz="1200" dirty="0"/>
              <a:t>      │</a:t>
            </a:r>
          </a:p>
          <a:p>
            <a:r>
              <a:rPr lang="en-IN" sz="1200" dirty="0"/>
              <a:t> ┌────┴────┐</a:t>
            </a:r>
          </a:p>
          <a:p>
            <a:r>
              <a:rPr lang="en-IN" sz="1200" dirty="0"/>
              <a:t> │         │</a:t>
            </a:r>
          </a:p>
          <a:p>
            <a:r>
              <a:rPr lang="en-IN" sz="1200" dirty="0"/>
              <a:t>Numeric  Categorical</a:t>
            </a:r>
          </a:p>
          <a:p>
            <a:r>
              <a:rPr lang="en-IN" sz="1200" dirty="0"/>
              <a:t> │          │</a:t>
            </a:r>
          </a:p>
          <a:p>
            <a:r>
              <a:rPr lang="en-IN" sz="1200" dirty="0"/>
              <a:t>Scaling  One-Hot Encoding</a:t>
            </a:r>
          </a:p>
          <a:p>
            <a:r>
              <a:rPr lang="en-IN" sz="1200" dirty="0"/>
              <a:t> │          │</a:t>
            </a:r>
          </a:p>
          <a:p>
            <a:r>
              <a:rPr lang="en-IN" sz="1200" dirty="0"/>
              <a:t> └────┬─────┘</a:t>
            </a:r>
          </a:p>
          <a:p>
            <a:r>
              <a:rPr lang="en-IN" sz="1200" dirty="0"/>
              <a:t>      ↓</a:t>
            </a:r>
          </a:p>
          <a:p>
            <a:r>
              <a:rPr lang="en-IN" sz="1200" dirty="0"/>
              <a:t>Combined Features</a:t>
            </a:r>
          </a:p>
          <a:p>
            <a:r>
              <a:rPr lang="en-IN" sz="1200" dirty="0"/>
              <a:t>      ↓</a:t>
            </a:r>
          </a:p>
          <a:p>
            <a:r>
              <a:rPr lang="en-IN" sz="1200" dirty="0"/>
              <a:t>Machine Learning Model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4F7E4C-E013-44B5-9CAA-371065F1AEE4}"/>
              </a:ext>
            </a:extLst>
          </p:cNvPr>
          <p:cNvSpPr txBox="1"/>
          <p:nvPr/>
        </p:nvSpPr>
        <p:spPr>
          <a:xfrm>
            <a:off x="8355650" y="1103426"/>
            <a:ext cx="315557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Benefits: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Handles mixed data types efficiently.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Applies different preprocessing to different columns.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Improves code readability and scalability</a:t>
            </a:r>
            <a:r>
              <a:rPr lang="en-US" dirty="0"/>
              <a:t>. 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Applications: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Customer Churn Prediction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House Price Prediction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Credit Risk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Medical Diagnosis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Recommendation Systems </a:t>
            </a:r>
          </a:p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AC8EC15-E14D-48B4-B073-B6FF5895ABE0}"/>
              </a:ext>
            </a:extLst>
          </p:cNvPr>
          <p:cNvSpPr/>
          <p:nvPr/>
        </p:nvSpPr>
        <p:spPr>
          <a:xfrm>
            <a:off x="11283946" y="658443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17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321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Text </a:t>
            </a:r>
            <a:r>
              <a:rPr lang="en-IN" sz="2800" b="1" dirty="0" err="1">
                <a:solidFill>
                  <a:schemeClr val="accent1">
                    <a:lumMod val="50000"/>
                  </a:schemeClr>
                </a:solidFill>
              </a:rPr>
              <a:t>Preprocessing</a:t>
            </a:r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 &amp; Vectorization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F55A31-C492-4847-8F37-AAD1EC333F7D}"/>
              </a:ext>
            </a:extLst>
          </p:cNvPr>
          <p:cNvSpPr txBox="1"/>
          <p:nvPr/>
        </p:nvSpPr>
        <p:spPr>
          <a:xfrm>
            <a:off x="435685" y="1193473"/>
            <a:ext cx="5391374" cy="43088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Text Preprocessing</a:t>
            </a:r>
          </a:p>
          <a:p>
            <a:r>
              <a:rPr lang="en-US" sz="1600" dirty="0"/>
              <a:t>Text data must be cleaned and converted into structured form before modeling.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Tokenization:</a:t>
            </a:r>
          </a:p>
          <a:p>
            <a:r>
              <a:rPr lang="en-US" sz="1600" dirty="0"/>
              <a:t>Splitting text into smaller units (words or sentences). 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Example: </a:t>
            </a:r>
          </a:p>
          <a:p>
            <a:pPr lvl="1"/>
            <a:r>
              <a:rPr lang="en-US" sz="1600" dirty="0"/>
              <a:t>“I HATE ML” → [“I”, “HATE”, “ML”] 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Stopwords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Removal:</a:t>
            </a:r>
          </a:p>
          <a:p>
            <a:r>
              <a:rPr lang="en-US" sz="1600" dirty="0"/>
              <a:t>Removes common words that do not add meaning. 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Examples:</a:t>
            </a:r>
            <a:r>
              <a:rPr lang="en-US" sz="1600" dirty="0"/>
              <a:t> </a:t>
            </a:r>
            <a:r>
              <a:rPr lang="en-US" sz="1600" i="1" dirty="0"/>
              <a:t>is, the, a, and, in</a:t>
            </a:r>
            <a:r>
              <a:rPr lang="en-US" sz="1600" dirty="0"/>
              <a:t> </a:t>
            </a:r>
          </a:p>
          <a:p>
            <a:r>
              <a:rPr lang="en-US" sz="1600" dirty="0"/>
              <a:t>Helps reduce noise in data. 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Stemming:</a:t>
            </a:r>
          </a:p>
          <a:p>
            <a:r>
              <a:rPr lang="en-US" sz="1600" dirty="0"/>
              <a:t>Reduces words to their root form. 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Example: </a:t>
            </a:r>
          </a:p>
          <a:p>
            <a:pPr lvl="1"/>
            <a:r>
              <a:rPr lang="en-US" sz="1600" dirty="0"/>
              <a:t>“playing”, “played” → “play” </a:t>
            </a:r>
          </a:p>
          <a:p>
            <a:r>
              <a:rPr lang="en-US" sz="1600" dirty="0"/>
              <a:t>Improves consistency in text analysis. </a:t>
            </a:r>
          </a:p>
          <a:p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C863C9-06EF-4C17-BA84-6FB10C50EFE2}"/>
              </a:ext>
            </a:extLst>
          </p:cNvPr>
          <p:cNvSpPr txBox="1"/>
          <p:nvPr/>
        </p:nvSpPr>
        <p:spPr>
          <a:xfrm>
            <a:off x="5988424" y="1193473"/>
            <a:ext cx="5504874" cy="43088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Bag of Words (</a:t>
            </a:r>
            <a:r>
              <a:rPr lang="en-US" b="1" dirty="0" err="1">
                <a:solidFill>
                  <a:srgbClr val="C00000"/>
                </a:solidFill>
              </a:rPr>
              <a:t>BoW</a:t>
            </a:r>
            <a:r>
              <a:rPr lang="en-US" b="1" dirty="0">
                <a:solidFill>
                  <a:srgbClr val="C00000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Converts text into numerical form based on word frequency.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Ignores grammar and word order. </a:t>
            </a:r>
          </a:p>
          <a:p>
            <a:r>
              <a:rPr lang="en-US" sz="1600" dirty="0"/>
              <a:t>Example: </a:t>
            </a:r>
          </a:p>
          <a:p>
            <a:pPr lvl="1"/>
            <a:r>
              <a:rPr lang="en-US" sz="1600" dirty="0"/>
              <a:t>“I love ML” → vector of word counts. 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Limitations: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Large sparse matrices.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semantic meaning of words. </a:t>
            </a:r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TF-IDF (Term Frequency – Inverse Document Frequency</a:t>
            </a:r>
            <a:r>
              <a:rPr lang="en-US" sz="16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Assigns importance to words based on frequency.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Reduces importance of common words.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Formula idea: </a:t>
            </a:r>
          </a:p>
          <a:p>
            <a:pPr lvl="1"/>
            <a:r>
              <a:rPr lang="en-US" sz="1600" dirty="0"/>
              <a:t>High TF × Low DF = Important word 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</a:rPr>
              <a:t>Advantages: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Better than </a:t>
            </a:r>
            <a:r>
              <a:rPr lang="en-US" sz="1600" dirty="0" err="1"/>
              <a:t>BoW</a:t>
            </a:r>
            <a:r>
              <a:rPr lang="en-US" sz="1600" dirty="0"/>
              <a:t> for feature weighting.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600" dirty="0"/>
              <a:t>Captures importance of rare but meaningful words</a:t>
            </a:r>
          </a:p>
          <a:p>
            <a:endParaRPr lang="en-US" sz="16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F0D53E-8222-4737-831B-473A6B3E37B9}"/>
              </a:ext>
            </a:extLst>
          </p:cNvPr>
          <p:cNvSpPr/>
          <p:nvPr/>
        </p:nvSpPr>
        <p:spPr>
          <a:xfrm>
            <a:off x="11423945" y="658443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18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354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Naive Bayes &amp; Sentiment Analysis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345E80-16BB-4B7F-B0A0-770969467680}"/>
              </a:ext>
            </a:extLst>
          </p:cNvPr>
          <p:cNvSpPr txBox="1"/>
          <p:nvPr/>
        </p:nvSpPr>
        <p:spPr>
          <a:xfrm>
            <a:off x="435685" y="947560"/>
            <a:ext cx="566031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Naive Bayes Classifier (Text Classification)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probabilistic machine learning algorithm based on </a:t>
            </a:r>
            <a:r>
              <a:rPr lang="en-US" b="1" dirty="0"/>
              <a:t>Bayes Theorem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Commonly used for </a:t>
            </a:r>
            <a:r>
              <a:rPr lang="en-US" b="1" dirty="0"/>
              <a:t>text classification tasks</a:t>
            </a:r>
            <a:r>
              <a:rPr lang="en-US" dirty="0"/>
              <a:t>. 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How it works: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Calculates probability of a class given words in a document.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Assumes features are independent (naive assumption). 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Types: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Multinomial Naive Bayes (best for text data)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Bernoulli Naive Bayes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Gaussian Naive Bayes 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Advantages: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Fast and efficient.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Works well with high-dimensional text data.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Performs well even with small datasets.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0E1979-C349-4982-861C-4AD9691B07F2}"/>
              </a:ext>
            </a:extLst>
          </p:cNvPr>
          <p:cNvSpPr txBox="1"/>
          <p:nvPr/>
        </p:nvSpPr>
        <p:spPr>
          <a:xfrm>
            <a:off x="6454589" y="924531"/>
            <a:ext cx="503870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Sentiment Analysis Basics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Process of identifying </a:t>
            </a:r>
            <a:r>
              <a:rPr lang="en-IN" b="1" dirty="0"/>
              <a:t>emotion or opinion</a:t>
            </a:r>
            <a:r>
              <a:rPr lang="en-IN" dirty="0"/>
              <a:t> in text.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Classifies text into: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Positive 😊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Negative 😡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Neutral 😐 </a:t>
            </a:r>
          </a:p>
          <a:p>
            <a:r>
              <a:rPr lang="en-IN" b="1" dirty="0"/>
              <a:t>Steps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Collect text data (reviews, tweets).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 err="1"/>
              <a:t>Preprocess</a:t>
            </a:r>
            <a:r>
              <a:rPr lang="en-IN" dirty="0"/>
              <a:t> text (tokenization, </a:t>
            </a:r>
            <a:r>
              <a:rPr lang="en-IN" dirty="0" err="1"/>
              <a:t>stopwords</a:t>
            </a:r>
            <a:r>
              <a:rPr lang="en-IN" dirty="0"/>
              <a:t> removal).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Convert text into vectors (</a:t>
            </a:r>
            <a:r>
              <a:rPr lang="en-IN" dirty="0" err="1"/>
              <a:t>BoW</a:t>
            </a:r>
            <a:r>
              <a:rPr lang="en-IN" dirty="0"/>
              <a:t> / TF-IDF).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Train classifier (Naive Bayes / ML model).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Predict sentiment.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F666E78-6C8D-4166-A781-B02C4040BE14}"/>
              </a:ext>
            </a:extLst>
          </p:cNvPr>
          <p:cNvSpPr/>
          <p:nvPr/>
        </p:nvSpPr>
        <p:spPr>
          <a:xfrm>
            <a:off x="11423945" y="6610372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19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882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nd-to-End Machine Learning Project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43B69-2E64-4618-AF9B-BBD1CF2D117C}"/>
              </a:ext>
            </a:extLst>
          </p:cNvPr>
          <p:cNvSpPr txBox="1"/>
          <p:nvPr/>
        </p:nvSpPr>
        <p:spPr>
          <a:xfrm>
            <a:off x="435686" y="924531"/>
            <a:ext cx="4333538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End-to-End Machine Learning Project Workflow</a:t>
            </a:r>
          </a:p>
          <a:p>
            <a:r>
              <a:rPr lang="en-US" sz="1600" dirty="0"/>
              <a:t>An end-to-end Machine Learning (ML) project follows a structured pipeline from problem understanding to final deployment and reporting.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Problem Definition</a:t>
            </a:r>
          </a:p>
          <a:p>
            <a:r>
              <a:rPr lang="en-US" sz="1600" dirty="0"/>
              <a:t>Clearly define the objective of the ML project. </a:t>
            </a: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Identify: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Type of problem (Classification / Regression / Clustering)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Target variable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Success metrics (Accuracy, RMSE, F1-score)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Dataset Selection</a:t>
            </a:r>
          </a:p>
          <a:p>
            <a:r>
              <a:rPr lang="en-US" sz="1600" dirty="0"/>
              <a:t>Choose a relevant and high-quality dataset. </a:t>
            </a: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Sources: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Kaggle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UCI Machine Learning Repository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Real-world company data </a:t>
            </a:r>
          </a:p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Ensure: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Sufficient data size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Balanced classes (if classification)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Minimal missing 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659B2-0865-4C94-9F15-55CDFFCE4412}"/>
              </a:ext>
            </a:extLst>
          </p:cNvPr>
          <p:cNvSpPr txBox="1"/>
          <p:nvPr/>
        </p:nvSpPr>
        <p:spPr>
          <a:xfrm>
            <a:off x="4769224" y="920643"/>
            <a:ext cx="3827929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rgbClr val="C00000"/>
                </a:solidFill>
              </a:rPr>
              <a:t>Full ML Pipeline</a:t>
            </a:r>
          </a:p>
          <a:p>
            <a:r>
              <a:rPr lang="en-IN" sz="1600" b="1" dirty="0">
                <a:solidFill>
                  <a:schemeClr val="accent1">
                    <a:lumMod val="75000"/>
                  </a:schemeClr>
                </a:solidFill>
              </a:rPr>
              <a:t>Step-by-step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EDA (Exploratory Data Analysis)</a:t>
            </a:r>
            <a:r>
              <a:rPr lang="en-IN" sz="1600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Understand patterns, distributions, and correlations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Data </a:t>
            </a:r>
            <a:r>
              <a:rPr lang="en-IN" sz="1600" b="1" dirty="0" err="1"/>
              <a:t>Preprocessing</a:t>
            </a:r>
            <a:r>
              <a:rPr lang="en-IN" sz="1600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Handling missing values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Encoding categorical variables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Feature scaling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Modeling</a:t>
            </a:r>
            <a:r>
              <a:rPr lang="en-IN" sz="1600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Train ML models (e.g., Linear Regression, Random Forest, SVM)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Evaluation</a:t>
            </a:r>
            <a:r>
              <a:rPr lang="en-IN" sz="1600" dirty="0"/>
              <a:t>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Measure performance using metrics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1600" dirty="0"/>
              <a:t>Compare multiple models</a:t>
            </a:r>
          </a:p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400F96-E775-48D2-AEA1-5AD4E15C6530}"/>
              </a:ext>
            </a:extLst>
          </p:cNvPr>
          <p:cNvSpPr/>
          <p:nvPr/>
        </p:nvSpPr>
        <p:spPr>
          <a:xfrm>
            <a:off x="9524648" y="1364426"/>
            <a:ext cx="1968650" cy="39703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r>
              <a:rPr lang="en-IN" dirty="0"/>
              <a:t>Problem Definition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Dataset Collection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EDA (Analysis)</a:t>
            </a:r>
          </a:p>
          <a:p>
            <a:r>
              <a:rPr lang="en-IN" dirty="0"/>
              <a:t>        ↓</a:t>
            </a:r>
          </a:p>
          <a:p>
            <a:r>
              <a:rPr lang="en-IN" dirty="0" err="1"/>
              <a:t>Preprocessing</a:t>
            </a:r>
            <a:endParaRPr lang="en-IN" dirty="0"/>
          </a:p>
          <a:p>
            <a:r>
              <a:rPr lang="en-IN" dirty="0"/>
              <a:t>        ↓</a:t>
            </a:r>
          </a:p>
          <a:p>
            <a:r>
              <a:rPr lang="en-IN" dirty="0"/>
              <a:t>Model Training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Evaluation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Best Model Selection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6F8A09-D81B-464A-9B63-48DE5CF15E89}"/>
              </a:ext>
            </a:extLst>
          </p:cNvPr>
          <p:cNvSpPr txBox="1"/>
          <p:nvPr/>
        </p:nvSpPr>
        <p:spPr>
          <a:xfrm>
            <a:off x="9206753" y="925266"/>
            <a:ext cx="2383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Pipeline Flow Diagram: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C104F9D-8368-41B2-8FB4-75D3195DE1D0}"/>
              </a:ext>
            </a:extLst>
          </p:cNvPr>
          <p:cNvSpPr/>
          <p:nvPr/>
        </p:nvSpPr>
        <p:spPr>
          <a:xfrm>
            <a:off x="11283946" y="658443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20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402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</a:rPr>
              <a:t>Evaluation, Visualization &amp; Reporting</a:t>
            </a: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C9045-0D04-4068-9CFE-D99E1F9BC2ED}"/>
              </a:ext>
            </a:extLst>
          </p:cNvPr>
          <p:cNvSpPr txBox="1"/>
          <p:nvPr/>
        </p:nvSpPr>
        <p:spPr>
          <a:xfrm>
            <a:off x="435686" y="857988"/>
            <a:ext cx="4934174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Model Evaluation</a:t>
            </a:r>
          </a:p>
          <a:p>
            <a:r>
              <a:rPr lang="en-IN" sz="1600" dirty="0"/>
              <a:t>Evaluate model performance using: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Accuracy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Precision, Recall, F1-score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ROC-AUC (for classification)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RMSE / MAE (for regression)</a:t>
            </a:r>
          </a:p>
          <a:p>
            <a:pPr lvl="1"/>
            <a:endParaRPr lang="en-IN" sz="1600" dirty="0"/>
          </a:p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Reporting Results with Visualizations</a:t>
            </a:r>
          </a:p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Common Visualizations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Confusion Matrix (classification performance)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ROC Curve (model discrimination ability)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Feature Importance Plot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Error Distribution Plot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Actual vs Predicted graph</a:t>
            </a:r>
          </a:p>
          <a:p>
            <a:endParaRPr lang="en-IN" sz="1600" dirty="0"/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Why Visualization is Important?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Makes results easy to understand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compare multiple models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Identifies errors and patterns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Supports decision-making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5CC24F-DBDA-47B4-9B0F-E9B613F1EBD7}"/>
              </a:ext>
            </a:extLst>
          </p:cNvPr>
          <p:cNvSpPr/>
          <p:nvPr/>
        </p:nvSpPr>
        <p:spPr>
          <a:xfrm>
            <a:off x="5504329" y="888468"/>
            <a:ext cx="598896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Final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Select the best-performing 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Deploy or present results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Summarize insights and business impact</a:t>
            </a:r>
          </a:p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Applications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Fraud Detection Systems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House Price Prediction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Churn Prediction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Medical Diagnosis Models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Recommendation Systems </a:t>
            </a:r>
          </a:p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27E734-262E-45D5-B95A-BAC1D501EE18}"/>
              </a:ext>
            </a:extLst>
          </p:cNvPr>
          <p:cNvSpPr/>
          <p:nvPr/>
        </p:nvSpPr>
        <p:spPr>
          <a:xfrm>
            <a:off x="11283946" y="6584434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22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8364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>
              <a:solidFill>
                <a:srgbClr val="002060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591D496-15D2-468E-B61D-66C6DF7499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6252769"/>
              </p:ext>
            </p:extLst>
          </p:nvPr>
        </p:nvGraphicFramePr>
        <p:xfrm>
          <a:off x="426720" y="1153271"/>
          <a:ext cx="11066578" cy="4808259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3643494">
                  <a:extLst>
                    <a:ext uri="{9D8B030D-6E8A-4147-A177-3AD203B41FA5}">
                      <a16:colId xmlns:a16="http://schemas.microsoft.com/office/drawing/2014/main" val="2953596856"/>
                    </a:ext>
                  </a:extLst>
                </a:gridCol>
                <a:gridCol w="3711542">
                  <a:extLst>
                    <a:ext uri="{9D8B030D-6E8A-4147-A177-3AD203B41FA5}">
                      <a16:colId xmlns:a16="http://schemas.microsoft.com/office/drawing/2014/main" val="3415645173"/>
                    </a:ext>
                  </a:extLst>
                </a:gridCol>
                <a:gridCol w="3711542">
                  <a:extLst>
                    <a:ext uri="{9D8B030D-6E8A-4147-A177-3AD203B41FA5}">
                      <a16:colId xmlns:a16="http://schemas.microsoft.com/office/drawing/2014/main" val="1781286888"/>
                    </a:ext>
                  </a:extLst>
                </a:gridCol>
              </a:tblGrid>
              <a:tr h="438183">
                <a:tc>
                  <a:txBody>
                    <a:bodyPr/>
                    <a:lstStyle/>
                    <a:p>
                      <a:r>
                        <a:rPr lang="en-IN" sz="1600" b="1" dirty="0" err="1"/>
                        <a:t>Webesite</a:t>
                      </a:r>
                      <a:endParaRPr lang="en-IN" sz="1600" b="1" dirty="0"/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Link</a:t>
                      </a:r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Why it is Useful</a:t>
                      </a:r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6192060"/>
                  </a:ext>
                </a:extLst>
              </a:tr>
              <a:tr h="779645">
                <a:tc>
                  <a:txBody>
                    <a:bodyPr/>
                    <a:lstStyle/>
                    <a:p>
                      <a:r>
                        <a:rPr lang="en-IN" sz="1600" dirty="0" err="1"/>
                        <a:t>GeeksforGeeks</a:t>
                      </a:r>
                      <a:endParaRPr lang="en-IN" sz="1600" dirty="0"/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4"/>
                        </a:rPr>
                        <a:t>https://www.geeksforgeeks.org/machine-learning/</a:t>
                      </a:r>
                      <a:endParaRPr lang="en-IN" sz="1600" dirty="0"/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Simple explanations, beginner-friendly content</a:t>
                      </a:r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497379"/>
                  </a:ext>
                </a:extLst>
              </a:tr>
              <a:tr h="779645">
                <a:tc>
                  <a:txBody>
                    <a:bodyPr/>
                    <a:lstStyle/>
                    <a:p>
                      <a:r>
                        <a:rPr lang="en-IN" sz="1600" dirty="0"/>
                        <a:t>Wikipedia</a:t>
                      </a:r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5"/>
                        </a:rPr>
                        <a:t>https://en.wikipedia.org/wiki/Machine_learning</a:t>
                      </a:r>
                      <a:endParaRPr lang="en-IN" sz="1600" dirty="0"/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Reliable definitions and background knowledge</a:t>
                      </a:r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9346981"/>
                  </a:ext>
                </a:extLst>
              </a:tr>
              <a:tr h="677047">
                <a:tc>
                  <a:txBody>
                    <a:bodyPr/>
                    <a:lstStyle/>
                    <a:p>
                      <a:r>
                        <a:rPr lang="en-IN" sz="1600" dirty="0"/>
                        <a:t>Analytics Vidhya</a:t>
                      </a:r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6"/>
                        </a:rPr>
                        <a:t>https://www.analyticsvidhya.com</a:t>
                      </a:r>
                      <a:endParaRPr lang="en-IN" sz="1600" dirty="0"/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Easy-to-understand ML explanations</a:t>
                      </a:r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2863023"/>
                  </a:ext>
                </a:extLst>
              </a:tr>
              <a:tr h="677047">
                <a:tc>
                  <a:txBody>
                    <a:bodyPr/>
                    <a:lstStyle/>
                    <a:p>
                      <a:r>
                        <a:rPr lang="en-IN" sz="1600" dirty="0"/>
                        <a:t>Towards Data Science</a:t>
                      </a:r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7"/>
                        </a:rPr>
                        <a:t>https://towardsdatascience.com</a:t>
                      </a:r>
                      <a:endParaRPr lang="en-IN" sz="1600" dirty="0"/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Real-world ML examples and insights</a:t>
                      </a:r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782634"/>
                  </a:ext>
                </a:extLst>
              </a:tr>
              <a:tr h="677047">
                <a:tc>
                  <a:txBody>
                    <a:bodyPr/>
                    <a:lstStyle/>
                    <a:p>
                      <a:r>
                        <a:rPr lang="en-IN" sz="1600" dirty="0"/>
                        <a:t>Kaggle</a:t>
                      </a:r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8"/>
                        </a:rPr>
                        <a:t>https://www.kaggle.com</a:t>
                      </a:r>
                      <a:endParaRPr lang="en-IN" sz="1600" dirty="0"/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Best for practical examples and visuals</a:t>
                      </a:r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6682413"/>
                  </a:ext>
                </a:extLst>
              </a:tr>
              <a:tr h="779645">
                <a:tc>
                  <a:txBody>
                    <a:bodyPr/>
                    <a:lstStyle/>
                    <a:p>
                      <a:r>
                        <a:rPr lang="en-IN" sz="1600"/>
                        <a:t>Scikit-learn documentation</a:t>
                      </a:r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hlinkClick r:id="rId9"/>
                        </a:rPr>
                        <a:t>https://scikit-learn.org</a:t>
                      </a:r>
                      <a:endParaRPr lang="en-IN" sz="1600" dirty="0"/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Accurate technical reference for ML models</a:t>
                      </a:r>
                    </a:p>
                  </a:txBody>
                  <a:tcPr marL="69069" marR="69069" marT="34534" marB="34534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849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360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843</TotalTime>
  <Words>3541</Words>
  <Application>Microsoft Office PowerPoint</Application>
  <PresentationFormat>Widescreen</PresentationFormat>
  <Paragraphs>762</Paragraphs>
  <Slides>24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user1</cp:lastModifiedBy>
  <cp:revision>75</cp:revision>
  <dcterms:created xsi:type="dcterms:W3CDTF">2026-05-21T06:29:53Z</dcterms:created>
  <dcterms:modified xsi:type="dcterms:W3CDTF">2026-07-02T05:16:19Z</dcterms:modified>
</cp:coreProperties>
</file>