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1" r:id="rId2"/>
    <p:sldId id="322" r:id="rId3"/>
    <p:sldId id="324" r:id="rId4"/>
    <p:sldId id="325" r:id="rId5"/>
    <p:sldId id="326" r:id="rId6"/>
    <p:sldId id="327" r:id="rId7"/>
    <p:sldId id="328" r:id="rId8"/>
    <p:sldId id="329" r:id="rId9"/>
    <p:sldId id="330" r:id="rId10"/>
    <p:sldId id="331" r:id="rId11"/>
    <p:sldId id="332" r:id="rId12"/>
    <p:sldId id="333" r:id="rId13"/>
    <p:sldId id="334" r:id="rId14"/>
    <p:sldId id="335" r:id="rId15"/>
    <p:sldId id="32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shav Vats" userId="bf3fdd4f5168c3b5" providerId="LiveId" clId="{2E47DAB9-BEBB-421B-9C92-BACBA6F22608}"/>
    <pc:docChg chg="modSld">
      <pc:chgData name="Keshav Vats" userId="bf3fdd4f5168c3b5" providerId="LiveId" clId="{2E47DAB9-BEBB-421B-9C92-BACBA6F22608}" dt="2026-07-14T15:19:16.701" v="2" actId="20577"/>
      <pc:docMkLst>
        <pc:docMk/>
      </pc:docMkLst>
      <pc:sldChg chg="modSp mod">
        <pc:chgData name="Keshav Vats" userId="bf3fdd4f5168c3b5" providerId="LiveId" clId="{2E47DAB9-BEBB-421B-9C92-BACBA6F22608}" dt="2026-07-14T15:19:16.701" v="2" actId="20577"/>
        <pc:sldMkLst>
          <pc:docMk/>
          <pc:sldMk cId="316417235" sldId="281"/>
        </pc:sldMkLst>
        <pc:spChg chg="mod">
          <ac:chgData name="Keshav Vats" userId="bf3fdd4f5168c3b5" providerId="LiveId" clId="{2E47DAB9-BEBB-421B-9C92-BACBA6F22608}" dt="2026-07-14T15:19:16.701" v="2" actId="20577"/>
          <ac:spMkLst>
            <pc:docMk/>
            <pc:sldMk cId="316417235" sldId="281"/>
            <ac:spMk id="7" creationId="{2A523A3B-A0A7-42F8-9E01-9BE5577510A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BAEB5-225E-4810-9563-E46323C086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EC49624-476A-4471-B279-AD909F1973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D3A42A1-7CD4-415E-8AF4-9D85D9FED91B}"/>
              </a:ext>
            </a:extLst>
          </p:cNvPr>
          <p:cNvSpPr>
            <a:spLocks noGrp="1"/>
          </p:cNvSpPr>
          <p:nvPr>
            <p:ph type="dt" sz="half" idx="10"/>
          </p:nvPr>
        </p:nvSpPr>
        <p:spPr/>
        <p:txBody>
          <a:bodyPr/>
          <a:lstStyle/>
          <a:p>
            <a:fld id="{C1EF5DC5-E8E1-4A4B-A884-6C770968C94A}" type="datetimeFigureOut">
              <a:rPr lang="en-IN" smtClean="0"/>
              <a:t>14-07-2026</a:t>
            </a:fld>
            <a:endParaRPr lang="en-IN"/>
          </a:p>
        </p:txBody>
      </p:sp>
      <p:sp>
        <p:nvSpPr>
          <p:cNvPr id="5" name="Footer Placeholder 4">
            <a:extLst>
              <a:ext uri="{FF2B5EF4-FFF2-40B4-BE49-F238E27FC236}">
                <a16:creationId xmlns:a16="http://schemas.microsoft.com/office/drawing/2014/main" id="{5420AA0E-0E69-484F-B4AE-93740666AA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D02798-846B-46C5-8E9A-002676BC0FF6}"/>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2139904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2FB1A-C635-4763-B822-C6815F5DBDC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BB9B05-75E0-4400-9E29-DF00D535B3A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4A95CD-B135-4E87-BCEB-F5CDA5DBA02C}"/>
              </a:ext>
            </a:extLst>
          </p:cNvPr>
          <p:cNvSpPr>
            <a:spLocks noGrp="1"/>
          </p:cNvSpPr>
          <p:nvPr>
            <p:ph type="dt" sz="half" idx="10"/>
          </p:nvPr>
        </p:nvSpPr>
        <p:spPr/>
        <p:txBody>
          <a:bodyPr/>
          <a:lstStyle/>
          <a:p>
            <a:fld id="{C1EF5DC5-E8E1-4A4B-A884-6C770968C94A}" type="datetimeFigureOut">
              <a:rPr lang="en-IN" smtClean="0"/>
              <a:t>14-07-2026</a:t>
            </a:fld>
            <a:endParaRPr lang="en-IN"/>
          </a:p>
        </p:txBody>
      </p:sp>
      <p:sp>
        <p:nvSpPr>
          <p:cNvPr id="5" name="Footer Placeholder 4">
            <a:extLst>
              <a:ext uri="{FF2B5EF4-FFF2-40B4-BE49-F238E27FC236}">
                <a16:creationId xmlns:a16="http://schemas.microsoft.com/office/drawing/2014/main" id="{CA7B66C0-FFE4-4C76-B50F-64FA114792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E35CFC-DB24-4743-890C-852D3A402D28}"/>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2300877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74D71-AFB1-4E1C-8AE8-524A4FF25C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D06E175-81E0-45F0-BDB5-A097DE6FDB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DC4499F-80ED-4BDB-AA88-138ACF1DDB06}"/>
              </a:ext>
            </a:extLst>
          </p:cNvPr>
          <p:cNvSpPr>
            <a:spLocks noGrp="1"/>
          </p:cNvSpPr>
          <p:nvPr>
            <p:ph type="dt" sz="half" idx="10"/>
          </p:nvPr>
        </p:nvSpPr>
        <p:spPr/>
        <p:txBody>
          <a:bodyPr/>
          <a:lstStyle/>
          <a:p>
            <a:fld id="{C1EF5DC5-E8E1-4A4B-A884-6C770968C94A}" type="datetimeFigureOut">
              <a:rPr lang="en-IN" smtClean="0"/>
              <a:t>14-07-2026</a:t>
            </a:fld>
            <a:endParaRPr lang="en-IN"/>
          </a:p>
        </p:txBody>
      </p:sp>
      <p:sp>
        <p:nvSpPr>
          <p:cNvPr id="5" name="Footer Placeholder 4">
            <a:extLst>
              <a:ext uri="{FF2B5EF4-FFF2-40B4-BE49-F238E27FC236}">
                <a16:creationId xmlns:a16="http://schemas.microsoft.com/office/drawing/2014/main" id="{5B31B6B7-9591-4020-867B-9AACA9D0E1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ADEF05-F6A0-42F1-9ECA-4ABD4541C6F2}"/>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1909325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8E95C-93DD-4EDC-B202-DE1512A4E29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4E3F80-1B52-49CF-9284-17541428C15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10BBC02-DF00-4C66-85B6-7928B8EA880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F04E9-34DD-4A67-9A08-5A37CA5A4801}"/>
              </a:ext>
            </a:extLst>
          </p:cNvPr>
          <p:cNvSpPr>
            <a:spLocks noGrp="1"/>
          </p:cNvSpPr>
          <p:nvPr>
            <p:ph type="dt" sz="half" idx="10"/>
          </p:nvPr>
        </p:nvSpPr>
        <p:spPr/>
        <p:txBody>
          <a:bodyPr/>
          <a:lstStyle/>
          <a:p>
            <a:fld id="{C1EF5DC5-E8E1-4A4B-A884-6C770968C94A}" type="datetimeFigureOut">
              <a:rPr lang="en-IN" smtClean="0"/>
              <a:t>14-07-2026</a:t>
            </a:fld>
            <a:endParaRPr lang="en-IN"/>
          </a:p>
        </p:txBody>
      </p:sp>
      <p:sp>
        <p:nvSpPr>
          <p:cNvPr id="6" name="Footer Placeholder 5">
            <a:extLst>
              <a:ext uri="{FF2B5EF4-FFF2-40B4-BE49-F238E27FC236}">
                <a16:creationId xmlns:a16="http://schemas.microsoft.com/office/drawing/2014/main" id="{0A8AB592-86DD-461C-92CF-E718CE4244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EA06F5-01A7-4D6A-B553-A96AA8B2D647}"/>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305990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233C1-C9CF-4644-AA3B-B31241C851E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8190FF-FA3F-4E33-8D8E-C0BF30642A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5AD967B-973D-44B5-93D0-CBBB95E8896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7229746-207D-44BD-A805-8FB32B9551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DAE08D6-F6B4-4C59-AC21-11CACBE749F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FB3A868-1684-4D51-9909-E6FEBA237DD2}"/>
              </a:ext>
            </a:extLst>
          </p:cNvPr>
          <p:cNvSpPr>
            <a:spLocks noGrp="1"/>
          </p:cNvSpPr>
          <p:nvPr>
            <p:ph type="dt" sz="half" idx="10"/>
          </p:nvPr>
        </p:nvSpPr>
        <p:spPr/>
        <p:txBody>
          <a:bodyPr/>
          <a:lstStyle/>
          <a:p>
            <a:fld id="{C1EF5DC5-E8E1-4A4B-A884-6C770968C94A}" type="datetimeFigureOut">
              <a:rPr lang="en-IN" smtClean="0"/>
              <a:t>14-07-2026</a:t>
            </a:fld>
            <a:endParaRPr lang="en-IN"/>
          </a:p>
        </p:txBody>
      </p:sp>
      <p:sp>
        <p:nvSpPr>
          <p:cNvPr id="8" name="Footer Placeholder 7">
            <a:extLst>
              <a:ext uri="{FF2B5EF4-FFF2-40B4-BE49-F238E27FC236}">
                <a16:creationId xmlns:a16="http://schemas.microsoft.com/office/drawing/2014/main" id="{563C4DB7-8D66-4385-8F36-DDB0B406F8F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12238E7-75D6-4B5A-9A5E-94AF3DDFFFC1}"/>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621102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21F7D-9A0E-4428-AFA6-B3884B86601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CFD0FE8-FBC4-4053-A9DB-007B50B02A6D}"/>
              </a:ext>
            </a:extLst>
          </p:cNvPr>
          <p:cNvSpPr>
            <a:spLocks noGrp="1"/>
          </p:cNvSpPr>
          <p:nvPr>
            <p:ph type="dt" sz="half" idx="10"/>
          </p:nvPr>
        </p:nvSpPr>
        <p:spPr/>
        <p:txBody>
          <a:bodyPr/>
          <a:lstStyle/>
          <a:p>
            <a:fld id="{C1EF5DC5-E8E1-4A4B-A884-6C770968C94A}" type="datetimeFigureOut">
              <a:rPr lang="en-IN" smtClean="0"/>
              <a:t>14-07-2026</a:t>
            </a:fld>
            <a:endParaRPr lang="en-IN"/>
          </a:p>
        </p:txBody>
      </p:sp>
      <p:sp>
        <p:nvSpPr>
          <p:cNvPr id="4" name="Footer Placeholder 3">
            <a:extLst>
              <a:ext uri="{FF2B5EF4-FFF2-40B4-BE49-F238E27FC236}">
                <a16:creationId xmlns:a16="http://schemas.microsoft.com/office/drawing/2014/main" id="{394F5807-E233-4E49-A82E-99348F18B8F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CEE2138-6BF4-4E1E-8532-88B172A8AEFA}"/>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3372916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A22116-2130-4A94-A2E7-88243ABBEFC4}"/>
              </a:ext>
            </a:extLst>
          </p:cNvPr>
          <p:cNvSpPr>
            <a:spLocks noGrp="1"/>
          </p:cNvSpPr>
          <p:nvPr>
            <p:ph type="dt" sz="half" idx="10"/>
          </p:nvPr>
        </p:nvSpPr>
        <p:spPr/>
        <p:txBody>
          <a:bodyPr/>
          <a:lstStyle/>
          <a:p>
            <a:fld id="{C1EF5DC5-E8E1-4A4B-A884-6C770968C94A}" type="datetimeFigureOut">
              <a:rPr lang="en-IN" smtClean="0"/>
              <a:t>14-07-2026</a:t>
            </a:fld>
            <a:endParaRPr lang="en-IN"/>
          </a:p>
        </p:txBody>
      </p:sp>
      <p:sp>
        <p:nvSpPr>
          <p:cNvPr id="3" name="Footer Placeholder 2">
            <a:extLst>
              <a:ext uri="{FF2B5EF4-FFF2-40B4-BE49-F238E27FC236}">
                <a16:creationId xmlns:a16="http://schemas.microsoft.com/office/drawing/2014/main" id="{C9FB84FF-3C8D-4AF6-ACFC-BBB36E20D4C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121DE3D-6CA5-40DA-BF1D-E2010838985C}"/>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4031169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699DD-99C2-4B2F-AB88-D320B4676F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ACFC6A9-2E46-4F1C-979D-61E38C8C5B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46BF673-C3EC-4B67-86DA-0C2F5AD86E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4E0DD5C-A4A3-456F-A80A-CC716C66B05F}"/>
              </a:ext>
            </a:extLst>
          </p:cNvPr>
          <p:cNvSpPr>
            <a:spLocks noGrp="1"/>
          </p:cNvSpPr>
          <p:nvPr>
            <p:ph type="dt" sz="half" idx="10"/>
          </p:nvPr>
        </p:nvSpPr>
        <p:spPr/>
        <p:txBody>
          <a:bodyPr/>
          <a:lstStyle/>
          <a:p>
            <a:fld id="{C1EF5DC5-E8E1-4A4B-A884-6C770968C94A}" type="datetimeFigureOut">
              <a:rPr lang="en-IN" smtClean="0"/>
              <a:t>14-07-2026</a:t>
            </a:fld>
            <a:endParaRPr lang="en-IN"/>
          </a:p>
        </p:txBody>
      </p:sp>
      <p:sp>
        <p:nvSpPr>
          <p:cNvPr id="6" name="Footer Placeholder 5">
            <a:extLst>
              <a:ext uri="{FF2B5EF4-FFF2-40B4-BE49-F238E27FC236}">
                <a16:creationId xmlns:a16="http://schemas.microsoft.com/office/drawing/2014/main" id="{AC19E7FB-5912-492F-B954-BE022C6CD5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0EEE39-41A5-4D5D-8DE7-C16FA7446CD8}"/>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1407818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A4216-DB91-4F86-AB66-FF06A9B1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3E555AE-30E1-4B94-8AE5-5E8654117A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4D61B40-8596-4A45-BF52-06D0752E62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6302313-6DE9-48CC-8A90-1857FDF711A0}"/>
              </a:ext>
            </a:extLst>
          </p:cNvPr>
          <p:cNvSpPr>
            <a:spLocks noGrp="1"/>
          </p:cNvSpPr>
          <p:nvPr>
            <p:ph type="dt" sz="half" idx="10"/>
          </p:nvPr>
        </p:nvSpPr>
        <p:spPr/>
        <p:txBody>
          <a:bodyPr/>
          <a:lstStyle/>
          <a:p>
            <a:fld id="{C1EF5DC5-E8E1-4A4B-A884-6C770968C94A}" type="datetimeFigureOut">
              <a:rPr lang="en-IN" smtClean="0"/>
              <a:t>14-07-2026</a:t>
            </a:fld>
            <a:endParaRPr lang="en-IN"/>
          </a:p>
        </p:txBody>
      </p:sp>
      <p:sp>
        <p:nvSpPr>
          <p:cNvPr id="6" name="Footer Placeholder 5">
            <a:extLst>
              <a:ext uri="{FF2B5EF4-FFF2-40B4-BE49-F238E27FC236}">
                <a16:creationId xmlns:a16="http://schemas.microsoft.com/office/drawing/2014/main" id="{44F0DD8B-F55D-4B88-9392-4DD1584779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70A818-5409-4AFE-B471-373AFE394EE2}"/>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3993441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FD382-98BA-4F37-BB94-642F99FEE4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94807C-4AD2-4BEF-8657-F80C544E5F8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BA87A4-FF52-4E32-95A3-F2A31EFA483F}"/>
              </a:ext>
            </a:extLst>
          </p:cNvPr>
          <p:cNvSpPr>
            <a:spLocks noGrp="1"/>
          </p:cNvSpPr>
          <p:nvPr>
            <p:ph type="dt" sz="half" idx="10"/>
          </p:nvPr>
        </p:nvSpPr>
        <p:spPr/>
        <p:txBody>
          <a:bodyPr/>
          <a:lstStyle/>
          <a:p>
            <a:fld id="{C1EF5DC5-E8E1-4A4B-A884-6C770968C94A}" type="datetimeFigureOut">
              <a:rPr lang="en-IN" smtClean="0"/>
              <a:t>14-07-2026</a:t>
            </a:fld>
            <a:endParaRPr lang="en-IN"/>
          </a:p>
        </p:txBody>
      </p:sp>
      <p:sp>
        <p:nvSpPr>
          <p:cNvPr id="5" name="Footer Placeholder 4">
            <a:extLst>
              <a:ext uri="{FF2B5EF4-FFF2-40B4-BE49-F238E27FC236}">
                <a16:creationId xmlns:a16="http://schemas.microsoft.com/office/drawing/2014/main" id="{F1C08933-D684-4380-9EBA-8DF478B4F5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EA5C49-D069-4F13-81B1-A1E07B53A458}"/>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3093524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3954B0-E481-4AF9-A3BA-564C7010E2A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93368E4-F9C3-4E17-8884-BF1F7F82F58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3F5AA5-E3DC-4A1B-8ECA-54BEAFEE5288}"/>
              </a:ext>
            </a:extLst>
          </p:cNvPr>
          <p:cNvSpPr>
            <a:spLocks noGrp="1"/>
          </p:cNvSpPr>
          <p:nvPr>
            <p:ph type="dt" sz="half" idx="10"/>
          </p:nvPr>
        </p:nvSpPr>
        <p:spPr/>
        <p:txBody>
          <a:bodyPr/>
          <a:lstStyle/>
          <a:p>
            <a:fld id="{C1EF5DC5-E8E1-4A4B-A884-6C770968C94A}" type="datetimeFigureOut">
              <a:rPr lang="en-IN" smtClean="0"/>
              <a:t>14-07-2026</a:t>
            </a:fld>
            <a:endParaRPr lang="en-IN"/>
          </a:p>
        </p:txBody>
      </p:sp>
      <p:sp>
        <p:nvSpPr>
          <p:cNvPr id="5" name="Footer Placeholder 4">
            <a:extLst>
              <a:ext uri="{FF2B5EF4-FFF2-40B4-BE49-F238E27FC236}">
                <a16:creationId xmlns:a16="http://schemas.microsoft.com/office/drawing/2014/main" id="{297FE7C3-D9E2-4027-9A75-6C5E9E6043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959609-801E-4223-836A-D95A46CA2871}"/>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929750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6721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5E3B56-6D5C-4682-9920-B94261D4EE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77D9D1-EE96-4CB8-A598-90974E675C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A7A5E0-FA87-4BDD-B501-B34239EBA7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EF5DC5-E8E1-4A4B-A884-6C770968C94A}" type="datetimeFigureOut">
              <a:rPr lang="en-IN" smtClean="0"/>
              <a:t>14-07-2026</a:t>
            </a:fld>
            <a:endParaRPr lang="en-IN"/>
          </a:p>
        </p:txBody>
      </p:sp>
      <p:sp>
        <p:nvSpPr>
          <p:cNvPr id="5" name="Footer Placeholder 4">
            <a:extLst>
              <a:ext uri="{FF2B5EF4-FFF2-40B4-BE49-F238E27FC236}">
                <a16:creationId xmlns:a16="http://schemas.microsoft.com/office/drawing/2014/main" id="{A4D56BB9-162D-4FE6-BD3D-5DE0B1A00D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C020E43-4D3F-4308-BFAB-EB5E8B801B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69F6BF-410A-4A0D-95F8-52951416D106}" type="slidenum">
              <a:rPr lang="en-IN" smtClean="0"/>
              <a:t>‹#›</a:t>
            </a:fld>
            <a:endParaRPr lang="en-IN"/>
          </a:p>
        </p:txBody>
      </p:sp>
    </p:spTree>
    <p:extLst>
      <p:ext uri="{BB962C8B-B14F-4D97-AF65-F5344CB8AC3E}">
        <p14:creationId xmlns:p14="http://schemas.microsoft.com/office/powerpoint/2010/main" val="998598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43C2ADE-F067-45D0-AAAA-FFC13890FBD6}"/>
              </a:ext>
            </a:extLst>
          </p:cNvPr>
          <p:cNvPicPr>
            <a:picLocks noChangeAspect="1"/>
          </p:cNvPicPr>
          <p:nvPr/>
        </p:nvPicPr>
        <p:blipFill>
          <a:blip r:embed="rId2"/>
          <a:stretch>
            <a:fillRect/>
          </a:stretch>
        </p:blipFill>
        <p:spPr>
          <a:xfrm>
            <a:off x="0" y="0"/>
            <a:ext cx="12192000" cy="982133"/>
          </a:xfrm>
          <a:prstGeom prst="rect">
            <a:avLst/>
          </a:prstGeom>
        </p:spPr>
      </p:pic>
      <p:pic>
        <p:nvPicPr>
          <p:cNvPr id="3" name="Picture 2">
            <a:extLst>
              <a:ext uri="{FF2B5EF4-FFF2-40B4-BE49-F238E27FC236}">
                <a16:creationId xmlns:a16="http://schemas.microsoft.com/office/drawing/2014/main" id="{C1AAD0F6-9FE5-42AD-AC79-E88FBF31D686}"/>
              </a:ext>
            </a:extLst>
          </p:cNvPr>
          <p:cNvPicPr>
            <a:picLocks noChangeAspect="1"/>
          </p:cNvPicPr>
          <p:nvPr/>
        </p:nvPicPr>
        <p:blipFill rotWithShape="1">
          <a:blip r:embed="rId3"/>
          <a:srcRect l="486" t="6826"/>
          <a:stretch/>
        </p:blipFill>
        <p:spPr>
          <a:xfrm>
            <a:off x="0" y="4394200"/>
            <a:ext cx="12192000" cy="2463800"/>
          </a:xfrm>
          <a:prstGeom prst="rect">
            <a:avLst/>
          </a:prstGeom>
        </p:spPr>
      </p:pic>
      <p:sp>
        <p:nvSpPr>
          <p:cNvPr id="5" name="Text 3">
            <a:extLst>
              <a:ext uri="{FF2B5EF4-FFF2-40B4-BE49-F238E27FC236}">
                <a16:creationId xmlns:a16="http://schemas.microsoft.com/office/drawing/2014/main" id="{E3314A08-1627-40ED-BFA4-6793AACB7A59}"/>
              </a:ext>
            </a:extLst>
          </p:cNvPr>
          <p:cNvSpPr/>
          <p:nvPr/>
        </p:nvSpPr>
        <p:spPr>
          <a:xfrm>
            <a:off x="1468967" y="1062571"/>
            <a:ext cx="9254067" cy="1088813"/>
          </a:xfrm>
          <a:prstGeom prst="rect">
            <a:avLst/>
          </a:prstGeom>
          <a:noFill/>
          <a:ln/>
        </p:spPr>
        <p:txBody>
          <a:bodyPr wrap="square" rtlCol="0" anchor="ctr"/>
          <a:lstStyle/>
          <a:p>
            <a:pPr algn="ctr">
              <a:lnSpc>
                <a:spcPct val="115000"/>
              </a:lnSpc>
            </a:pPr>
            <a:r>
              <a:rPr lang="en-US" sz="2400" b="1" dirty="0">
                <a:latin typeface="Georgia" pitchFamily="34" charset="0"/>
                <a:ea typeface="Georgia" pitchFamily="34" charset="-122"/>
                <a:cs typeface="Georgia" pitchFamily="34" charset="-120"/>
              </a:rPr>
              <a:t>Predictive Modeling for Diabetes Diagnosis</a:t>
            </a:r>
            <a:endParaRPr lang="en-US" sz="2400" dirty="0"/>
          </a:p>
        </p:txBody>
      </p:sp>
      <p:sp>
        <p:nvSpPr>
          <p:cNvPr id="6" name="Text Placeholder 2">
            <a:extLst>
              <a:ext uri="{FF2B5EF4-FFF2-40B4-BE49-F238E27FC236}">
                <a16:creationId xmlns:a16="http://schemas.microsoft.com/office/drawing/2014/main" id="{95B2CB65-D2F8-4C74-98AC-5665A3C7ADA1}"/>
              </a:ext>
            </a:extLst>
          </p:cNvPr>
          <p:cNvSpPr txBox="1">
            <a:spLocks/>
          </p:cNvSpPr>
          <p:nvPr/>
        </p:nvSpPr>
        <p:spPr>
          <a:xfrm>
            <a:off x="1264556" y="2303575"/>
            <a:ext cx="9662888" cy="456355"/>
          </a:xfrm>
          <a:prstGeom prst="rect">
            <a:avLst/>
          </a:prstGeom>
        </p:spPr>
        <p:txBody>
          <a:bodyPr anchor="b"/>
          <a:lstStyle>
            <a:lvl1pPr marL="0" indent="0" algn="ctr" defTabSz="914400" rtl="0" eaLnBrk="1" latinLnBrk="0" hangingPunct="1">
              <a:spcBef>
                <a:spcPct val="20000"/>
              </a:spcBef>
              <a:buFont typeface="Arial" pitchFamily="34" charset="0"/>
              <a:buNone/>
              <a:defRPr sz="2000" b="1" i="1" kern="1200">
                <a:solidFill>
                  <a:srgbClr val="000099"/>
                </a:solidFill>
                <a:latin typeface="+mn-lt"/>
                <a:ea typeface="+mn-ea"/>
                <a:cs typeface="+mn-cs"/>
              </a:defRPr>
            </a:lvl1pPr>
            <a:lvl2pPr marL="457200" indent="0" algn="l" defTabSz="914400" rtl="0" eaLnBrk="1" latinLnBrk="0" hangingPunct="1">
              <a:spcBef>
                <a:spcPct val="20000"/>
              </a:spcBef>
              <a:buFont typeface="Arial" pitchFamily="34" charset="0"/>
              <a:buNone/>
              <a:defRPr sz="2000" b="1" kern="1200">
                <a:solidFill>
                  <a:schemeClr val="tx1"/>
                </a:solidFill>
                <a:latin typeface="+mn-lt"/>
                <a:ea typeface="+mn-ea"/>
                <a:cs typeface="+mn-cs"/>
              </a:defRPr>
            </a:lvl2pPr>
            <a:lvl3pPr marL="914400" indent="0" algn="l" defTabSz="914400" rtl="0" eaLnBrk="1" latinLnBrk="0" hangingPunct="1">
              <a:spcBef>
                <a:spcPct val="20000"/>
              </a:spcBef>
              <a:buFont typeface="Arial" pitchFamily="34" charset="0"/>
              <a:buNone/>
              <a:defRPr sz="1800" b="1" kern="1200">
                <a:solidFill>
                  <a:schemeClr val="tx1"/>
                </a:solidFill>
                <a:latin typeface="+mn-lt"/>
                <a:ea typeface="+mn-ea"/>
                <a:cs typeface="+mn-cs"/>
              </a:defRPr>
            </a:lvl3pPr>
            <a:lvl4pPr marL="13716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4pPr>
            <a:lvl5pPr marL="18288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5pPr>
            <a:lvl6pPr marL="22860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6pPr>
            <a:lvl7pPr marL="27432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7pPr>
            <a:lvl8pPr marL="32004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8pPr>
            <a:lvl9pPr marL="36576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9pPr>
          </a:lstStyle>
          <a:p>
            <a:r>
              <a:rPr lang="en-US" sz="2400" dirty="0"/>
              <a:t>A Comparative Study of Classification Models</a:t>
            </a:r>
            <a:endParaRPr lang="en-US" sz="2133" dirty="0">
              <a:latin typeface="Times New Roman" panose="02020603050405020304" pitchFamily="18" charset="0"/>
              <a:cs typeface="Times New Roman" panose="02020603050405020304" pitchFamily="18" charset="0"/>
            </a:endParaRPr>
          </a:p>
        </p:txBody>
      </p:sp>
      <p:sp>
        <p:nvSpPr>
          <p:cNvPr id="7" name="Text 4">
            <a:extLst>
              <a:ext uri="{FF2B5EF4-FFF2-40B4-BE49-F238E27FC236}">
                <a16:creationId xmlns:a16="http://schemas.microsoft.com/office/drawing/2014/main" id="{2A523A3B-A0A7-42F8-9E01-9BE5577510A4}"/>
              </a:ext>
            </a:extLst>
          </p:cNvPr>
          <p:cNvSpPr/>
          <p:nvPr/>
        </p:nvSpPr>
        <p:spPr>
          <a:xfrm>
            <a:off x="389467" y="3152568"/>
            <a:ext cx="4783667" cy="1645920"/>
          </a:xfrm>
          <a:prstGeom prst="rect">
            <a:avLst/>
          </a:prstGeom>
          <a:noFill/>
          <a:ln/>
        </p:spPr>
        <p:txBody>
          <a:bodyPr wrap="square" rtlCol="0" anchor="ctr"/>
          <a:lstStyle/>
          <a:p>
            <a:r>
              <a:rPr lang="en-US" sz="1467" dirty="0">
                <a:latin typeface="Times New Roman" panose="02020603050405020304" pitchFamily="18" charset="0"/>
                <a:ea typeface="Calibri" pitchFamily="34" charset="-122"/>
                <a:cs typeface="Times New Roman" panose="02020603050405020304" pitchFamily="18" charset="0"/>
              </a:rPr>
              <a:t>Name: Chetna </a:t>
            </a:r>
            <a:r>
              <a:rPr lang="en-US" sz="1467" dirty="0" err="1">
                <a:latin typeface="Times New Roman" panose="02020603050405020304" pitchFamily="18" charset="0"/>
                <a:ea typeface="Calibri" pitchFamily="34" charset="-122"/>
                <a:cs typeface="Times New Roman" panose="02020603050405020304" pitchFamily="18" charset="0"/>
              </a:rPr>
              <a:t>Saharan,Vishav</a:t>
            </a:r>
            <a:r>
              <a:rPr lang="en-US" sz="1467" dirty="0">
                <a:latin typeface="Times New Roman" panose="02020603050405020304" pitchFamily="18" charset="0"/>
                <a:ea typeface="Calibri" pitchFamily="34" charset="-122"/>
                <a:cs typeface="Times New Roman" panose="02020603050405020304" pitchFamily="18" charset="0"/>
              </a:rPr>
              <a:t> Bharti</a:t>
            </a:r>
          </a:p>
          <a:p>
            <a:r>
              <a:rPr lang="en-US" sz="1467" dirty="0">
                <a:solidFill>
                  <a:prstClr val="black"/>
                </a:solidFill>
                <a:latin typeface="Times New Roman" panose="02020603050405020304" pitchFamily="18" charset="0"/>
                <a:ea typeface="Calibri" pitchFamily="34" charset="-122"/>
                <a:cs typeface="Times New Roman" panose="02020603050405020304" pitchFamily="18" charset="0"/>
              </a:rPr>
              <a:t>Supervisor: </a:t>
            </a:r>
            <a:r>
              <a:rPr lang="en-US" sz="1467" b="1" dirty="0">
                <a:solidFill>
                  <a:prstClr val="black"/>
                </a:solidFill>
                <a:latin typeface="Times New Roman" panose="02020603050405020304" pitchFamily="18" charset="0"/>
                <a:ea typeface="Calibri" pitchFamily="34" charset="-122"/>
                <a:cs typeface="Times New Roman" panose="02020603050405020304" pitchFamily="18" charset="0"/>
              </a:rPr>
              <a:t>Prof. Millie Pant</a:t>
            </a:r>
          </a:p>
          <a:p>
            <a:r>
              <a:rPr lang="en-US" sz="1467" dirty="0">
                <a:solidFill>
                  <a:prstClr val="black"/>
                </a:solidFill>
                <a:latin typeface="Times New Roman" panose="02020603050405020304" pitchFamily="18" charset="0"/>
                <a:ea typeface="Calibri" pitchFamily="34" charset="-122"/>
                <a:cs typeface="Times New Roman" panose="02020603050405020304" pitchFamily="18" charset="0"/>
              </a:rPr>
              <a:t>Mentor</a:t>
            </a:r>
            <a:r>
              <a:rPr lang="en-US" sz="1467" b="1" dirty="0">
                <a:solidFill>
                  <a:prstClr val="black"/>
                </a:solidFill>
                <a:latin typeface="Times New Roman" panose="02020603050405020304" pitchFamily="18" charset="0"/>
                <a:ea typeface="Calibri" pitchFamily="34" charset="-122"/>
                <a:cs typeface="Times New Roman" panose="02020603050405020304" pitchFamily="18" charset="0"/>
              </a:rPr>
              <a:t>: Riya </a:t>
            </a:r>
            <a:r>
              <a:rPr lang="en-US" sz="1867" b="1" dirty="0">
                <a:solidFill>
                  <a:srgbClr val="FFFFFF"/>
                </a:solidFill>
                <a:latin typeface="Times New Roman" panose="02020603050405020304" pitchFamily="18" charset="0"/>
                <a:ea typeface="Calibri" pitchFamily="34" charset="-122"/>
                <a:cs typeface="Times New Roman" panose="02020603050405020304" pitchFamily="18" charset="0"/>
              </a:rPr>
              <a:t>
</a:t>
            </a:r>
            <a:r>
              <a:rPr lang="en-US" sz="1467" dirty="0">
                <a:latin typeface="Times New Roman" panose="02020603050405020304" pitchFamily="18" charset="0"/>
                <a:ea typeface="Calibri" pitchFamily="34" charset="-122"/>
                <a:cs typeface="Times New Roman" panose="02020603050405020304" pitchFamily="18" charset="0"/>
              </a:rPr>
              <a:t>Applied Mathematics &amp; Scientific Computing</a:t>
            </a:r>
          </a:p>
          <a:p>
            <a:r>
              <a:rPr lang="en-US" sz="1467" dirty="0">
                <a:latin typeface="Times New Roman" panose="02020603050405020304" pitchFamily="18" charset="0"/>
                <a:ea typeface="Calibri" pitchFamily="34" charset="-122"/>
                <a:cs typeface="Times New Roman" panose="02020603050405020304" pitchFamily="18" charset="0"/>
              </a:rPr>
              <a:t>Indian Institute of Technology  Roorkee</a:t>
            </a:r>
            <a:endParaRPr lang="en-US" sz="1867"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417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Introduction</a:t>
            </a:r>
            <a:endParaRPr lang="en-US" sz="2800" dirty="0">
              <a:solidFill>
                <a:srgbClr val="002060"/>
              </a:solidFill>
            </a:endParaRPr>
          </a:p>
        </p:txBody>
      </p:sp>
      <p:sp>
        <p:nvSpPr>
          <p:cNvPr id="101" name="Content Intro"/>
          <p:cNvSpPr/>
          <p:nvPr/>
        </p:nvSpPr>
        <p:spPr>
          <a:xfrm>
            <a:off x="502920" y="1150000"/>
            <a:ext cx="11200000" cy="5400000"/>
          </a:xfrm>
          <a:prstGeom prst="rect">
            <a:avLst/>
          </a:prstGeom>
          <a:noFill/>
          <a:ln/>
        </p:spPr>
        <p:txBody>
          <a:bodyPr wrap="square" rtlCol="0" anchor="t">
            <a:normAutofit/>
          </a:bodyPr>
          <a:lstStyle/>
          <a:p>
            <a:pPr marL="285750" indent="-285750" algn="l">
              <a:spcBef>
                <a:spcPts val="1000"/>
              </a:spcBef>
              <a:buFont typeface="Arial" pitchFamily="34" charset="0"/>
              <a:buChar char="•"/>
            </a:pPr>
            <a:r>
              <a:rPr lang="en-US" sz="2000" dirty="0">
                <a:solidFill>
                  <a:srgbClr val="000000"/>
                </a:solidFill>
                <a:latin typeface="Calibri" pitchFamily="34" charset="0"/>
              </a:rPr>
              <a:t>Diabetes mellitus is a chronic condition affecting hundreds of millions worldwide; early risk identification supports timely clinical intervention.</a:t>
            </a:r>
          </a:p>
          <a:p>
            <a:pPr marL="285750" indent="-285750" algn="l">
              <a:spcBef>
                <a:spcPts val="1000"/>
              </a:spcBef>
              <a:buFont typeface="Arial" pitchFamily="34" charset="0"/>
              <a:buChar char="•"/>
            </a:pPr>
            <a:r>
              <a:rPr lang="en-US" sz="2000" dirty="0">
                <a:solidFill>
                  <a:srgbClr val="000000"/>
                </a:solidFill>
                <a:latin typeface="Calibri" pitchFamily="34" charset="0"/>
              </a:rPr>
              <a:t>This project applies machine learning to predict diabetes onset using the PIMA Indian Diabetes dataset (768 patient records, 8 diagnostic features).</a:t>
            </a:r>
          </a:p>
          <a:p>
            <a:pPr marL="685800" indent="-285750" algn="l">
              <a:spcBef>
                <a:spcPts val="1000"/>
              </a:spcBef>
              <a:buFont typeface="Arial" pitchFamily="34" charset="0"/>
              <a:buChar char="◦"/>
            </a:pPr>
            <a:r>
              <a:rPr lang="en-US" sz="1800" dirty="0">
                <a:solidFill>
                  <a:srgbClr val="000000"/>
                </a:solidFill>
                <a:latin typeface="Calibri" pitchFamily="34" charset="0"/>
              </a:rPr>
              <a:t>Features include Glucose, BMI, Age, Blood Pressure, Insulin, Skin Thickness, Pregnancies, and Diabetes Pedigree Function.</a:t>
            </a:r>
          </a:p>
          <a:p>
            <a:pPr marL="285750" indent="-285750" algn="l">
              <a:spcBef>
                <a:spcPts val="1000"/>
              </a:spcBef>
              <a:buFont typeface="Arial" pitchFamily="34" charset="0"/>
              <a:buChar char="•"/>
            </a:pPr>
            <a:r>
              <a:rPr lang="en-US" sz="2000" dirty="0">
                <a:solidFill>
                  <a:srgbClr val="000000"/>
                </a:solidFill>
                <a:latin typeface="Calibri" pitchFamily="34" charset="0"/>
              </a:rPr>
              <a:t>Objective: Build, tune, and compare five classification algorithms to identify the most reliable model for diabetes risk screening.</a:t>
            </a:r>
          </a:p>
          <a:p>
            <a:pPr marL="685800" indent="-285750" algn="l">
              <a:spcBef>
                <a:spcPts val="1000"/>
              </a:spcBef>
              <a:buFont typeface="Arial" pitchFamily="34" charset="0"/>
              <a:buChar char="◦"/>
            </a:pPr>
            <a:r>
              <a:rPr lang="en-US" sz="1800" b="1" dirty="0">
                <a:solidFill>
                  <a:srgbClr val="000000"/>
                </a:solidFill>
                <a:latin typeface="Calibri" pitchFamily="34" charset="0"/>
              </a:rPr>
              <a:t>Logistic Regression   •   K-Nearest Neighbors   •   SVM   •   Decision Tree   •   Random Forest</a:t>
            </a:r>
          </a:p>
        </p:txBody>
      </p:sp>
    </p:spTree>
    <p:extLst>
      <p:ext uri="{BB962C8B-B14F-4D97-AF65-F5344CB8AC3E}">
        <p14:creationId xmlns:p14="http://schemas.microsoft.com/office/powerpoint/2010/main" val="3467524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Dataset Overview</a:t>
            </a:r>
            <a:endParaRPr lang="en-US" sz="2800" dirty="0">
              <a:solidFill>
                <a:srgbClr val="002060"/>
              </a:solidFill>
            </a:endParaRPr>
          </a:p>
        </p:txBody>
      </p:sp>
      <p:sp>
        <p:nvSpPr>
          <p:cNvPr id="101" name="Content Dataset Bullets"/>
          <p:cNvSpPr/>
          <p:nvPr/>
        </p:nvSpPr>
        <p:spPr>
          <a:xfrm>
            <a:off x="502920" y="1150000"/>
            <a:ext cx="11200000" cy="1600000"/>
          </a:xfrm>
          <a:prstGeom prst="rect">
            <a:avLst/>
          </a:prstGeom>
          <a:noFill/>
          <a:ln/>
        </p:spPr>
        <p:txBody>
          <a:bodyPr wrap="square" rtlCol="0" anchor="t">
            <a:normAutofit/>
          </a:bodyPr>
          <a:lstStyle/>
          <a:p>
            <a:pPr marL="285750" indent="-285750" algn="l">
              <a:spcBef>
                <a:spcPts val="1000"/>
              </a:spcBef>
              <a:buFont typeface="Arial" pitchFamily="34" charset="0"/>
              <a:buChar char="•"/>
            </a:pPr>
            <a:r>
              <a:rPr lang="en-US" sz="1800" dirty="0">
                <a:solidFill>
                  <a:srgbClr val="000000"/>
                </a:solidFill>
                <a:latin typeface="Calibri" pitchFamily="34" charset="0"/>
              </a:rPr>
              <a:t>768 patient records × 8 numeric features + binary Outcome target.</a:t>
            </a:r>
          </a:p>
          <a:p>
            <a:pPr marL="285750" indent="-285750" algn="l">
              <a:spcBef>
                <a:spcPts val="1000"/>
              </a:spcBef>
              <a:buFont typeface="Arial" pitchFamily="34" charset="0"/>
              <a:buChar char="•"/>
            </a:pPr>
            <a:r>
              <a:rPr lang="en-US" sz="1800" dirty="0">
                <a:solidFill>
                  <a:srgbClr val="000000"/>
                </a:solidFill>
                <a:latin typeface="Calibri" pitchFamily="34" charset="0"/>
              </a:rPr>
              <a:t>Class distribution: 500 non-diabetic (65.1%) vs. 268 diabetic (34.9%) — a moderate imbalance.</a:t>
            </a:r>
          </a:p>
          <a:p>
            <a:pPr marL="285750" indent="-285750" algn="l">
              <a:spcBef>
                <a:spcPts val="1000"/>
              </a:spcBef>
              <a:buFont typeface="Arial" pitchFamily="34" charset="0"/>
              <a:buChar char="•"/>
            </a:pPr>
            <a:r>
              <a:rPr lang="en-US" sz="1800" dirty="0">
                <a:solidFill>
                  <a:srgbClr val="000000"/>
                </a:solidFill>
                <a:latin typeface="Calibri" pitchFamily="34" charset="0"/>
              </a:rPr>
              <a:t>Several features (Glucose, BloodPressure, SkinThickness, Insulin, BMI) contain biologically implausible zero values requiring cleanup.</a:t>
            </a:r>
          </a:p>
        </p:txBody>
      </p:sp>
      <p:graphicFrame>
        <p:nvGraphicFramePr>
          <p:cNvPr id="102" name="Stats Table"/>
          <p:cNvGraphicFramePr>
            <a:graphicFrameLocks noGrp="1"/>
          </p:cNvGraphicFramePr>
          <p:nvPr/>
        </p:nvGraphicFramePr>
        <p:xfrm>
          <a:off x="800000" y="2850000"/>
          <a:ext cx="10600000" cy="3012440"/>
        </p:xfrm>
        <a:graphic>
          <a:graphicData uri="http://schemas.openxmlformats.org/drawingml/2006/table">
            <a:tbl>
              <a:tblPr firstRow="1" bandRow="1">
                <a:tableStyleId>{5C22544A-7EE6-4342-B048-85BDC9FD1C3A}</a:tableStyleId>
              </a:tblPr>
              <a:tblGrid>
                <a:gridCol w="2120000">
                  <a:extLst>
                    <a:ext uri="{9D8B030D-6E8A-4147-A177-3AD203B41FA5}">
                      <a16:colId xmlns:a16="http://schemas.microsoft.com/office/drawing/2014/main" val="20000"/>
                    </a:ext>
                  </a:extLst>
                </a:gridCol>
                <a:gridCol w="2120000">
                  <a:extLst>
                    <a:ext uri="{9D8B030D-6E8A-4147-A177-3AD203B41FA5}">
                      <a16:colId xmlns:a16="http://schemas.microsoft.com/office/drawing/2014/main" val="20001"/>
                    </a:ext>
                  </a:extLst>
                </a:gridCol>
                <a:gridCol w="2120000">
                  <a:extLst>
                    <a:ext uri="{9D8B030D-6E8A-4147-A177-3AD203B41FA5}">
                      <a16:colId xmlns:a16="http://schemas.microsoft.com/office/drawing/2014/main" val="20002"/>
                    </a:ext>
                  </a:extLst>
                </a:gridCol>
                <a:gridCol w="2120000">
                  <a:extLst>
                    <a:ext uri="{9D8B030D-6E8A-4147-A177-3AD203B41FA5}">
                      <a16:colId xmlns:a16="http://schemas.microsoft.com/office/drawing/2014/main" val="20003"/>
                    </a:ext>
                  </a:extLst>
                </a:gridCol>
                <a:gridCol w="2120000">
                  <a:extLst>
                    <a:ext uri="{9D8B030D-6E8A-4147-A177-3AD203B41FA5}">
                      <a16:colId xmlns:a16="http://schemas.microsoft.com/office/drawing/2014/main" val="20004"/>
                    </a:ext>
                  </a:extLst>
                </a:gridCol>
              </a:tblGrid>
              <a:tr h="370840">
                <a:tc>
                  <a:txBody>
                    <a:bodyPr/>
                    <a:lstStyle/>
                    <a:p>
                      <a:pPr algn="ctr"/>
                      <a:r>
                        <a:rPr lang="en-US" sz="1400" b="1" dirty="0">
                          <a:solidFill>
                            <a:srgbClr val="FFFFFF"/>
                          </a:solidFill>
                          <a:latin typeface="Calibri" pitchFamily="34" charset="0"/>
                        </a:rPr>
                        <a:t>Feature</a:t>
                      </a:r>
                    </a:p>
                  </a:txBody>
                  <a:tcPr marL="45720" marR="45720" marT="22860" marB="22860" anchor="ctr">
                    <a:solidFill>
                      <a:srgbClr val="1F3864"/>
                    </a:solidFill>
                  </a:tcPr>
                </a:tc>
                <a:tc>
                  <a:txBody>
                    <a:bodyPr/>
                    <a:lstStyle/>
                    <a:p>
                      <a:pPr algn="ctr"/>
                      <a:r>
                        <a:rPr lang="en-US" sz="1400" b="1" dirty="0">
                          <a:solidFill>
                            <a:srgbClr val="FFFFFF"/>
                          </a:solidFill>
                          <a:latin typeface="Calibri" pitchFamily="34" charset="0"/>
                        </a:rPr>
                        <a:t>Mean</a:t>
                      </a:r>
                    </a:p>
                  </a:txBody>
                  <a:tcPr marL="45720" marR="45720" marT="22860" marB="22860" anchor="ctr">
                    <a:solidFill>
                      <a:srgbClr val="1F3864"/>
                    </a:solidFill>
                  </a:tcPr>
                </a:tc>
                <a:tc>
                  <a:txBody>
                    <a:bodyPr/>
                    <a:lstStyle/>
                    <a:p>
                      <a:pPr algn="ctr"/>
                      <a:r>
                        <a:rPr lang="en-US" sz="1400" b="1" dirty="0">
                          <a:solidFill>
                            <a:srgbClr val="FFFFFF"/>
                          </a:solidFill>
                          <a:latin typeface="Calibri" pitchFamily="34" charset="0"/>
                        </a:rPr>
                        <a:t>Std Dev</a:t>
                      </a:r>
                    </a:p>
                  </a:txBody>
                  <a:tcPr marL="45720" marR="45720" marT="22860" marB="22860" anchor="ctr">
                    <a:solidFill>
                      <a:srgbClr val="1F3864"/>
                    </a:solidFill>
                  </a:tcPr>
                </a:tc>
                <a:tc>
                  <a:txBody>
                    <a:bodyPr/>
                    <a:lstStyle/>
                    <a:p>
                      <a:pPr algn="ctr"/>
                      <a:r>
                        <a:rPr lang="en-US" sz="1400" b="1" dirty="0">
                          <a:solidFill>
                            <a:srgbClr val="FFFFFF"/>
                          </a:solidFill>
                          <a:latin typeface="Calibri" pitchFamily="34" charset="0"/>
                        </a:rPr>
                        <a:t>Min</a:t>
                      </a:r>
                    </a:p>
                  </a:txBody>
                  <a:tcPr marL="45720" marR="45720" marT="22860" marB="22860" anchor="ctr">
                    <a:solidFill>
                      <a:srgbClr val="1F3864"/>
                    </a:solidFill>
                  </a:tcPr>
                </a:tc>
                <a:tc>
                  <a:txBody>
                    <a:bodyPr/>
                    <a:lstStyle/>
                    <a:p>
                      <a:pPr algn="ctr"/>
                      <a:r>
                        <a:rPr lang="en-US" sz="1400" b="1" dirty="0">
                          <a:solidFill>
                            <a:srgbClr val="FFFFFF"/>
                          </a:solidFill>
                          <a:latin typeface="Calibri" pitchFamily="34" charset="0"/>
                        </a:rPr>
                        <a:t>Max</a:t>
                      </a:r>
                    </a:p>
                  </a:txBody>
                  <a:tcPr marL="45720" marR="45720" marT="22860" marB="22860" anchor="ctr">
                    <a:solidFill>
                      <a:srgbClr val="1F3864"/>
                    </a:solidFill>
                  </a:tcPr>
                </a:tc>
                <a:extLst>
                  <a:ext uri="{0D108BD9-81ED-4DB2-BD59-A6C34878D82A}">
                    <a16:rowId xmlns:a16="http://schemas.microsoft.com/office/drawing/2014/main" val="10000"/>
                  </a:ext>
                </a:extLst>
              </a:tr>
              <a:tr h="330200">
                <a:tc>
                  <a:txBody>
                    <a:bodyPr/>
                    <a:lstStyle/>
                    <a:p>
                      <a:pPr algn="ctr"/>
                      <a:r>
                        <a:rPr lang="en-US" sz="1400" b="0" dirty="0">
                          <a:solidFill>
                            <a:srgbClr val="000000"/>
                          </a:solidFill>
                          <a:latin typeface="Calibri" pitchFamily="34" charset="0"/>
                        </a:rPr>
                        <a:t>Pregnancies</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3.85</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3.37</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17</a:t>
                      </a:r>
                    </a:p>
                  </a:txBody>
                  <a:tcPr marL="45720" marR="45720" marT="22860" marB="22860" anchor="ctr">
                    <a:solidFill>
                      <a:srgbClr val="FFFFFF"/>
                    </a:solidFill>
                  </a:tcPr>
                </a:tc>
                <a:extLst>
                  <a:ext uri="{0D108BD9-81ED-4DB2-BD59-A6C34878D82A}">
                    <a16:rowId xmlns:a16="http://schemas.microsoft.com/office/drawing/2014/main" val="10001"/>
                  </a:ext>
                </a:extLst>
              </a:tr>
              <a:tr h="330200">
                <a:tc>
                  <a:txBody>
                    <a:bodyPr/>
                    <a:lstStyle/>
                    <a:p>
                      <a:pPr algn="ctr"/>
                      <a:r>
                        <a:rPr lang="en-US" sz="1400" b="0" dirty="0">
                          <a:solidFill>
                            <a:srgbClr val="000000"/>
                          </a:solidFill>
                          <a:latin typeface="Calibri" pitchFamily="34" charset="0"/>
                        </a:rPr>
                        <a:t>Glucose</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120.89</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31.97</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199</a:t>
                      </a:r>
                    </a:p>
                  </a:txBody>
                  <a:tcPr marL="45720" marR="45720" marT="22860" marB="22860" anchor="ctr">
                    <a:solidFill>
                      <a:srgbClr val="FFFFFF"/>
                    </a:solidFill>
                  </a:tcPr>
                </a:tc>
                <a:extLst>
                  <a:ext uri="{0D108BD9-81ED-4DB2-BD59-A6C34878D82A}">
                    <a16:rowId xmlns:a16="http://schemas.microsoft.com/office/drawing/2014/main" val="10002"/>
                  </a:ext>
                </a:extLst>
              </a:tr>
              <a:tr h="330200">
                <a:tc>
                  <a:txBody>
                    <a:bodyPr/>
                    <a:lstStyle/>
                    <a:p>
                      <a:pPr algn="ctr"/>
                      <a:r>
                        <a:rPr lang="en-US" sz="1400" b="0" dirty="0">
                          <a:solidFill>
                            <a:srgbClr val="000000"/>
                          </a:solidFill>
                          <a:latin typeface="Calibri" pitchFamily="34" charset="0"/>
                        </a:rPr>
                        <a:t>BloodPressure</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69.11</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19.36</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122</a:t>
                      </a:r>
                    </a:p>
                  </a:txBody>
                  <a:tcPr marL="45720" marR="45720" marT="22860" marB="22860" anchor="ctr">
                    <a:solidFill>
                      <a:srgbClr val="FFFFFF"/>
                    </a:solidFill>
                  </a:tcPr>
                </a:tc>
                <a:extLst>
                  <a:ext uri="{0D108BD9-81ED-4DB2-BD59-A6C34878D82A}">
                    <a16:rowId xmlns:a16="http://schemas.microsoft.com/office/drawing/2014/main" val="10003"/>
                  </a:ext>
                </a:extLst>
              </a:tr>
              <a:tr h="330200">
                <a:tc>
                  <a:txBody>
                    <a:bodyPr/>
                    <a:lstStyle/>
                    <a:p>
                      <a:pPr algn="ctr"/>
                      <a:r>
                        <a:rPr lang="en-US" sz="1400" b="0" dirty="0">
                          <a:solidFill>
                            <a:srgbClr val="000000"/>
                          </a:solidFill>
                          <a:latin typeface="Calibri" pitchFamily="34" charset="0"/>
                        </a:rPr>
                        <a:t>SkinThickness</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20.54</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15.95</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99</a:t>
                      </a:r>
                    </a:p>
                  </a:txBody>
                  <a:tcPr marL="45720" marR="45720" marT="22860" marB="22860" anchor="ctr">
                    <a:solidFill>
                      <a:srgbClr val="FFFFFF"/>
                    </a:solidFill>
                  </a:tcPr>
                </a:tc>
                <a:extLst>
                  <a:ext uri="{0D108BD9-81ED-4DB2-BD59-A6C34878D82A}">
                    <a16:rowId xmlns:a16="http://schemas.microsoft.com/office/drawing/2014/main" val="10004"/>
                  </a:ext>
                </a:extLst>
              </a:tr>
              <a:tr h="330200">
                <a:tc>
                  <a:txBody>
                    <a:bodyPr/>
                    <a:lstStyle/>
                    <a:p>
                      <a:pPr algn="ctr"/>
                      <a:r>
                        <a:rPr lang="en-US" sz="1400" b="0" dirty="0">
                          <a:solidFill>
                            <a:srgbClr val="000000"/>
                          </a:solidFill>
                          <a:latin typeface="Calibri" pitchFamily="34" charset="0"/>
                        </a:rPr>
                        <a:t>Insulin</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79.80</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115.24</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846</a:t>
                      </a:r>
                    </a:p>
                  </a:txBody>
                  <a:tcPr marL="45720" marR="45720" marT="22860" marB="22860" anchor="ctr">
                    <a:solidFill>
                      <a:srgbClr val="FFFFFF"/>
                    </a:solidFill>
                  </a:tcPr>
                </a:tc>
                <a:extLst>
                  <a:ext uri="{0D108BD9-81ED-4DB2-BD59-A6C34878D82A}">
                    <a16:rowId xmlns:a16="http://schemas.microsoft.com/office/drawing/2014/main" val="10005"/>
                  </a:ext>
                </a:extLst>
              </a:tr>
              <a:tr h="330200">
                <a:tc>
                  <a:txBody>
                    <a:bodyPr/>
                    <a:lstStyle/>
                    <a:p>
                      <a:pPr algn="ctr"/>
                      <a:r>
                        <a:rPr lang="en-US" sz="1400" b="0" dirty="0">
                          <a:solidFill>
                            <a:srgbClr val="000000"/>
                          </a:solidFill>
                          <a:latin typeface="Calibri" pitchFamily="34" charset="0"/>
                        </a:rPr>
                        <a:t>BMI</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31.99</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7.88</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67.1</a:t>
                      </a:r>
                    </a:p>
                  </a:txBody>
                  <a:tcPr marL="45720" marR="45720" marT="22860" marB="22860" anchor="ctr">
                    <a:solidFill>
                      <a:srgbClr val="FFFFFF"/>
                    </a:solidFill>
                  </a:tcPr>
                </a:tc>
                <a:extLst>
                  <a:ext uri="{0D108BD9-81ED-4DB2-BD59-A6C34878D82A}">
                    <a16:rowId xmlns:a16="http://schemas.microsoft.com/office/drawing/2014/main" val="10006"/>
                  </a:ext>
                </a:extLst>
              </a:tr>
              <a:tr h="330200">
                <a:tc>
                  <a:txBody>
                    <a:bodyPr/>
                    <a:lstStyle/>
                    <a:p>
                      <a:pPr algn="ctr"/>
                      <a:r>
                        <a:rPr lang="en-US" sz="1400" b="0" dirty="0">
                          <a:solidFill>
                            <a:srgbClr val="000000"/>
                          </a:solidFill>
                          <a:latin typeface="Calibri" pitchFamily="34" charset="0"/>
                        </a:rPr>
                        <a:t>DiabetesPedigreeFunction</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0.47</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0.33</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0.078</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2.42</a:t>
                      </a:r>
                    </a:p>
                  </a:txBody>
                  <a:tcPr marL="45720" marR="45720" marT="22860" marB="22860" anchor="ctr">
                    <a:solidFill>
                      <a:srgbClr val="FFFFFF"/>
                    </a:solidFill>
                  </a:tcPr>
                </a:tc>
                <a:extLst>
                  <a:ext uri="{0D108BD9-81ED-4DB2-BD59-A6C34878D82A}">
                    <a16:rowId xmlns:a16="http://schemas.microsoft.com/office/drawing/2014/main" val="10007"/>
                  </a:ext>
                </a:extLst>
              </a:tr>
              <a:tr h="330200">
                <a:tc>
                  <a:txBody>
                    <a:bodyPr/>
                    <a:lstStyle/>
                    <a:p>
                      <a:pPr algn="ctr"/>
                      <a:r>
                        <a:rPr lang="en-US" sz="1400" b="0" dirty="0">
                          <a:solidFill>
                            <a:srgbClr val="000000"/>
                          </a:solidFill>
                          <a:latin typeface="Calibri" pitchFamily="34" charset="0"/>
                        </a:rPr>
                        <a:t>Age</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33.24</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11.76</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21</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81</a:t>
                      </a:r>
                    </a:p>
                  </a:txBody>
                  <a:tcPr marL="45720" marR="45720" marT="22860" marB="22860" anchor="ctr">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467524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EDA: Distributions &amp; Outliers</a:t>
            </a:r>
            <a:endParaRPr lang="en-US" sz="2800" dirty="0">
              <a:solidFill>
                <a:srgbClr val="002060"/>
              </a:solidFill>
            </a:endParaRPr>
          </a:p>
        </p:txBody>
      </p:sp>
      <p:pic>
        <p:nvPicPr>
          <p:cNvPr id="101" name="Histograms"/>
          <p:cNvPicPr>
            <a:picLocks noChangeAspect="1"/>
          </p:cNvPicPr>
          <p:nvPr/>
        </p:nvPicPr>
        <p:blipFill>
          <a:blip r:embed="rId4"/>
          <a:stretch>
            <a:fillRect/>
          </a:stretch>
        </p:blipFill>
        <p:spPr>
          <a:xfrm>
            <a:off x="350000" y="1150000"/>
            <a:ext cx="5600000" cy="4453800"/>
          </a:xfrm>
          <a:prstGeom prst="rect">
            <a:avLst/>
          </a:prstGeom>
        </p:spPr>
      </p:pic>
      <p:pic>
        <p:nvPicPr>
          <p:cNvPr id="102" name="Boxplots"/>
          <p:cNvPicPr>
            <a:picLocks noChangeAspect="1"/>
          </p:cNvPicPr>
          <p:nvPr/>
        </p:nvPicPr>
        <p:blipFill>
          <a:blip r:embed="rId5"/>
          <a:stretch>
            <a:fillRect/>
          </a:stretch>
        </p:blipFill>
        <p:spPr>
          <a:xfrm>
            <a:off x="6150000" y="1150000"/>
            <a:ext cx="5600000" cy="4628000"/>
          </a:xfrm>
          <a:prstGeom prst="rect">
            <a:avLst/>
          </a:prstGeom>
        </p:spPr>
      </p:pic>
      <p:sp>
        <p:nvSpPr>
          <p:cNvPr id="103" name="Cap1"/>
          <p:cNvSpPr/>
          <p:nvPr/>
        </p:nvSpPr>
        <p:spPr>
          <a:xfrm>
            <a:off x="350000" y="5650000"/>
            <a:ext cx="5600000" cy="400000"/>
          </a:xfrm>
          <a:prstGeom prst="rect">
            <a:avLst/>
          </a:prstGeom>
          <a:noFill/>
        </p:spPr>
        <p:txBody>
          <a:bodyPr wrap="square" anchor="t"/>
          <a:lstStyle/>
          <a:p>
            <a:pPr algn="ctr"/>
            <a:r>
              <a:rPr lang="en-US" sz="1400" i="1" dirty="0">
                <a:solidFill>
                  <a:srgbClr val="555555"/>
                </a:solidFill>
                <a:latin typeface="Calibri"/>
              </a:rPr>
              <a:t>Feature histograms: skewed distributions in Insulin, DPF, and Age.</a:t>
            </a:r>
          </a:p>
        </p:txBody>
      </p:sp>
      <p:sp>
        <p:nvSpPr>
          <p:cNvPr id="104" name="Cap2"/>
          <p:cNvSpPr/>
          <p:nvPr/>
        </p:nvSpPr>
        <p:spPr>
          <a:xfrm>
            <a:off x="6150000" y="5820000"/>
            <a:ext cx="5600000" cy="400000"/>
          </a:xfrm>
          <a:prstGeom prst="rect">
            <a:avLst/>
          </a:prstGeom>
          <a:noFill/>
        </p:spPr>
        <p:txBody>
          <a:bodyPr wrap="square" anchor="t"/>
          <a:lstStyle/>
          <a:p>
            <a:pPr algn="ctr"/>
            <a:r>
              <a:rPr lang="en-US" sz="1400" i="1" dirty="0">
                <a:solidFill>
                  <a:srgbClr val="555555"/>
                </a:solidFill>
                <a:latin typeface="Calibri"/>
              </a:rPr>
              <a:t>Boxplots reveal outliers concentrated in Insulin and SkinThickness.</a:t>
            </a:r>
          </a:p>
        </p:txBody>
      </p:sp>
    </p:spTree>
    <p:extLst>
      <p:ext uri="{BB962C8B-B14F-4D97-AF65-F5344CB8AC3E}">
        <p14:creationId xmlns:p14="http://schemas.microsoft.com/office/powerpoint/2010/main" val="3467524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EDA: Correlation &amp; Relationships</a:t>
            </a:r>
            <a:endParaRPr lang="en-US" sz="2800" dirty="0">
              <a:solidFill>
                <a:srgbClr val="002060"/>
              </a:solidFill>
            </a:endParaRPr>
          </a:p>
        </p:txBody>
      </p:sp>
      <p:pic>
        <p:nvPicPr>
          <p:cNvPr id="101" name="Heatmap"/>
          <p:cNvPicPr>
            <a:picLocks noChangeAspect="1"/>
          </p:cNvPicPr>
          <p:nvPr/>
        </p:nvPicPr>
        <p:blipFill>
          <a:blip r:embed="rId4"/>
          <a:stretch>
            <a:fillRect/>
          </a:stretch>
        </p:blipFill>
        <p:spPr>
          <a:xfrm>
            <a:off x="600000" y="1300000"/>
            <a:ext cx="4700000" cy="4416000"/>
          </a:xfrm>
          <a:prstGeom prst="rect">
            <a:avLst/>
          </a:prstGeom>
        </p:spPr>
      </p:pic>
      <p:pic>
        <p:nvPicPr>
          <p:cNvPr id="102" name="Pairplot"/>
          <p:cNvPicPr>
            <a:picLocks noChangeAspect="1"/>
          </p:cNvPicPr>
          <p:nvPr/>
        </p:nvPicPr>
        <p:blipFill>
          <a:blip r:embed="rId5"/>
          <a:stretch>
            <a:fillRect/>
          </a:stretch>
        </p:blipFill>
        <p:spPr>
          <a:xfrm>
            <a:off x="6600000" y="1150000"/>
            <a:ext cx="4800000" cy="4614000"/>
          </a:xfrm>
          <a:prstGeom prst="rect">
            <a:avLst/>
          </a:prstGeom>
        </p:spPr>
      </p:pic>
      <p:sp>
        <p:nvSpPr>
          <p:cNvPr id="103" name="Cap1"/>
          <p:cNvSpPr/>
          <p:nvPr/>
        </p:nvSpPr>
        <p:spPr>
          <a:xfrm>
            <a:off x="600000" y="5750000"/>
            <a:ext cx="4700000" cy="500000"/>
          </a:xfrm>
          <a:prstGeom prst="rect">
            <a:avLst/>
          </a:prstGeom>
          <a:noFill/>
        </p:spPr>
        <p:txBody>
          <a:bodyPr wrap="square" anchor="t"/>
          <a:lstStyle/>
          <a:p>
            <a:pPr algn="ctr"/>
            <a:r>
              <a:rPr lang="en-US" sz="1400" i="1" dirty="0">
                <a:solidFill>
                  <a:srgbClr val="555555"/>
                </a:solidFill>
                <a:latin typeface="Calibri"/>
              </a:rPr>
              <a:t>Glucose shows the strongest correlation with diabetes Outcome.</a:t>
            </a:r>
          </a:p>
        </p:txBody>
      </p:sp>
      <p:sp>
        <p:nvSpPr>
          <p:cNvPr id="104" name="Cap2"/>
          <p:cNvSpPr/>
          <p:nvPr/>
        </p:nvSpPr>
        <p:spPr>
          <a:xfrm>
            <a:off x="6600000" y="5850000"/>
            <a:ext cx="4800000" cy="500000"/>
          </a:xfrm>
          <a:prstGeom prst="rect">
            <a:avLst/>
          </a:prstGeom>
          <a:noFill/>
        </p:spPr>
        <p:txBody>
          <a:bodyPr wrap="square" anchor="t"/>
          <a:lstStyle/>
          <a:p>
            <a:pPr algn="ctr"/>
            <a:r>
              <a:rPr lang="en-US" sz="1400" i="1" dirty="0">
                <a:solidFill>
                  <a:srgbClr val="555555"/>
                </a:solidFill>
                <a:latin typeface="Calibri"/>
              </a:rPr>
              <a:t>Pairplot of top features shows clear separation by Outcome along the Glucose axis.</a:t>
            </a:r>
          </a:p>
        </p:txBody>
      </p:sp>
    </p:spTree>
    <p:extLst>
      <p:ext uri="{BB962C8B-B14F-4D97-AF65-F5344CB8AC3E}">
        <p14:creationId xmlns:p14="http://schemas.microsoft.com/office/powerpoint/2010/main" val="3467524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Data Preprocessing</a:t>
            </a:r>
            <a:endParaRPr lang="en-US" sz="2800" dirty="0">
              <a:solidFill>
                <a:srgbClr val="002060"/>
              </a:solidFill>
            </a:endParaRPr>
          </a:p>
        </p:txBody>
      </p:sp>
      <p:sp>
        <p:nvSpPr>
          <p:cNvPr id="101" name="Content Preprocessing"/>
          <p:cNvSpPr/>
          <p:nvPr/>
        </p:nvSpPr>
        <p:spPr>
          <a:xfrm>
            <a:off x="502920" y="1150000"/>
            <a:ext cx="11200000" cy="5400000"/>
          </a:xfrm>
          <a:prstGeom prst="rect">
            <a:avLst/>
          </a:prstGeom>
          <a:noFill/>
          <a:ln/>
        </p:spPr>
        <p:txBody>
          <a:bodyPr wrap="square" rtlCol="0" anchor="t">
            <a:normAutofit/>
          </a:bodyPr>
          <a:lstStyle/>
          <a:p>
            <a:pPr marL="285750" indent="-285750" algn="l">
              <a:spcBef>
                <a:spcPts val="1000"/>
              </a:spcBef>
              <a:buFont typeface="Arial" pitchFamily="34" charset="0"/>
              <a:buChar char="•"/>
            </a:pPr>
            <a:r>
              <a:rPr lang="en-US" sz="1800" dirty="0">
                <a:solidFill>
                  <a:srgbClr val="000000"/>
                </a:solidFill>
                <a:latin typeface="Calibri" pitchFamily="34" charset="0"/>
              </a:rPr>
              <a:t>Missing Value Treatment: Biologically implausible zero values in Glucose, BloodPressure, SkinThickness, Insulin, and BMI treated as missing and imputed using column medians.</a:t>
            </a:r>
          </a:p>
          <a:p>
            <a:pPr marL="285750" indent="-285750" algn="l">
              <a:spcBef>
                <a:spcPts val="1000"/>
              </a:spcBef>
              <a:buFont typeface="Arial" pitchFamily="34" charset="0"/>
              <a:buChar char="•"/>
            </a:pPr>
            <a:r>
              <a:rPr lang="en-US" sz="1800" dirty="0">
                <a:solidFill>
                  <a:srgbClr val="000000"/>
                </a:solidFill>
                <a:latin typeface="Calibri" pitchFamily="34" charset="0"/>
              </a:rPr>
              <a:t>Duplicate Check: No duplicate records found across all 768 rows.</a:t>
            </a:r>
          </a:p>
          <a:p>
            <a:pPr marL="285750" indent="-285750" algn="l">
              <a:spcBef>
                <a:spcPts val="1000"/>
              </a:spcBef>
              <a:buFont typeface="Arial" pitchFamily="34" charset="0"/>
              <a:buChar char="•"/>
            </a:pPr>
            <a:r>
              <a:rPr lang="en-US" sz="1800" dirty="0">
                <a:solidFill>
                  <a:srgbClr val="000000"/>
                </a:solidFill>
                <a:latin typeface="Calibri" pitchFamily="34" charset="0"/>
              </a:rPr>
              <a:t>Class Imbalance Correction: SMOTE (Synthetic Minority Over-sampling) applied to the 500:268 class split, producing 1,000 balanced samples (500 per class).</a:t>
            </a:r>
          </a:p>
          <a:p>
            <a:pPr marL="285750" indent="-285750" algn="l">
              <a:spcBef>
                <a:spcPts val="1000"/>
              </a:spcBef>
              <a:buFont typeface="Arial" pitchFamily="34" charset="0"/>
              <a:buChar char="•"/>
            </a:pPr>
            <a:r>
              <a:rPr lang="en-US" sz="1800" dirty="0">
                <a:solidFill>
                  <a:srgbClr val="000000"/>
                </a:solidFill>
                <a:latin typeface="Calibri" pitchFamily="34" charset="0"/>
              </a:rPr>
              <a:t>Feature Scaling: StandardScaler applied to all features prior to model training; MinMaxScaler evaluated as an alternative but StandardScaler retained.</a:t>
            </a:r>
          </a:p>
          <a:p>
            <a:pPr marL="285750" indent="-285750" algn="l">
              <a:spcBef>
                <a:spcPts val="1000"/>
              </a:spcBef>
              <a:buFont typeface="Arial" pitchFamily="34" charset="0"/>
              <a:buChar char="•"/>
            </a:pPr>
            <a:r>
              <a:rPr lang="en-US" sz="1800" dirty="0">
                <a:solidFill>
                  <a:srgbClr val="000000"/>
                </a:solidFill>
                <a:latin typeface="Calibri" pitchFamily="34" charset="0"/>
              </a:rPr>
              <a:t>Feature Selection: ANOVA F-test (SelectKBest) confirmed Glucose, BMI, Age, Insulin, and DiabetesPedigreeFunction as the top 5 predictive features.</a:t>
            </a:r>
          </a:p>
          <a:p>
            <a:pPr marL="285750" indent="-285750" algn="l">
              <a:spcBef>
                <a:spcPts val="1000"/>
              </a:spcBef>
              <a:buFont typeface="Arial" pitchFamily="34" charset="0"/>
              <a:buChar char="•"/>
            </a:pPr>
            <a:r>
              <a:rPr lang="en-US" sz="1800" dirty="0">
                <a:solidFill>
                  <a:srgbClr val="000000"/>
                </a:solidFill>
                <a:latin typeface="Calibri" pitchFamily="34" charset="0"/>
              </a:rPr>
              <a:t>Train/Test Split: 80% training (800 samples) / 20% testing (200 samples), stratified to preserve class balance.</a:t>
            </a:r>
          </a:p>
        </p:txBody>
      </p:sp>
    </p:spTree>
    <p:extLst>
      <p:ext uri="{BB962C8B-B14F-4D97-AF65-F5344CB8AC3E}">
        <p14:creationId xmlns:p14="http://schemas.microsoft.com/office/powerpoint/2010/main" val="3467524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Logistic Regression</a:t>
            </a:r>
            <a:endParaRPr lang="en-US" sz="2800" dirty="0">
              <a:solidFill>
                <a:srgbClr val="002060"/>
              </a:solidFill>
            </a:endParaRPr>
          </a:p>
        </p:txBody>
      </p:sp>
      <p:graphicFrame>
        <p:nvGraphicFramePr>
          <p:cNvPr id="101" name="LogReg Metrics"/>
          <p:cNvGraphicFramePr>
            <a:graphicFrameLocks noGrp="1"/>
          </p:cNvGraphicFramePr>
          <p:nvPr/>
        </p:nvGraphicFramePr>
        <p:xfrm>
          <a:off x="450000" y="1150000"/>
          <a:ext cx="3500000" cy="2200000"/>
        </p:xfrm>
        <a:graphic>
          <a:graphicData uri="http://schemas.openxmlformats.org/drawingml/2006/table">
            <a:tbl>
              <a:tblPr firstRow="1" bandRow="1">
                <a:tableStyleId>{5C22544A-7EE6-4342-B048-85BDC9FD1C3A}</a:tableStyleId>
              </a:tblPr>
              <a:tblGrid>
                <a:gridCol w="1750000">
                  <a:extLst>
                    <a:ext uri="{9D8B030D-6E8A-4147-A177-3AD203B41FA5}">
                      <a16:colId xmlns:a16="http://schemas.microsoft.com/office/drawing/2014/main" val="20000"/>
                    </a:ext>
                  </a:extLst>
                </a:gridCol>
                <a:gridCol w="1750000">
                  <a:extLst>
                    <a:ext uri="{9D8B030D-6E8A-4147-A177-3AD203B41FA5}">
                      <a16:colId xmlns:a16="http://schemas.microsoft.com/office/drawing/2014/main" val="20001"/>
                    </a:ext>
                  </a:extLst>
                </a:gridCol>
              </a:tblGrid>
              <a:tr h="370840">
                <a:tc>
                  <a:txBody>
                    <a:bodyPr/>
                    <a:lstStyle/>
                    <a:p>
                      <a:pPr algn="ctr"/>
                      <a:r>
                        <a:rPr lang="en-US" sz="1400" b="1" dirty="0">
                          <a:solidFill>
                            <a:srgbClr val="FFFFFF"/>
                          </a:solidFill>
                          <a:latin typeface="Calibri" pitchFamily="34" charset="0"/>
                        </a:rPr>
                        <a:t>Metric</a:t>
                      </a:r>
                    </a:p>
                  </a:txBody>
                  <a:tcPr marL="45720" marR="45720" marT="22860" marB="22860" anchor="ctr">
                    <a:solidFill>
                      <a:srgbClr val="1F3864"/>
                    </a:solidFill>
                  </a:tcPr>
                </a:tc>
                <a:tc>
                  <a:txBody>
                    <a:bodyPr/>
                    <a:lstStyle/>
                    <a:p>
                      <a:pPr algn="ctr"/>
                      <a:r>
                        <a:rPr lang="en-US" sz="1400" b="1" dirty="0">
                          <a:solidFill>
                            <a:srgbClr val="FFFFFF"/>
                          </a:solidFill>
                          <a:latin typeface="Calibri" pitchFamily="34" charset="0"/>
                        </a:rPr>
                        <a:t>Value</a:t>
                      </a:r>
                    </a:p>
                  </a:txBody>
                  <a:tcPr marL="45720" marR="45720" marT="22860" marB="22860" anchor="ctr">
                    <a:solidFill>
                      <a:srgbClr val="1F3864"/>
                    </a:solidFill>
                  </a:tcPr>
                </a:tc>
                <a:extLst>
                  <a:ext uri="{0D108BD9-81ED-4DB2-BD59-A6C34878D82A}">
                    <a16:rowId xmlns:a16="http://schemas.microsoft.com/office/drawing/2014/main" val="10000"/>
                  </a:ext>
                </a:extLst>
              </a:tr>
              <a:tr h="330200">
                <a:tc>
                  <a:txBody>
                    <a:bodyPr/>
                    <a:lstStyle/>
                    <a:p>
                      <a:pPr algn="ctr"/>
                      <a:r>
                        <a:rPr lang="en-US" sz="1400" b="0" dirty="0">
                          <a:solidFill>
                            <a:srgbClr val="000000"/>
                          </a:solidFill>
                          <a:latin typeface="Calibri" pitchFamily="34" charset="0"/>
                        </a:rPr>
                        <a:t>Accuracy</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0.7350</a:t>
                      </a:r>
                    </a:p>
                  </a:txBody>
                  <a:tcPr marL="45720" marR="45720" marT="22860" marB="22860" anchor="ctr">
                    <a:solidFill>
                      <a:srgbClr val="FFFFFF"/>
                    </a:solidFill>
                  </a:tcPr>
                </a:tc>
                <a:extLst>
                  <a:ext uri="{0D108BD9-81ED-4DB2-BD59-A6C34878D82A}">
                    <a16:rowId xmlns:a16="http://schemas.microsoft.com/office/drawing/2014/main" val="10001"/>
                  </a:ext>
                </a:extLst>
              </a:tr>
              <a:tr h="330200">
                <a:tc>
                  <a:txBody>
                    <a:bodyPr/>
                    <a:lstStyle/>
                    <a:p>
                      <a:pPr algn="ctr"/>
                      <a:r>
                        <a:rPr lang="en-US" sz="1400" b="0" dirty="0">
                          <a:solidFill>
                            <a:srgbClr val="000000"/>
                          </a:solidFill>
                          <a:latin typeface="Calibri" pitchFamily="34" charset="0"/>
                        </a:rPr>
                        <a:t>Precision</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0.7374</a:t>
                      </a:r>
                    </a:p>
                  </a:txBody>
                  <a:tcPr marL="45720" marR="45720" marT="22860" marB="22860" anchor="ctr">
                    <a:solidFill>
                      <a:srgbClr val="FFFFFF"/>
                    </a:solidFill>
                  </a:tcPr>
                </a:tc>
                <a:extLst>
                  <a:ext uri="{0D108BD9-81ED-4DB2-BD59-A6C34878D82A}">
                    <a16:rowId xmlns:a16="http://schemas.microsoft.com/office/drawing/2014/main" val="10002"/>
                  </a:ext>
                </a:extLst>
              </a:tr>
              <a:tr h="330200">
                <a:tc>
                  <a:txBody>
                    <a:bodyPr/>
                    <a:lstStyle/>
                    <a:p>
                      <a:pPr algn="ctr"/>
                      <a:r>
                        <a:rPr lang="en-US" sz="1400" b="0" dirty="0">
                          <a:solidFill>
                            <a:srgbClr val="000000"/>
                          </a:solidFill>
                          <a:latin typeface="Calibri" pitchFamily="34" charset="0"/>
                        </a:rPr>
                        <a:t>Recall</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0.7300</a:t>
                      </a:r>
                    </a:p>
                  </a:txBody>
                  <a:tcPr marL="45720" marR="45720" marT="22860" marB="22860" anchor="ctr">
                    <a:solidFill>
                      <a:srgbClr val="FFFFFF"/>
                    </a:solidFill>
                  </a:tcPr>
                </a:tc>
                <a:extLst>
                  <a:ext uri="{0D108BD9-81ED-4DB2-BD59-A6C34878D82A}">
                    <a16:rowId xmlns:a16="http://schemas.microsoft.com/office/drawing/2014/main" val="10003"/>
                  </a:ext>
                </a:extLst>
              </a:tr>
              <a:tr h="330200">
                <a:tc>
                  <a:txBody>
                    <a:bodyPr/>
                    <a:lstStyle/>
                    <a:p>
                      <a:pPr algn="ctr"/>
                      <a:r>
                        <a:rPr lang="en-US" sz="1400" b="0" dirty="0">
                          <a:solidFill>
                            <a:srgbClr val="000000"/>
                          </a:solidFill>
                          <a:latin typeface="Calibri" pitchFamily="34" charset="0"/>
                        </a:rPr>
                        <a:t>F1-Score</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0.7337</a:t>
                      </a:r>
                    </a:p>
                  </a:txBody>
                  <a:tcPr marL="45720" marR="45720" marT="22860" marB="22860" anchor="ctr">
                    <a:solidFill>
                      <a:srgbClr val="FFFFFF"/>
                    </a:solidFill>
                  </a:tcPr>
                </a:tc>
                <a:extLst>
                  <a:ext uri="{0D108BD9-81ED-4DB2-BD59-A6C34878D82A}">
                    <a16:rowId xmlns:a16="http://schemas.microsoft.com/office/drawing/2014/main" val="10004"/>
                  </a:ext>
                </a:extLst>
              </a:tr>
              <a:tr h="330200">
                <a:tc>
                  <a:txBody>
                    <a:bodyPr/>
                    <a:lstStyle/>
                    <a:p>
                      <a:pPr algn="ctr"/>
                      <a:r>
                        <a:rPr lang="en-US" sz="1400" b="0" dirty="0">
                          <a:solidFill>
                            <a:srgbClr val="000000"/>
                          </a:solidFill>
                          <a:latin typeface="Calibri" pitchFamily="34" charset="0"/>
                        </a:rPr>
                        <a:t>ROC-AUC</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0.8277</a:t>
                      </a:r>
                    </a:p>
                  </a:txBody>
                  <a:tcPr marL="45720" marR="45720" marT="22860" marB="22860" anchor="ctr">
                    <a:solidFill>
                      <a:srgbClr val="FFFFFF"/>
                    </a:solidFill>
                  </a:tcPr>
                </a:tc>
                <a:extLst>
                  <a:ext uri="{0D108BD9-81ED-4DB2-BD59-A6C34878D82A}">
                    <a16:rowId xmlns:a16="http://schemas.microsoft.com/office/drawing/2014/main" val="10005"/>
                  </a:ext>
                </a:extLst>
              </a:tr>
            </a:tbl>
          </a:graphicData>
        </a:graphic>
      </p:graphicFrame>
      <p:sp>
        <p:nvSpPr>
          <p:cNvPr id="105" name="Note"/>
          <p:cNvSpPr/>
          <p:nvPr/>
        </p:nvSpPr>
        <p:spPr>
          <a:xfrm>
            <a:off x="450000" y="3550000"/>
            <a:ext cx="3500000" cy="2900000"/>
          </a:xfrm>
          <a:prstGeom prst="rect">
            <a:avLst/>
          </a:prstGeom>
          <a:noFill/>
        </p:spPr>
        <p:txBody>
          <a:bodyPr wrap="square" anchor="t"/>
          <a:lstStyle/>
          <a:p>
            <a:r>
              <a:rPr lang="en-US" sz="1400" dirty="0">
                <a:solidFill>
                  <a:srgbClr val="000000"/>
                </a:solidFill>
                <a:latin typeface="Calibri"/>
              </a:rPr>
              <a:t>Odds ratios (exp(coef)) identify Glucose, BMI, and Pregnancies as the strongest positive risk factors. Simplest and most interpretable model, but lowest accuracy of all five — reflecting non-linear relationships in the data.</a:t>
            </a:r>
          </a:p>
        </p:txBody>
      </p:sp>
      <p:pic>
        <p:nvPicPr>
          <p:cNvPr id="102" name="CM Log"/>
          <p:cNvPicPr>
            <a:picLocks noChangeAspect="1"/>
          </p:cNvPicPr>
          <p:nvPr/>
        </p:nvPicPr>
        <p:blipFill>
          <a:blip r:embed="rId4"/>
          <a:stretch>
            <a:fillRect/>
          </a:stretch>
        </p:blipFill>
        <p:spPr>
          <a:xfrm>
            <a:off x="4300000" y="1150000"/>
            <a:ext cx="3700000" cy="3479000"/>
          </a:xfrm>
          <a:prstGeom prst="rect">
            <a:avLst/>
          </a:prstGeom>
        </p:spPr>
      </p:pic>
      <p:pic>
        <p:nvPicPr>
          <p:cNvPr id="103" name="ROC Log"/>
          <p:cNvPicPr>
            <a:picLocks noChangeAspect="1"/>
          </p:cNvPicPr>
          <p:nvPr/>
        </p:nvPicPr>
        <p:blipFill>
          <a:blip r:embed="rId5"/>
          <a:stretch>
            <a:fillRect/>
          </a:stretch>
        </p:blipFill>
        <p:spPr>
          <a:xfrm>
            <a:off x="8300000" y="1150000"/>
            <a:ext cx="3600000" cy="2865000"/>
          </a:xfrm>
          <a:prstGeom prst="rect">
            <a:avLst/>
          </a:prstGeom>
        </p:spPr>
      </p:pic>
    </p:spTree>
    <p:extLst>
      <p:ext uri="{BB962C8B-B14F-4D97-AF65-F5344CB8AC3E}">
        <p14:creationId xmlns:p14="http://schemas.microsoft.com/office/powerpoint/2010/main" val="3467524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K-Nearest Neighbors (KNN)</a:t>
            </a:r>
            <a:endParaRPr lang="en-US" sz="2800" dirty="0">
              <a:solidFill>
                <a:srgbClr val="002060"/>
              </a:solidFill>
            </a:endParaRPr>
          </a:p>
        </p:txBody>
      </p:sp>
      <p:pic>
        <p:nvPicPr>
          <p:cNvPr id="101" name="Elbow"/>
          <p:cNvPicPr>
            <a:picLocks noChangeAspect="1"/>
          </p:cNvPicPr>
          <p:nvPr/>
        </p:nvPicPr>
        <p:blipFill>
          <a:blip r:embed="rId4"/>
          <a:stretch>
            <a:fillRect/>
          </a:stretch>
        </p:blipFill>
        <p:spPr>
          <a:xfrm>
            <a:off x="350000" y="1150000"/>
            <a:ext cx="5700000" cy="3626000"/>
          </a:xfrm>
          <a:prstGeom prst="rect">
            <a:avLst/>
          </a:prstGeom>
        </p:spPr>
      </p:pic>
      <p:sp>
        <p:nvSpPr>
          <p:cNvPr id="104" name="Cap1"/>
          <p:cNvSpPr/>
          <p:nvPr/>
        </p:nvSpPr>
        <p:spPr>
          <a:xfrm>
            <a:off x="350000" y="4850000"/>
            <a:ext cx="5700000" cy="500000"/>
          </a:xfrm>
          <a:prstGeom prst="rect">
            <a:avLst/>
          </a:prstGeom>
          <a:noFill/>
        </p:spPr>
        <p:txBody>
          <a:bodyPr wrap="square" anchor="t"/>
          <a:lstStyle/>
          <a:p>
            <a:pPr algn="ctr"/>
            <a:r>
              <a:rPr lang="en-US" sz="1300" i="1" dirty="0">
                <a:solidFill>
                  <a:srgbClr val="555555"/>
                </a:solidFill>
                <a:latin typeface="Calibri"/>
              </a:rPr>
              <a:t>Elbow method + cross-validation identified optimal K=3. Manhattan distance metric slightly outperformed Euclidean (82.5% vs 80.5% accuracy).</a:t>
            </a:r>
          </a:p>
        </p:txBody>
      </p:sp>
      <p:pic>
        <p:nvPicPr>
          <p:cNvPr id="102" name="CM KNN"/>
          <p:cNvPicPr>
            <a:picLocks noChangeAspect="1"/>
          </p:cNvPicPr>
          <p:nvPr/>
        </p:nvPicPr>
        <p:blipFill>
          <a:blip r:embed="rId5"/>
          <a:stretch>
            <a:fillRect/>
          </a:stretch>
        </p:blipFill>
        <p:spPr>
          <a:xfrm>
            <a:off x="6350000" y="1150000"/>
            <a:ext cx="3500000" cy="3291000"/>
          </a:xfrm>
          <a:prstGeom prst="rect">
            <a:avLst/>
          </a:prstGeom>
        </p:spPr>
      </p:pic>
      <p:graphicFrame>
        <p:nvGraphicFramePr>
          <p:cNvPr id="103" name="KNN Metrics"/>
          <p:cNvGraphicFramePr>
            <a:graphicFrameLocks noGrp="1"/>
          </p:cNvGraphicFramePr>
          <p:nvPr/>
        </p:nvGraphicFramePr>
        <p:xfrm>
          <a:off x="10100000" y="1300000"/>
          <a:ext cx="1900000" cy="2000000"/>
        </p:xfrm>
        <a:graphic>
          <a:graphicData uri="http://schemas.openxmlformats.org/drawingml/2006/table">
            <a:tbl>
              <a:tblPr firstRow="1" bandRow="1">
                <a:tableStyleId>{5C22544A-7EE6-4342-B048-85BDC9FD1C3A}</a:tableStyleId>
              </a:tblPr>
              <a:tblGrid>
                <a:gridCol w="950000">
                  <a:extLst>
                    <a:ext uri="{9D8B030D-6E8A-4147-A177-3AD203B41FA5}">
                      <a16:colId xmlns:a16="http://schemas.microsoft.com/office/drawing/2014/main" val="20000"/>
                    </a:ext>
                  </a:extLst>
                </a:gridCol>
                <a:gridCol w="950000">
                  <a:extLst>
                    <a:ext uri="{9D8B030D-6E8A-4147-A177-3AD203B41FA5}">
                      <a16:colId xmlns:a16="http://schemas.microsoft.com/office/drawing/2014/main" val="20001"/>
                    </a:ext>
                  </a:extLst>
                </a:gridCol>
              </a:tblGrid>
              <a:tr h="370840">
                <a:tc>
                  <a:txBody>
                    <a:bodyPr/>
                    <a:lstStyle/>
                    <a:p>
                      <a:pPr algn="ctr"/>
                      <a:r>
                        <a:rPr lang="en-US" sz="1100" b="1" dirty="0">
                          <a:solidFill>
                            <a:srgbClr val="FFFFFF"/>
                          </a:solidFill>
                          <a:latin typeface="Calibri" pitchFamily="34" charset="0"/>
                        </a:rPr>
                        <a:t>Metric</a:t>
                      </a:r>
                    </a:p>
                  </a:txBody>
                  <a:tcPr marL="45720" marR="45720" marT="22860" marB="22860" anchor="ctr">
                    <a:solidFill>
                      <a:srgbClr val="1F3864"/>
                    </a:solidFill>
                  </a:tcPr>
                </a:tc>
                <a:tc>
                  <a:txBody>
                    <a:bodyPr/>
                    <a:lstStyle/>
                    <a:p>
                      <a:pPr algn="ctr"/>
                      <a:r>
                        <a:rPr lang="en-US" sz="1100" b="1" dirty="0">
                          <a:solidFill>
                            <a:srgbClr val="FFFFFF"/>
                          </a:solidFill>
                          <a:latin typeface="Calibri" pitchFamily="34" charset="0"/>
                        </a:rPr>
                        <a:t>Value</a:t>
                      </a:r>
                    </a:p>
                  </a:txBody>
                  <a:tcPr marL="45720" marR="45720" marT="22860" marB="22860" anchor="ctr">
                    <a:solidFill>
                      <a:srgbClr val="1F3864"/>
                    </a:solidFill>
                  </a:tcPr>
                </a:tc>
                <a:extLst>
                  <a:ext uri="{0D108BD9-81ED-4DB2-BD59-A6C34878D82A}">
                    <a16:rowId xmlns:a16="http://schemas.microsoft.com/office/drawing/2014/main" val="10000"/>
                  </a:ext>
                </a:extLst>
              </a:tr>
              <a:tr h="330200">
                <a:tc>
                  <a:txBody>
                    <a:bodyPr/>
                    <a:lstStyle/>
                    <a:p>
                      <a:pPr algn="ctr"/>
                      <a:r>
                        <a:rPr lang="en-US" sz="1100" b="0" dirty="0">
                          <a:solidFill>
                            <a:srgbClr val="000000"/>
                          </a:solidFill>
                          <a:latin typeface="Calibri" pitchFamily="34" charset="0"/>
                        </a:rPr>
                        <a:t>Accuracy</a:t>
                      </a:r>
                    </a:p>
                  </a:txBody>
                  <a:tcPr marL="45720" marR="45720" marT="22860" marB="22860" anchor="ctr">
                    <a:solidFill>
                      <a:srgbClr val="FFFFFF"/>
                    </a:solidFill>
                  </a:tcPr>
                </a:tc>
                <a:tc>
                  <a:txBody>
                    <a:bodyPr/>
                    <a:lstStyle/>
                    <a:p>
                      <a:pPr algn="ctr"/>
                      <a:r>
                        <a:rPr lang="en-US" sz="1100" b="0" dirty="0">
                          <a:solidFill>
                            <a:srgbClr val="000000"/>
                          </a:solidFill>
                          <a:latin typeface="Calibri" pitchFamily="34" charset="0"/>
                        </a:rPr>
                        <a:t>0.8050</a:t>
                      </a:r>
                    </a:p>
                  </a:txBody>
                  <a:tcPr marL="45720" marR="45720" marT="22860" marB="22860" anchor="ctr">
                    <a:solidFill>
                      <a:srgbClr val="FFFFFF"/>
                    </a:solidFill>
                  </a:tcPr>
                </a:tc>
                <a:extLst>
                  <a:ext uri="{0D108BD9-81ED-4DB2-BD59-A6C34878D82A}">
                    <a16:rowId xmlns:a16="http://schemas.microsoft.com/office/drawing/2014/main" val="10001"/>
                  </a:ext>
                </a:extLst>
              </a:tr>
              <a:tr h="330200">
                <a:tc>
                  <a:txBody>
                    <a:bodyPr/>
                    <a:lstStyle/>
                    <a:p>
                      <a:pPr algn="ctr"/>
                      <a:r>
                        <a:rPr lang="en-US" sz="1100" b="0" dirty="0">
                          <a:solidFill>
                            <a:srgbClr val="000000"/>
                          </a:solidFill>
                          <a:latin typeface="Calibri" pitchFamily="34" charset="0"/>
                        </a:rPr>
                        <a:t>Precision</a:t>
                      </a:r>
                    </a:p>
                  </a:txBody>
                  <a:tcPr marL="45720" marR="45720" marT="22860" marB="22860" anchor="ctr">
                    <a:solidFill>
                      <a:srgbClr val="FFFFFF"/>
                    </a:solidFill>
                  </a:tcPr>
                </a:tc>
                <a:tc>
                  <a:txBody>
                    <a:bodyPr/>
                    <a:lstStyle/>
                    <a:p>
                      <a:pPr algn="ctr"/>
                      <a:r>
                        <a:rPr lang="en-US" sz="1100" b="0" dirty="0">
                          <a:solidFill>
                            <a:srgbClr val="000000"/>
                          </a:solidFill>
                          <a:latin typeface="Calibri" pitchFamily="34" charset="0"/>
                        </a:rPr>
                        <a:t>0.7652</a:t>
                      </a:r>
                    </a:p>
                  </a:txBody>
                  <a:tcPr marL="45720" marR="45720" marT="22860" marB="22860" anchor="ctr">
                    <a:solidFill>
                      <a:srgbClr val="FFFFFF"/>
                    </a:solidFill>
                  </a:tcPr>
                </a:tc>
                <a:extLst>
                  <a:ext uri="{0D108BD9-81ED-4DB2-BD59-A6C34878D82A}">
                    <a16:rowId xmlns:a16="http://schemas.microsoft.com/office/drawing/2014/main" val="10002"/>
                  </a:ext>
                </a:extLst>
              </a:tr>
              <a:tr h="330200">
                <a:tc>
                  <a:txBody>
                    <a:bodyPr/>
                    <a:lstStyle/>
                    <a:p>
                      <a:pPr algn="ctr"/>
                      <a:r>
                        <a:rPr lang="en-US" sz="1100" b="0" dirty="0">
                          <a:solidFill>
                            <a:srgbClr val="000000"/>
                          </a:solidFill>
                          <a:latin typeface="Calibri" pitchFamily="34" charset="0"/>
                        </a:rPr>
                        <a:t>Recall</a:t>
                      </a:r>
                    </a:p>
                  </a:txBody>
                  <a:tcPr marL="45720" marR="45720" marT="22860" marB="22860" anchor="ctr">
                    <a:solidFill>
                      <a:srgbClr val="FFFFFF"/>
                    </a:solidFill>
                  </a:tcPr>
                </a:tc>
                <a:tc>
                  <a:txBody>
                    <a:bodyPr/>
                    <a:lstStyle/>
                    <a:p>
                      <a:pPr algn="ctr"/>
                      <a:r>
                        <a:rPr lang="en-US" sz="1100" b="0" dirty="0">
                          <a:solidFill>
                            <a:srgbClr val="000000"/>
                          </a:solidFill>
                          <a:latin typeface="Calibri" pitchFamily="34" charset="0"/>
                        </a:rPr>
                        <a:t>0.8800</a:t>
                      </a:r>
                    </a:p>
                  </a:txBody>
                  <a:tcPr marL="45720" marR="45720" marT="22860" marB="22860" anchor="ctr">
                    <a:solidFill>
                      <a:srgbClr val="FFFFFF"/>
                    </a:solidFill>
                  </a:tcPr>
                </a:tc>
                <a:extLst>
                  <a:ext uri="{0D108BD9-81ED-4DB2-BD59-A6C34878D82A}">
                    <a16:rowId xmlns:a16="http://schemas.microsoft.com/office/drawing/2014/main" val="10003"/>
                  </a:ext>
                </a:extLst>
              </a:tr>
              <a:tr h="330200">
                <a:tc>
                  <a:txBody>
                    <a:bodyPr/>
                    <a:lstStyle/>
                    <a:p>
                      <a:pPr algn="ctr"/>
                      <a:r>
                        <a:rPr lang="en-US" sz="1100" b="0" dirty="0">
                          <a:solidFill>
                            <a:srgbClr val="000000"/>
                          </a:solidFill>
                          <a:latin typeface="Calibri" pitchFamily="34" charset="0"/>
                        </a:rPr>
                        <a:t>F1-Score</a:t>
                      </a:r>
                    </a:p>
                  </a:txBody>
                  <a:tcPr marL="45720" marR="45720" marT="22860" marB="22860" anchor="ctr">
                    <a:solidFill>
                      <a:srgbClr val="FFFFFF"/>
                    </a:solidFill>
                  </a:tcPr>
                </a:tc>
                <a:tc>
                  <a:txBody>
                    <a:bodyPr/>
                    <a:lstStyle/>
                    <a:p>
                      <a:pPr algn="ctr"/>
                      <a:r>
                        <a:rPr lang="en-US" sz="1100" b="0" dirty="0">
                          <a:solidFill>
                            <a:srgbClr val="000000"/>
                          </a:solidFill>
                          <a:latin typeface="Calibri" pitchFamily="34" charset="0"/>
                        </a:rPr>
                        <a:t>0.8186</a:t>
                      </a:r>
                    </a:p>
                  </a:txBody>
                  <a:tcPr marL="45720" marR="45720" marT="22860" marB="22860" anchor="ctr">
                    <a:solidFill>
                      <a:srgbClr val="FFFFFF"/>
                    </a:solidFill>
                  </a:tcPr>
                </a:tc>
                <a:extLst>
                  <a:ext uri="{0D108BD9-81ED-4DB2-BD59-A6C34878D82A}">
                    <a16:rowId xmlns:a16="http://schemas.microsoft.com/office/drawing/2014/main" val="10004"/>
                  </a:ext>
                </a:extLst>
              </a:tr>
              <a:tr h="330200">
                <a:tc>
                  <a:txBody>
                    <a:bodyPr/>
                    <a:lstStyle/>
                    <a:p>
                      <a:pPr algn="ctr"/>
                      <a:r>
                        <a:rPr lang="en-US" sz="1100" b="0" dirty="0">
                          <a:solidFill>
                            <a:srgbClr val="000000"/>
                          </a:solidFill>
                          <a:latin typeface="Calibri" pitchFamily="34" charset="0"/>
                        </a:rPr>
                        <a:t>ROC-AUC</a:t>
                      </a:r>
                    </a:p>
                  </a:txBody>
                  <a:tcPr marL="45720" marR="45720" marT="22860" marB="22860" anchor="ctr">
                    <a:solidFill>
                      <a:srgbClr val="FFFFFF"/>
                    </a:solidFill>
                  </a:tcPr>
                </a:tc>
                <a:tc>
                  <a:txBody>
                    <a:bodyPr/>
                    <a:lstStyle/>
                    <a:p>
                      <a:pPr algn="ctr"/>
                      <a:r>
                        <a:rPr lang="en-US" sz="1100" b="0" dirty="0">
                          <a:solidFill>
                            <a:srgbClr val="000000"/>
                          </a:solidFill>
                          <a:latin typeface="Calibri" pitchFamily="34" charset="0"/>
                        </a:rPr>
                        <a:t>0.8625</a:t>
                      </a:r>
                    </a:p>
                  </a:txBody>
                  <a:tcPr marL="45720" marR="45720" marT="22860" marB="22860"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67524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Support Vector Machine (SVM)</a:t>
            </a:r>
            <a:endParaRPr lang="en-US" sz="2800" dirty="0">
              <a:solidFill>
                <a:srgbClr val="002060"/>
              </a:solidFill>
            </a:endParaRPr>
          </a:p>
        </p:txBody>
      </p:sp>
      <p:sp>
        <p:nvSpPr>
          <p:cNvPr id="101" name="SVM Bullets"/>
          <p:cNvSpPr/>
          <p:nvPr/>
        </p:nvSpPr>
        <p:spPr>
          <a:xfrm>
            <a:off x="450000" y="1150000"/>
            <a:ext cx="6000000" cy="1400000"/>
          </a:xfrm>
          <a:prstGeom prst="rect">
            <a:avLst/>
          </a:prstGeom>
          <a:noFill/>
          <a:ln/>
        </p:spPr>
        <p:txBody>
          <a:bodyPr wrap="square" rtlCol="0" anchor="t">
            <a:normAutofit/>
          </a:bodyPr>
          <a:lstStyle/>
          <a:p>
            <a:pPr marL="285750" indent="-285750" algn="l">
              <a:spcBef>
                <a:spcPts val="1000"/>
              </a:spcBef>
              <a:buFont typeface="Arial" pitchFamily="34" charset="0"/>
              <a:buChar char="•"/>
            </a:pPr>
            <a:r>
              <a:rPr lang="en-US" sz="1600" dirty="0">
                <a:solidFill>
                  <a:srgbClr val="000000"/>
                </a:solidFill>
                <a:latin typeface="Calibri" pitchFamily="34" charset="0"/>
              </a:rPr>
              <a:t>Kernel comparison (Linear, RBF, Polynomial, Sigmoid) showed RBF performed best at default settings.</a:t>
            </a:r>
          </a:p>
          <a:p>
            <a:pPr marL="285750" indent="-285750" algn="l">
              <a:spcBef>
                <a:spcPts val="1000"/>
              </a:spcBef>
              <a:buFont typeface="Arial" pitchFamily="34" charset="0"/>
              <a:buChar char="•"/>
            </a:pPr>
            <a:r>
              <a:rPr lang="en-US" sz="1600" dirty="0">
                <a:solidFill>
                  <a:srgbClr val="000000"/>
                </a:solidFill>
                <a:latin typeface="Calibri" pitchFamily="34" charset="0"/>
              </a:rPr>
              <a:t>GridSearchCV tuned C ∈ {0.1,1,10,100} and gamma ∈ {0.01,0.1,1,10} → optimal: C=1, gamma=1 (CV accuracy 80.1%).</a:t>
            </a:r>
          </a:p>
        </p:txBody>
      </p:sp>
      <p:graphicFrame>
        <p:nvGraphicFramePr>
          <p:cNvPr id="102" name="SVM Metrics"/>
          <p:cNvGraphicFramePr>
            <a:graphicFrameLocks noGrp="1"/>
          </p:cNvGraphicFramePr>
          <p:nvPr/>
        </p:nvGraphicFramePr>
        <p:xfrm>
          <a:off x="450000" y="2750000"/>
          <a:ext cx="3200000" cy="2200000"/>
        </p:xfrm>
        <a:graphic>
          <a:graphicData uri="http://schemas.openxmlformats.org/drawingml/2006/table">
            <a:tbl>
              <a:tblPr firstRow="1" bandRow="1">
                <a:tableStyleId>{5C22544A-7EE6-4342-B048-85BDC9FD1C3A}</a:tableStyleId>
              </a:tblPr>
              <a:tblGrid>
                <a:gridCol w="1600000">
                  <a:extLst>
                    <a:ext uri="{9D8B030D-6E8A-4147-A177-3AD203B41FA5}">
                      <a16:colId xmlns:a16="http://schemas.microsoft.com/office/drawing/2014/main" val="20000"/>
                    </a:ext>
                  </a:extLst>
                </a:gridCol>
                <a:gridCol w="1600000">
                  <a:extLst>
                    <a:ext uri="{9D8B030D-6E8A-4147-A177-3AD203B41FA5}">
                      <a16:colId xmlns:a16="http://schemas.microsoft.com/office/drawing/2014/main" val="20001"/>
                    </a:ext>
                  </a:extLst>
                </a:gridCol>
              </a:tblGrid>
              <a:tr h="370840">
                <a:tc>
                  <a:txBody>
                    <a:bodyPr/>
                    <a:lstStyle/>
                    <a:p>
                      <a:pPr algn="ctr"/>
                      <a:r>
                        <a:rPr lang="en-US" sz="1400" b="1" dirty="0">
                          <a:solidFill>
                            <a:srgbClr val="FFFFFF"/>
                          </a:solidFill>
                          <a:latin typeface="Calibri" pitchFamily="34" charset="0"/>
                        </a:rPr>
                        <a:t>Metric</a:t>
                      </a:r>
                    </a:p>
                  </a:txBody>
                  <a:tcPr marL="45720" marR="45720" marT="22860" marB="22860" anchor="ctr">
                    <a:solidFill>
                      <a:srgbClr val="1F3864"/>
                    </a:solidFill>
                  </a:tcPr>
                </a:tc>
                <a:tc>
                  <a:txBody>
                    <a:bodyPr/>
                    <a:lstStyle/>
                    <a:p>
                      <a:pPr algn="ctr"/>
                      <a:r>
                        <a:rPr lang="en-US" sz="1400" b="1" dirty="0">
                          <a:solidFill>
                            <a:srgbClr val="FFFFFF"/>
                          </a:solidFill>
                          <a:latin typeface="Calibri" pitchFamily="34" charset="0"/>
                        </a:rPr>
                        <a:t>Value</a:t>
                      </a:r>
                    </a:p>
                  </a:txBody>
                  <a:tcPr marL="45720" marR="45720" marT="22860" marB="22860" anchor="ctr">
                    <a:solidFill>
                      <a:srgbClr val="1F3864"/>
                    </a:solidFill>
                  </a:tcPr>
                </a:tc>
                <a:extLst>
                  <a:ext uri="{0D108BD9-81ED-4DB2-BD59-A6C34878D82A}">
                    <a16:rowId xmlns:a16="http://schemas.microsoft.com/office/drawing/2014/main" val="10000"/>
                  </a:ext>
                </a:extLst>
              </a:tr>
              <a:tr h="330200">
                <a:tc>
                  <a:txBody>
                    <a:bodyPr/>
                    <a:lstStyle/>
                    <a:p>
                      <a:pPr algn="ctr"/>
                      <a:r>
                        <a:rPr lang="en-US" sz="1400" b="0" dirty="0">
                          <a:solidFill>
                            <a:srgbClr val="000000"/>
                          </a:solidFill>
                          <a:latin typeface="Calibri" pitchFamily="34" charset="0"/>
                        </a:rPr>
                        <a:t>Accuracy</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0.8100</a:t>
                      </a:r>
                    </a:p>
                  </a:txBody>
                  <a:tcPr marL="45720" marR="45720" marT="22860" marB="22860" anchor="ctr">
                    <a:solidFill>
                      <a:srgbClr val="FFFFFF"/>
                    </a:solidFill>
                  </a:tcPr>
                </a:tc>
                <a:extLst>
                  <a:ext uri="{0D108BD9-81ED-4DB2-BD59-A6C34878D82A}">
                    <a16:rowId xmlns:a16="http://schemas.microsoft.com/office/drawing/2014/main" val="10001"/>
                  </a:ext>
                </a:extLst>
              </a:tr>
              <a:tr h="330200">
                <a:tc>
                  <a:txBody>
                    <a:bodyPr/>
                    <a:lstStyle/>
                    <a:p>
                      <a:pPr algn="ctr"/>
                      <a:r>
                        <a:rPr lang="en-US" sz="1400" b="0" dirty="0">
                          <a:solidFill>
                            <a:srgbClr val="000000"/>
                          </a:solidFill>
                          <a:latin typeface="Calibri" pitchFamily="34" charset="0"/>
                        </a:rPr>
                        <a:t>Precision</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0.8100</a:t>
                      </a:r>
                    </a:p>
                  </a:txBody>
                  <a:tcPr marL="45720" marR="45720" marT="22860" marB="22860" anchor="ctr">
                    <a:solidFill>
                      <a:srgbClr val="FFFFFF"/>
                    </a:solidFill>
                  </a:tcPr>
                </a:tc>
                <a:extLst>
                  <a:ext uri="{0D108BD9-81ED-4DB2-BD59-A6C34878D82A}">
                    <a16:rowId xmlns:a16="http://schemas.microsoft.com/office/drawing/2014/main" val="10002"/>
                  </a:ext>
                </a:extLst>
              </a:tr>
              <a:tr h="330200">
                <a:tc>
                  <a:txBody>
                    <a:bodyPr/>
                    <a:lstStyle/>
                    <a:p>
                      <a:pPr algn="ctr"/>
                      <a:r>
                        <a:rPr lang="en-US" sz="1400" b="0" dirty="0">
                          <a:solidFill>
                            <a:srgbClr val="000000"/>
                          </a:solidFill>
                          <a:latin typeface="Calibri" pitchFamily="34" charset="0"/>
                        </a:rPr>
                        <a:t>Recall</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0.8100</a:t>
                      </a:r>
                    </a:p>
                  </a:txBody>
                  <a:tcPr marL="45720" marR="45720" marT="22860" marB="22860" anchor="ctr">
                    <a:solidFill>
                      <a:srgbClr val="FFFFFF"/>
                    </a:solidFill>
                  </a:tcPr>
                </a:tc>
                <a:extLst>
                  <a:ext uri="{0D108BD9-81ED-4DB2-BD59-A6C34878D82A}">
                    <a16:rowId xmlns:a16="http://schemas.microsoft.com/office/drawing/2014/main" val="10003"/>
                  </a:ext>
                </a:extLst>
              </a:tr>
              <a:tr h="330200">
                <a:tc>
                  <a:txBody>
                    <a:bodyPr/>
                    <a:lstStyle/>
                    <a:p>
                      <a:pPr algn="ctr"/>
                      <a:r>
                        <a:rPr lang="en-US" sz="1400" b="0" dirty="0">
                          <a:solidFill>
                            <a:srgbClr val="000000"/>
                          </a:solidFill>
                          <a:latin typeface="Calibri" pitchFamily="34" charset="0"/>
                        </a:rPr>
                        <a:t>F1-Score</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0.8100</a:t>
                      </a:r>
                    </a:p>
                  </a:txBody>
                  <a:tcPr marL="45720" marR="45720" marT="22860" marB="22860" anchor="ctr">
                    <a:solidFill>
                      <a:srgbClr val="FFFFFF"/>
                    </a:solidFill>
                  </a:tcPr>
                </a:tc>
                <a:extLst>
                  <a:ext uri="{0D108BD9-81ED-4DB2-BD59-A6C34878D82A}">
                    <a16:rowId xmlns:a16="http://schemas.microsoft.com/office/drawing/2014/main" val="10004"/>
                  </a:ext>
                </a:extLst>
              </a:tr>
              <a:tr h="330200">
                <a:tc>
                  <a:txBody>
                    <a:bodyPr/>
                    <a:lstStyle/>
                    <a:p>
                      <a:pPr algn="ctr"/>
                      <a:r>
                        <a:rPr lang="en-US" sz="1400" b="0" dirty="0">
                          <a:solidFill>
                            <a:srgbClr val="000000"/>
                          </a:solidFill>
                          <a:latin typeface="Calibri" pitchFamily="34" charset="0"/>
                        </a:rPr>
                        <a:t>ROC-AUC</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0.8928</a:t>
                      </a:r>
                    </a:p>
                  </a:txBody>
                  <a:tcPr marL="45720" marR="45720" marT="22860" marB="22860" anchor="ctr">
                    <a:solidFill>
                      <a:srgbClr val="FFFFFF"/>
                    </a:solidFill>
                  </a:tcPr>
                </a:tc>
                <a:extLst>
                  <a:ext uri="{0D108BD9-81ED-4DB2-BD59-A6C34878D82A}">
                    <a16:rowId xmlns:a16="http://schemas.microsoft.com/office/drawing/2014/main" val="10005"/>
                  </a:ext>
                </a:extLst>
              </a:tr>
            </a:tbl>
          </a:graphicData>
        </a:graphic>
      </p:graphicFrame>
      <p:pic>
        <p:nvPicPr>
          <p:cNvPr id="103" name="CM SVM"/>
          <p:cNvPicPr>
            <a:picLocks noChangeAspect="1"/>
          </p:cNvPicPr>
          <p:nvPr/>
        </p:nvPicPr>
        <p:blipFill>
          <a:blip r:embed="rId4"/>
          <a:stretch>
            <a:fillRect/>
          </a:stretch>
        </p:blipFill>
        <p:spPr>
          <a:xfrm>
            <a:off x="4100000" y="2750000"/>
            <a:ext cx="3700000" cy="3479000"/>
          </a:xfrm>
          <a:prstGeom prst="rect">
            <a:avLst/>
          </a:prstGeom>
        </p:spPr>
      </p:pic>
    </p:spTree>
    <p:extLst>
      <p:ext uri="{BB962C8B-B14F-4D97-AF65-F5344CB8AC3E}">
        <p14:creationId xmlns:p14="http://schemas.microsoft.com/office/powerpoint/2010/main" val="3467524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Decision Tree</a:t>
            </a:r>
            <a:endParaRPr lang="en-US" sz="2800" dirty="0">
              <a:solidFill>
                <a:srgbClr val="002060"/>
              </a:solidFill>
            </a:endParaRPr>
          </a:p>
        </p:txBody>
      </p:sp>
      <p:pic>
        <p:nvPicPr>
          <p:cNvPr id="101" name="Tree Viz"/>
          <p:cNvPicPr>
            <a:picLocks noChangeAspect="1"/>
          </p:cNvPicPr>
          <p:nvPr/>
        </p:nvPicPr>
        <p:blipFill>
          <a:blip r:embed="rId4"/>
          <a:stretch>
            <a:fillRect/>
          </a:stretch>
        </p:blipFill>
        <p:spPr>
          <a:xfrm>
            <a:off x="350000" y="1150000"/>
            <a:ext cx="6900000" cy="3577000"/>
          </a:xfrm>
          <a:prstGeom prst="rect">
            <a:avLst/>
          </a:prstGeom>
        </p:spPr>
      </p:pic>
      <p:pic>
        <p:nvPicPr>
          <p:cNvPr id="102" name="Feature Importance"/>
          <p:cNvPicPr>
            <a:picLocks noChangeAspect="1"/>
          </p:cNvPicPr>
          <p:nvPr/>
        </p:nvPicPr>
        <p:blipFill>
          <a:blip r:embed="rId5"/>
          <a:stretch>
            <a:fillRect/>
          </a:stretch>
        </p:blipFill>
        <p:spPr>
          <a:xfrm>
            <a:off x="7450000" y="1150000"/>
            <a:ext cx="4500000" cy="2537000"/>
          </a:xfrm>
          <a:prstGeom prst="rect">
            <a:avLst/>
          </a:prstGeom>
        </p:spPr>
      </p:pic>
      <p:sp>
        <p:nvSpPr>
          <p:cNvPr id="104" name="Note"/>
          <p:cNvSpPr/>
          <p:nvPr/>
        </p:nvSpPr>
        <p:spPr>
          <a:xfrm>
            <a:off x="350000" y="4850000"/>
            <a:ext cx="6900000" cy="1600000"/>
          </a:xfrm>
          <a:prstGeom prst="rect">
            <a:avLst/>
          </a:prstGeom>
          <a:noFill/>
        </p:spPr>
        <p:txBody>
          <a:bodyPr wrap="square" anchor="t"/>
          <a:lstStyle/>
          <a:p>
            <a:r>
              <a:rPr lang="en-US" sz="1400" dirty="0">
                <a:solidFill>
                  <a:srgbClr val="000000"/>
                </a:solidFill>
                <a:latin typeface="Calibri"/>
              </a:rPr>
              <a:t>Cost-complexity pruning (ccp_alpha=0.0031) controlled overfitting. Feature importance is concentrated in Glucose (48%), BMI (21%), and Age (18%) — together over 87% of decision weight.</a:t>
            </a:r>
          </a:p>
        </p:txBody>
      </p:sp>
      <p:graphicFrame>
        <p:nvGraphicFramePr>
          <p:cNvPr id="103" name="DT Metrics"/>
          <p:cNvGraphicFramePr>
            <a:graphicFrameLocks noGrp="1"/>
          </p:cNvGraphicFramePr>
          <p:nvPr/>
        </p:nvGraphicFramePr>
        <p:xfrm>
          <a:off x="7450000" y="3900000"/>
          <a:ext cx="4500000" cy="1900000"/>
        </p:xfrm>
        <a:graphic>
          <a:graphicData uri="http://schemas.openxmlformats.org/drawingml/2006/table">
            <a:tbl>
              <a:tblPr firstRow="1" bandRow="1">
                <a:tableStyleId>{5C22544A-7EE6-4342-B048-85BDC9FD1C3A}</a:tableStyleId>
              </a:tblPr>
              <a:tblGrid>
                <a:gridCol w="2250000">
                  <a:extLst>
                    <a:ext uri="{9D8B030D-6E8A-4147-A177-3AD203B41FA5}">
                      <a16:colId xmlns:a16="http://schemas.microsoft.com/office/drawing/2014/main" val="20000"/>
                    </a:ext>
                  </a:extLst>
                </a:gridCol>
                <a:gridCol w="2250000">
                  <a:extLst>
                    <a:ext uri="{9D8B030D-6E8A-4147-A177-3AD203B41FA5}">
                      <a16:colId xmlns:a16="http://schemas.microsoft.com/office/drawing/2014/main" val="20001"/>
                    </a:ext>
                  </a:extLst>
                </a:gridCol>
              </a:tblGrid>
              <a:tr h="370840">
                <a:tc>
                  <a:txBody>
                    <a:bodyPr/>
                    <a:lstStyle/>
                    <a:p>
                      <a:pPr algn="ctr"/>
                      <a:r>
                        <a:rPr lang="en-US" sz="1300" b="1" dirty="0">
                          <a:solidFill>
                            <a:srgbClr val="FFFFFF"/>
                          </a:solidFill>
                          <a:latin typeface="Calibri" pitchFamily="34" charset="0"/>
                        </a:rPr>
                        <a:t>Metric</a:t>
                      </a:r>
                    </a:p>
                  </a:txBody>
                  <a:tcPr marL="45720" marR="45720" marT="22860" marB="22860" anchor="ctr">
                    <a:solidFill>
                      <a:srgbClr val="1F3864"/>
                    </a:solidFill>
                  </a:tcPr>
                </a:tc>
                <a:tc>
                  <a:txBody>
                    <a:bodyPr/>
                    <a:lstStyle/>
                    <a:p>
                      <a:pPr algn="ctr"/>
                      <a:r>
                        <a:rPr lang="en-US" sz="1300" b="1" dirty="0">
                          <a:solidFill>
                            <a:srgbClr val="FFFFFF"/>
                          </a:solidFill>
                          <a:latin typeface="Calibri" pitchFamily="34" charset="0"/>
                        </a:rPr>
                        <a:t>Value</a:t>
                      </a:r>
                    </a:p>
                  </a:txBody>
                  <a:tcPr marL="45720" marR="45720" marT="22860" marB="22860" anchor="ctr">
                    <a:solidFill>
                      <a:srgbClr val="1F3864"/>
                    </a:solidFill>
                  </a:tcPr>
                </a:tc>
                <a:extLst>
                  <a:ext uri="{0D108BD9-81ED-4DB2-BD59-A6C34878D82A}">
                    <a16:rowId xmlns:a16="http://schemas.microsoft.com/office/drawing/2014/main" val="10000"/>
                  </a:ext>
                </a:extLst>
              </a:tr>
              <a:tr h="330200">
                <a:tc>
                  <a:txBody>
                    <a:bodyPr/>
                    <a:lstStyle/>
                    <a:p>
                      <a:pPr algn="ctr"/>
                      <a:r>
                        <a:rPr lang="en-US" sz="1300" b="0" dirty="0">
                          <a:solidFill>
                            <a:srgbClr val="000000"/>
                          </a:solidFill>
                          <a:latin typeface="Calibri" pitchFamily="34" charset="0"/>
                        </a:rPr>
                        <a:t>Accuracy</a:t>
                      </a:r>
                    </a:p>
                  </a:txBody>
                  <a:tcPr marL="45720" marR="45720" marT="22860" marB="22860" anchor="ctr">
                    <a:solidFill>
                      <a:srgbClr val="FFFFFF"/>
                    </a:solidFill>
                  </a:tcPr>
                </a:tc>
                <a:tc>
                  <a:txBody>
                    <a:bodyPr/>
                    <a:lstStyle/>
                    <a:p>
                      <a:pPr algn="ctr"/>
                      <a:r>
                        <a:rPr lang="en-US" sz="1300" b="0" dirty="0">
                          <a:solidFill>
                            <a:srgbClr val="000000"/>
                          </a:solidFill>
                          <a:latin typeface="Calibri" pitchFamily="34" charset="0"/>
                        </a:rPr>
                        <a:t>0.8300</a:t>
                      </a:r>
                    </a:p>
                  </a:txBody>
                  <a:tcPr marL="45720" marR="45720" marT="22860" marB="22860" anchor="ctr">
                    <a:solidFill>
                      <a:srgbClr val="FFFFFF"/>
                    </a:solidFill>
                  </a:tcPr>
                </a:tc>
                <a:extLst>
                  <a:ext uri="{0D108BD9-81ED-4DB2-BD59-A6C34878D82A}">
                    <a16:rowId xmlns:a16="http://schemas.microsoft.com/office/drawing/2014/main" val="10001"/>
                  </a:ext>
                </a:extLst>
              </a:tr>
              <a:tr h="330200">
                <a:tc>
                  <a:txBody>
                    <a:bodyPr/>
                    <a:lstStyle/>
                    <a:p>
                      <a:pPr algn="ctr"/>
                      <a:r>
                        <a:rPr lang="en-US" sz="1300" b="0" dirty="0">
                          <a:solidFill>
                            <a:srgbClr val="000000"/>
                          </a:solidFill>
                          <a:latin typeface="Calibri" pitchFamily="34" charset="0"/>
                        </a:rPr>
                        <a:t>Precision</a:t>
                      </a:r>
                    </a:p>
                  </a:txBody>
                  <a:tcPr marL="45720" marR="45720" marT="22860" marB="22860" anchor="ctr">
                    <a:solidFill>
                      <a:srgbClr val="FFFFFF"/>
                    </a:solidFill>
                  </a:tcPr>
                </a:tc>
                <a:tc>
                  <a:txBody>
                    <a:bodyPr/>
                    <a:lstStyle/>
                    <a:p>
                      <a:pPr algn="ctr"/>
                      <a:r>
                        <a:rPr lang="en-US" sz="1300" b="0" dirty="0">
                          <a:solidFill>
                            <a:srgbClr val="000000"/>
                          </a:solidFill>
                          <a:latin typeface="Calibri" pitchFamily="34" charset="0"/>
                        </a:rPr>
                        <a:t>0.8173</a:t>
                      </a:r>
                    </a:p>
                  </a:txBody>
                  <a:tcPr marL="45720" marR="45720" marT="22860" marB="22860" anchor="ctr">
                    <a:solidFill>
                      <a:srgbClr val="FFFFFF"/>
                    </a:solidFill>
                  </a:tcPr>
                </a:tc>
                <a:extLst>
                  <a:ext uri="{0D108BD9-81ED-4DB2-BD59-A6C34878D82A}">
                    <a16:rowId xmlns:a16="http://schemas.microsoft.com/office/drawing/2014/main" val="10002"/>
                  </a:ext>
                </a:extLst>
              </a:tr>
              <a:tr h="330200">
                <a:tc>
                  <a:txBody>
                    <a:bodyPr/>
                    <a:lstStyle/>
                    <a:p>
                      <a:pPr algn="ctr"/>
                      <a:r>
                        <a:rPr lang="en-US" sz="1300" b="0" dirty="0">
                          <a:solidFill>
                            <a:srgbClr val="000000"/>
                          </a:solidFill>
                          <a:latin typeface="Calibri" pitchFamily="34" charset="0"/>
                        </a:rPr>
                        <a:t>Recall</a:t>
                      </a:r>
                    </a:p>
                  </a:txBody>
                  <a:tcPr marL="45720" marR="45720" marT="22860" marB="22860" anchor="ctr">
                    <a:solidFill>
                      <a:srgbClr val="FFFFFF"/>
                    </a:solidFill>
                  </a:tcPr>
                </a:tc>
                <a:tc>
                  <a:txBody>
                    <a:bodyPr/>
                    <a:lstStyle/>
                    <a:p>
                      <a:pPr algn="ctr"/>
                      <a:r>
                        <a:rPr lang="en-US" sz="1300" b="0" dirty="0">
                          <a:solidFill>
                            <a:srgbClr val="000000"/>
                          </a:solidFill>
                          <a:latin typeface="Calibri" pitchFamily="34" charset="0"/>
                        </a:rPr>
                        <a:t>0.8500</a:t>
                      </a:r>
                    </a:p>
                  </a:txBody>
                  <a:tcPr marL="45720" marR="45720" marT="22860" marB="22860" anchor="ctr">
                    <a:solidFill>
                      <a:srgbClr val="FFFFFF"/>
                    </a:solidFill>
                  </a:tcPr>
                </a:tc>
                <a:extLst>
                  <a:ext uri="{0D108BD9-81ED-4DB2-BD59-A6C34878D82A}">
                    <a16:rowId xmlns:a16="http://schemas.microsoft.com/office/drawing/2014/main" val="10003"/>
                  </a:ext>
                </a:extLst>
              </a:tr>
              <a:tr h="330200">
                <a:tc>
                  <a:txBody>
                    <a:bodyPr/>
                    <a:lstStyle/>
                    <a:p>
                      <a:pPr algn="ctr"/>
                      <a:r>
                        <a:rPr lang="en-US" sz="1300" b="0" dirty="0">
                          <a:solidFill>
                            <a:srgbClr val="000000"/>
                          </a:solidFill>
                          <a:latin typeface="Calibri" pitchFamily="34" charset="0"/>
                        </a:rPr>
                        <a:t>F1-Score</a:t>
                      </a:r>
                    </a:p>
                  </a:txBody>
                  <a:tcPr marL="45720" marR="45720" marT="22860" marB="22860" anchor="ctr">
                    <a:solidFill>
                      <a:srgbClr val="FFFFFF"/>
                    </a:solidFill>
                  </a:tcPr>
                </a:tc>
                <a:tc>
                  <a:txBody>
                    <a:bodyPr/>
                    <a:lstStyle/>
                    <a:p>
                      <a:pPr algn="ctr"/>
                      <a:r>
                        <a:rPr lang="en-US" sz="1300" b="0" dirty="0">
                          <a:solidFill>
                            <a:srgbClr val="000000"/>
                          </a:solidFill>
                          <a:latin typeface="Calibri" pitchFamily="34" charset="0"/>
                        </a:rPr>
                        <a:t>0.8333</a:t>
                      </a:r>
                    </a:p>
                  </a:txBody>
                  <a:tcPr marL="45720" marR="45720" marT="22860" marB="22860" anchor="ctr">
                    <a:solidFill>
                      <a:srgbClr val="FFFFFF"/>
                    </a:solidFill>
                  </a:tcPr>
                </a:tc>
                <a:extLst>
                  <a:ext uri="{0D108BD9-81ED-4DB2-BD59-A6C34878D82A}">
                    <a16:rowId xmlns:a16="http://schemas.microsoft.com/office/drawing/2014/main" val="10004"/>
                  </a:ext>
                </a:extLst>
              </a:tr>
              <a:tr h="330200">
                <a:tc>
                  <a:txBody>
                    <a:bodyPr/>
                    <a:lstStyle/>
                    <a:p>
                      <a:pPr algn="ctr"/>
                      <a:r>
                        <a:rPr lang="en-US" sz="1300" b="0" dirty="0">
                          <a:solidFill>
                            <a:srgbClr val="000000"/>
                          </a:solidFill>
                          <a:latin typeface="Calibri" pitchFamily="34" charset="0"/>
                        </a:rPr>
                        <a:t>ROC-AUC</a:t>
                      </a:r>
                    </a:p>
                  </a:txBody>
                  <a:tcPr marL="45720" marR="45720" marT="22860" marB="22860" anchor="ctr">
                    <a:solidFill>
                      <a:srgbClr val="FFFFFF"/>
                    </a:solidFill>
                  </a:tcPr>
                </a:tc>
                <a:tc>
                  <a:txBody>
                    <a:bodyPr/>
                    <a:lstStyle/>
                    <a:p>
                      <a:pPr algn="ctr"/>
                      <a:r>
                        <a:rPr lang="en-US" sz="1300" b="0" dirty="0">
                          <a:solidFill>
                            <a:srgbClr val="000000"/>
                          </a:solidFill>
                          <a:latin typeface="Calibri" pitchFamily="34" charset="0"/>
                        </a:rPr>
                        <a:t>0.8530</a:t>
                      </a:r>
                    </a:p>
                  </a:txBody>
                  <a:tcPr marL="45720" marR="45720" marT="22860" marB="22860"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67524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Random Forest</a:t>
            </a:r>
            <a:endParaRPr lang="en-US" sz="2800" dirty="0">
              <a:solidFill>
                <a:srgbClr val="002060"/>
              </a:solidFill>
            </a:endParaRPr>
          </a:p>
        </p:txBody>
      </p:sp>
      <p:pic>
        <p:nvPicPr>
          <p:cNvPr id="101" name="Feature Importance RF"/>
          <p:cNvPicPr>
            <a:picLocks noChangeAspect="1"/>
          </p:cNvPicPr>
          <p:nvPr/>
        </p:nvPicPr>
        <p:blipFill>
          <a:blip r:embed="rId4"/>
          <a:stretch>
            <a:fillRect/>
          </a:stretch>
        </p:blipFill>
        <p:spPr>
          <a:xfrm>
            <a:off x="350000" y="1150000"/>
            <a:ext cx="5700000" cy="3216000"/>
          </a:xfrm>
          <a:prstGeom prst="rect">
            <a:avLst/>
          </a:prstGeom>
        </p:spPr>
      </p:pic>
      <p:pic>
        <p:nvPicPr>
          <p:cNvPr id="102" name="OOB Error"/>
          <p:cNvPicPr>
            <a:picLocks noChangeAspect="1"/>
          </p:cNvPicPr>
          <p:nvPr/>
        </p:nvPicPr>
        <p:blipFill>
          <a:blip r:embed="rId5"/>
          <a:stretch>
            <a:fillRect/>
          </a:stretch>
        </p:blipFill>
        <p:spPr>
          <a:xfrm>
            <a:off x="6250000" y="1150000"/>
            <a:ext cx="5600000" cy="3612000"/>
          </a:xfrm>
          <a:prstGeom prst="rect">
            <a:avLst/>
          </a:prstGeom>
        </p:spPr>
      </p:pic>
      <p:sp>
        <p:nvSpPr>
          <p:cNvPr id="104" name="Note"/>
          <p:cNvSpPr/>
          <p:nvPr/>
        </p:nvSpPr>
        <p:spPr>
          <a:xfrm>
            <a:off x="6250000" y="4950000"/>
            <a:ext cx="5600000" cy="1500000"/>
          </a:xfrm>
          <a:prstGeom prst="rect">
            <a:avLst/>
          </a:prstGeom>
          <a:noFill/>
        </p:spPr>
        <p:txBody>
          <a:bodyPr wrap="square" anchor="t"/>
          <a:lstStyle/>
          <a:p>
            <a:r>
              <a:rPr lang="en-US" sz="1400" dirty="0">
                <a:solidFill>
                  <a:srgbClr val="000000"/>
                </a:solidFill>
                <a:latin typeface="Calibri"/>
              </a:rPr>
              <a:t>Best overall model: 83.5% accuracy, 0.903 ROC-AUC. OOB error stabilizes quickly, confirming minimal overfitting.</a:t>
            </a:r>
          </a:p>
        </p:txBody>
      </p:sp>
      <p:graphicFrame>
        <p:nvGraphicFramePr>
          <p:cNvPr id="103" name="RF Metrics"/>
          <p:cNvGraphicFramePr>
            <a:graphicFrameLocks noGrp="1"/>
          </p:cNvGraphicFramePr>
          <p:nvPr/>
        </p:nvGraphicFramePr>
        <p:xfrm>
          <a:off x="350000" y="4550000"/>
          <a:ext cx="5700000" cy="1900000"/>
        </p:xfrm>
        <a:graphic>
          <a:graphicData uri="http://schemas.openxmlformats.org/drawingml/2006/table">
            <a:tbl>
              <a:tblPr firstRow="1" bandRow="1">
                <a:tableStyleId>{5C22544A-7EE6-4342-B048-85BDC9FD1C3A}</a:tableStyleId>
              </a:tblPr>
              <a:tblGrid>
                <a:gridCol w="2850000">
                  <a:extLst>
                    <a:ext uri="{9D8B030D-6E8A-4147-A177-3AD203B41FA5}">
                      <a16:colId xmlns:a16="http://schemas.microsoft.com/office/drawing/2014/main" val="20000"/>
                    </a:ext>
                  </a:extLst>
                </a:gridCol>
                <a:gridCol w="2850000">
                  <a:extLst>
                    <a:ext uri="{9D8B030D-6E8A-4147-A177-3AD203B41FA5}">
                      <a16:colId xmlns:a16="http://schemas.microsoft.com/office/drawing/2014/main" val="20001"/>
                    </a:ext>
                  </a:extLst>
                </a:gridCol>
              </a:tblGrid>
              <a:tr h="370840">
                <a:tc>
                  <a:txBody>
                    <a:bodyPr/>
                    <a:lstStyle/>
                    <a:p>
                      <a:pPr algn="ctr"/>
                      <a:r>
                        <a:rPr lang="en-US" sz="1400" b="1" dirty="0">
                          <a:solidFill>
                            <a:srgbClr val="FFFFFF"/>
                          </a:solidFill>
                          <a:latin typeface="Calibri" pitchFamily="34" charset="0"/>
                        </a:rPr>
                        <a:t>Metric</a:t>
                      </a:r>
                    </a:p>
                  </a:txBody>
                  <a:tcPr marL="45720" marR="45720" marT="22860" marB="22860" anchor="ctr">
                    <a:solidFill>
                      <a:srgbClr val="1F3864"/>
                    </a:solidFill>
                  </a:tcPr>
                </a:tc>
                <a:tc>
                  <a:txBody>
                    <a:bodyPr/>
                    <a:lstStyle/>
                    <a:p>
                      <a:pPr algn="ctr"/>
                      <a:r>
                        <a:rPr lang="en-US" sz="1400" b="1" dirty="0">
                          <a:solidFill>
                            <a:srgbClr val="FFFFFF"/>
                          </a:solidFill>
                          <a:latin typeface="Calibri" pitchFamily="34" charset="0"/>
                        </a:rPr>
                        <a:t>Value</a:t>
                      </a:r>
                    </a:p>
                  </a:txBody>
                  <a:tcPr marL="45720" marR="45720" marT="22860" marB="22860" anchor="ctr">
                    <a:solidFill>
                      <a:srgbClr val="1F3864"/>
                    </a:solidFill>
                  </a:tcPr>
                </a:tc>
                <a:extLst>
                  <a:ext uri="{0D108BD9-81ED-4DB2-BD59-A6C34878D82A}">
                    <a16:rowId xmlns:a16="http://schemas.microsoft.com/office/drawing/2014/main" val="10000"/>
                  </a:ext>
                </a:extLst>
              </a:tr>
              <a:tr h="330200">
                <a:tc>
                  <a:txBody>
                    <a:bodyPr/>
                    <a:lstStyle/>
                    <a:p>
                      <a:pPr algn="ctr"/>
                      <a:r>
                        <a:rPr lang="en-US" sz="1400" b="0" dirty="0">
                          <a:solidFill>
                            <a:srgbClr val="000000"/>
                          </a:solidFill>
                          <a:latin typeface="Calibri" pitchFamily="34" charset="0"/>
                        </a:rPr>
                        <a:t>Accuracy</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0.8350</a:t>
                      </a:r>
                    </a:p>
                  </a:txBody>
                  <a:tcPr marL="45720" marR="45720" marT="22860" marB="22860" anchor="ctr">
                    <a:solidFill>
                      <a:srgbClr val="FFFFFF"/>
                    </a:solidFill>
                  </a:tcPr>
                </a:tc>
                <a:extLst>
                  <a:ext uri="{0D108BD9-81ED-4DB2-BD59-A6C34878D82A}">
                    <a16:rowId xmlns:a16="http://schemas.microsoft.com/office/drawing/2014/main" val="10001"/>
                  </a:ext>
                </a:extLst>
              </a:tr>
              <a:tr h="330200">
                <a:tc>
                  <a:txBody>
                    <a:bodyPr/>
                    <a:lstStyle/>
                    <a:p>
                      <a:pPr algn="ctr"/>
                      <a:r>
                        <a:rPr lang="en-US" sz="1400" b="0" dirty="0">
                          <a:solidFill>
                            <a:srgbClr val="000000"/>
                          </a:solidFill>
                          <a:latin typeface="Calibri" pitchFamily="34" charset="0"/>
                        </a:rPr>
                        <a:t>Precision</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0.8190</a:t>
                      </a:r>
                    </a:p>
                  </a:txBody>
                  <a:tcPr marL="45720" marR="45720" marT="22860" marB="22860" anchor="ctr">
                    <a:solidFill>
                      <a:srgbClr val="FFFFFF"/>
                    </a:solidFill>
                  </a:tcPr>
                </a:tc>
                <a:extLst>
                  <a:ext uri="{0D108BD9-81ED-4DB2-BD59-A6C34878D82A}">
                    <a16:rowId xmlns:a16="http://schemas.microsoft.com/office/drawing/2014/main" val="10002"/>
                  </a:ext>
                </a:extLst>
              </a:tr>
              <a:tr h="330200">
                <a:tc>
                  <a:txBody>
                    <a:bodyPr/>
                    <a:lstStyle/>
                    <a:p>
                      <a:pPr algn="ctr"/>
                      <a:r>
                        <a:rPr lang="en-US" sz="1400" b="0" dirty="0">
                          <a:solidFill>
                            <a:srgbClr val="000000"/>
                          </a:solidFill>
                          <a:latin typeface="Calibri" pitchFamily="34" charset="0"/>
                        </a:rPr>
                        <a:t>Recall</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0.8600</a:t>
                      </a:r>
                    </a:p>
                  </a:txBody>
                  <a:tcPr marL="45720" marR="45720" marT="22860" marB="22860" anchor="ctr">
                    <a:solidFill>
                      <a:srgbClr val="FFFFFF"/>
                    </a:solidFill>
                  </a:tcPr>
                </a:tc>
                <a:extLst>
                  <a:ext uri="{0D108BD9-81ED-4DB2-BD59-A6C34878D82A}">
                    <a16:rowId xmlns:a16="http://schemas.microsoft.com/office/drawing/2014/main" val="10003"/>
                  </a:ext>
                </a:extLst>
              </a:tr>
              <a:tr h="330200">
                <a:tc>
                  <a:txBody>
                    <a:bodyPr/>
                    <a:lstStyle/>
                    <a:p>
                      <a:pPr algn="ctr"/>
                      <a:r>
                        <a:rPr lang="en-US" sz="1400" b="0" dirty="0">
                          <a:solidFill>
                            <a:srgbClr val="000000"/>
                          </a:solidFill>
                          <a:latin typeface="Calibri" pitchFamily="34" charset="0"/>
                        </a:rPr>
                        <a:t>F1-Score</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0.8390</a:t>
                      </a:r>
                    </a:p>
                  </a:txBody>
                  <a:tcPr marL="45720" marR="45720" marT="22860" marB="22860" anchor="ctr">
                    <a:solidFill>
                      <a:srgbClr val="FFFFFF"/>
                    </a:solidFill>
                  </a:tcPr>
                </a:tc>
                <a:extLst>
                  <a:ext uri="{0D108BD9-81ED-4DB2-BD59-A6C34878D82A}">
                    <a16:rowId xmlns:a16="http://schemas.microsoft.com/office/drawing/2014/main" val="10004"/>
                  </a:ext>
                </a:extLst>
              </a:tr>
              <a:tr h="330200">
                <a:tc>
                  <a:txBody>
                    <a:bodyPr/>
                    <a:lstStyle/>
                    <a:p>
                      <a:pPr algn="ctr"/>
                      <a:r>
                        <a:rPr lang="en-US" sz="1400" b="0" dirty="0">
                          <a:solidFill>
                            <a:srgbClr val="000000"/>
                          </a:solidFill>
                          <a:latin typeface="Calibri" pitchFamily="34" charset="0"/>
                        </a:rPr>
                        <a:t>ROC-AUC</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0.9027</a:t>
                      </a:r>
                    </a:p>
                  </a:txBody>
                  <a:tcPr marL="45720" marR="45720" marT="22860" marB="22860"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67524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Model Comparison: Metrics</a:t>
            </a:r>
            <a:endParaRPr lang="en-US" sz="2800" dirty="0">
              <a:solidFill>
                <a:srgbClr val="002060"/>
              </a:solidFill>
            </a:endParaRPr>
          </a:p>
        </p:txBody>
      </p:sp>
      <p:graphicFrame>
        <p:nvGraphicFramePr>
          <p:cNvPr id="101" name="Metrics Table"/>
          <p:cNvGraphicFramePr>
            <a:graphicFrameLocks noGrp="1"/>
          </p:cNvGraphicFramePr>
          <p:nvPr/>
        </p:nvGraphicFramePr>
        <p:xfrm>
          <a:off x="700000" y="1500000"/>
          <a:ext cx="10800000" cy="2400000"/>
        </p:xfrm>
        <a:graphic>
          <a:graphicData uri="http://schemas.openxmlformats.org/drawingml/2006/table">
            <a:tbl>
              <a:tblPr firstRow="1" bandRow="1">
                <a:tableStyleId>{5C22544A-7EE6-4342-B048-85BDC9FD1C3A}</a:tableStyleId>
              </a:tblPr>
              <a:tblGrid>
                <a:gridCol w="18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gridCol w="1800000">
                  <a:extLst>
                    <a:ext uri="{9D8B030D-6E8A-4147-A177-3AD203B41FA5}">
                      <a16:colId xmlns:a16="http://schemas.microsoft.com/office/drawing/2014/main" val="20003"/>
                    </a:ext>
                  </a:extLst>
                </a:gridCol>
                <a:gridCol w="1800000">
                  <a:extLst>
                    <a:ext uri="{9D8B030D-6E8A-4147-A177-3AD203B41FA5}">
                      <a16:colId xmlns:a16="http://schemas.microsoft.com/office/drawing/2014/main" val="20004"/>
                    </a:ext>
                  </a:extLst>
                </a:gridCol>
                <a:gridCol w="1800000">
                  <a:extLst>
                    <a:ext uri="{9D8B030D-6E8A-4147-A177-3AD203B41FA5}">
                      <a16:colId xmlns:a16="http://schemas.microsoft.com/office/drawing/2014/main" val="20005"/>
                    </a:ext>
                  </a:extLst>
                </a:gridCol>
              </a:tblGrid>
              <a:tr h="370840">
                <a:tc>
                  <a:txBody>
                    <a:bodyPr/>
                    <a:lstStyle/>
                    <a:p>
                      <a:pPr algn="ctr"/>
                      <a:r>
                        <a:rPr lang="en-US" sz="1700" b="1" dirty="0">
                          <a:solidFill>
                            <a:srgbClr val="FFFFFF"/>
                          </a:solidFill>
                          <a:latin typeface="Calibri" pitchFamily="34" charset="0"/>
                        </a:rPr>
                        <a:t>Model</a:t>
                      </a:r>
                    </a:p>
                  </a:txBody>
                  <a:tcPr marL="45720" marR="45720" marT="22860" marB="22860" anchor="ctr">
                    <a:solidFill>
                      <a:srgbClr val="1F3864"/>
                    </a:solidFill>
                  </a:tcPr>
                </a:tc>
                <a:tc>
                  <a:txBody>
                    <a:bodyPr/>
                    <a:lstStyle/>
                    <a:p>
                      <a:pPr algn="ctr"/>
                      <a:r>
                        <a:rPr lang="en-US" sz="1700" b="1" dirty="0">
                          <a:solidFill>
                            <a:srgbClr val="FFFFFF"/>
                          </a:solidFill>
                          <a:latin typeface="Calibri" pitchFamily="34" charset="0"/>
                        </a:rPr>
                        <a:t>Accuracy</a:t>
                      </a:r>
                    </a:p>
                  </a:txBody>
                  <a:tcPr marL="45720" marR="45720" marT="22860" marB="22860" anchor="ctr">
                    <a:solidFill>
                      <a:srgbClr val="1F3864"/>
                    </a:solidFill>
                  </a:tcPr>
                </a:tc>
                <a:tc>
                  <a:txBody>
                    <a:bodyPr/>
                    <a:lstStyle/>
                    <a:p>
                      <a:pPr algn="ctr"/>
                      <a:r>
                        <a:rPr lang="en-US" sz="1700" b="1" dirty="0">
                          <a:solidFill>
                            <a:srgbClr val="FFFFFF"/>
                          </a:solidFill>
                          <a:latin typeface="Calibri" pitchFamily="34" charset="0"/>
                        </a:rPr>
                        <a:t>Precision</a:t>
                      </a:r>
                    </a:p>
                  </a:txBody>
                  <a:tcPr marL="45720" marR="45720" marT="22860" marB="22860" anchor="ctr">
                    <a:solidFill>
                      <a:srgbClr val="1F3864"/>
                    </a:solidFill>
                  </a:tcPr>
                </a:tc>
                <a:tc>
                  <a:txBody>
                    <a:bodyPr/>
                    <a:lstStyle/>
                    <a:p>
                      <a:pPr algn="ctr"/>
                      <a:r>
                        <a:rPr lang="en-US" sz="1700" b="1" dirty="0">
                          <a:solidFill>
                            <a:srgbClr val="FFFFFF"/>
                          </a:solidFill>
                          <a:latin typeface="Calibri" pitchFamily="34" charset="0"/>
                        </a:rPr>
                        <a:t>Recall</a:t>
                      </a:r>
                    </a:p>
                  </a:txBody>
                  <a:tcPr marL="45720" marR="45720" marT="22860" marB="22860" anchor="ctr">
                    <a:solidFill>
                      <a:srgbClr val="1F3864"/>
                    </a:solidFill>
                  </a:tcPr>
                </a:tc>
                <a:tc>
                  <a:txBody>
                    <a:bodyPr/>
                    <a:lstStyle/>
                    <a:p>
                      <a:pPr algn="ctr"/>
                      <a:r>
                        <a:rPr lang="en-US" sz="1700" b="1" dirty="0">
                          <a:solidFill>
                            <a:srgbClr val="FFFFFF"/>
                          </a:solidFill>
                          <a:latin typeface="Calibri" pitchFamily="34" charset="0"/>
                        </a:rPr>
                        <a:t>F1-Score</a:t>
                      </a:r>
                    </a:p>
                  </a:txBody>
                  <a:tcPr marL="45720" marR="45720" marT="22860" marB="22860" anchor="ctr">
                    <a:solidFill>
                      <a:srgbClr val="1F3864"/>
                    </a:solidFill>
                  </a:tcPr>
                </a:tc>
                <a:tc>
                  <a:txBody>
                    <a:bodyPr/>
                    <a:lstStyle/>
                    <a:p>
                      <a:pPr algn="ctr"/>
                      <a:r>
                        <a:rPr lang="en-US" sz="1700" b="1" dirty="0">
                          <a:solidFill>
                            <a:srgbClr val="FFFFFF"/>
                          </a:solidFill>
                          <a:latin typeface="Calibri" pitchFamily="34" charset="0"/>
                        </a:rPr>
                        <a:t>ROC-AUC</a:t>
                      </a:r>
                    </a:p>
                  </a:txBody>
                  <a:tcPr marL="45720" marR="45720" marT="22860" marB="22860" anchor="ctr">
                    <a:solidFill>
                      <a:srgbClr val="1F3864"/>
                    </a:solidFill>
                  </a:tcPr>
                </a:tc>
                <a:extLst>
                  <a:ext uri="{0D108BD9-81ED-4DB2-BD59-A6C34878D82A}">
                    <a16:rowId xmlns:a16="http://schemas.microsoft.com/office/drawing/2014/main" val="10000"/>
                  </a:ext>
                </a:extLst>
              </a:tr>
              <a:tr h="330200">
                <a:tc>
                  <a:txBody>
                    <a:bodyPr/>
                    <a:lstStyle/>
                    <a:p>
                      <a:pPr algn="ctr"/>
                      <a:r>
                        <a:rPr lang="en-US" sz="1700" b="0" dirty="0">
                          <a:solidFill>
                            <a:srgbClr val="000000"/>
                          </a:solidFill>
                          <a:latin typeface="Calibri" pitchFamily="34" charset="0"/>
                        </a:rPr>
                        <a:t>Random Forest</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0.8350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0.8190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0.8600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0.8390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0.9027</a:t>
                      </a:r>
                    </a:p>
                  </a:txBody>
                  <a:tcPr marL="45720" marR="45720" marT="22860" marB="22860" anchor="ctr">
                    <a:solidFill>
                      <a:srgbClr val="FFFFFF"/>
                    </a:solidFill>
                  </a:tcPr>
                </a:tc>
                <a:extLst>
                  <a:ext uri="{0D108BD9-81ED-4DB2-BD59-A6C34878D82A}">
                    <a16:rowId xmlns:a16="http://schemas.microsoft.com/office/drawing/2014/main" val="10001"/>
                  </a:ext>
                </a:extLst>
              </a:tr>
              <a:tr h="330200">
                <a:tc>
                  <a:txBody>
                    <a:bodyPr/>
                    <a:lstStyle/>
                    <a:p>
                      <a:pPr algn="ctr"/>
                      <a:r>
                        <a:rPr lang="en-US" sz="1700" b="0" dirty="0">
                          <a:solidFill>
                            <a:srgbClr val="000000"/>
                          </a:solidFill>
                          <a:latin typeface="Calibri" pitchFamily="34" charset="0"/>
                        </a:rPr>
                        <a:t>Decision Tree</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0.8300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0.8173</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0.8500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0.8333</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0.8530</a:t>
                      </a:r>
                    </a:p>
                  </a:txBody>
                  <a:tcPr marL="45720" marR="45720" marT="22860" marB="22860" anchor="ctr">
                    <a:solidFill>
                      <a:srgbClr val="FFFFFF"/>
                    </a:solidFill>
                  </a:tcPr>
                </a:tc>
                <a:extLst>
                  <a:ext uri="{0D108BD9-81ED-4DB2-BD59-A6C34878D82A}">
                    <a16:rowId xmlns:a16="http://schemas.microsoft.com/office/drawing/2014/main" val="10002"/>
                  </a:ext>
                </a:extLst>
              </a:tr>
              <a:tr h="330200">
                <a:tc>
                  <a:txBody>
                    <a:bodyPr/>
                    <a:lstStyle/>
                    <a:p>
                      <a:pPr algn="ctr"/>
                      <a:r>
                        <a:rPr lang="en-US" sz="1700" b="0" dirty="0">
                          <a:solidFill>
                            <a:srgbClr val="000000"/>
                          </a:solidFill>
                          <a:latin typeface="Calibri" pitchFamily="34" charset="0"/>
                        </a:rPr>
                        <a:t>SVM (RBF)</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0.8100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0.8100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0.8100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0.8100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0.8928</a:t>
                      </a:r>
                    </a:p>
                  </a:txBody>
                  <a:tcPr marL="45720" marR="45720" marT="22860" marB="22860" anchor="ctr">
                    <a:solidFill>
                      <a:srgbClr val="FFFFFF"/>
                    </a:solidFill>
                  </a:tcPr>
                </a:tc>
                <a:extLst>
                  <a:ext uri="{0D108BD9-81ED-4DB2-BD59-A6C34878D82A}">
                    <a16:rowId xmlns:a16="http://schemas.microsoft.com/office/drawing/2014/main" val="10003"/>
                  </a:ext>
                </a:extLst>
              </a:tr>
              <a:tr h="330200">
                <a:tc>
                  <a:txBody>
                    <a:bodyPr/>
                    <a:lstStyle/>
                    <a:p>
                      <a:pPr algn="ctr"/>
                      <a:r>
                        <a:rPr lang="en-US" sz="1700" b="0" dirty="0">
                          <a:solidFill>
                            <a:srgbClr val="000000"/>
                          </a:solidFill>
                          <a:latin typeface="Calibri" pitchFamily="34" charset="0"/>
                        </a:rPr>
                        <a:t>KNN (K=3)</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0.8050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0.7652</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0.8800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0.8186</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0.8625</a:t>
                      </a:r>
                    </a:p>
                  </a:txBody>
                  <a:tcPr marL="45720" marR="45720" marT="22860" marB="22860" anchor="ctr">
                    <a:solidFill>
                      <a:srgbClr val="FFFFFF"/>
                    </a:solidFill>
                  </a:tcPr>
                </a:tc>
                <a:extLst>
                  <a:ext uri="{0D108BD9-81ED-4DB2-BD59-A6C34878D82A}">
                    <a16:rowId xmlns:a16="http://schemas.microsoft.com/office/drawing/2014/main" val="10004"/>
                  </a:ext>
                </a:extLst>
              </a:tr>
              <a:tr h="330200">
                <a:tc>
                  <a:txBody>
                    <a:bodyPr/>
                    <a:lstStyle/>
                    <a:p>
                      <a:pPr algn="ctr"/>
                      <a:r>
                        <a:rPr lang="en-US" sz="1700" b="0" dirty="0">
                          <a:solidFill>
                            <a:srgbClr val="000000"/>
                          </a:solidFill>
                          <a:latin typeface="Calibri" pitchFamily="34" charset="0"/>
                        </a:rPr>
                        <a:t>Logistic Regression</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0.7350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0.7374</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0.7300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0.7337</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0.8277</a:t>
                      </a:r>
                    </a:p>
                  </a:txBody>
                  <a:tcPr marL="45720" marR="45720" marT="22860" marB="22860" anchor="ctr">
                    <a:solidFill>
                      <a:srgbClr val="FFFFFF"/>
                    </a:solidFill>
                  </a:tcPr>
                </a:tc>
                <a:extLst>
                  <a:ext uri="{0D108BD9-81ED-4DB2-BD59-A6C34878D82A}">
                    <a16:rowId xmlns:a16="http://schemas.microsoft.com/office/drawing/2014/main" val="10005"/>
                  </a:ext>
                </a:extLst>
              </a:tr>
            </a:tbl>
          </a:graphicData>
        </a:graphic>
      </p:graphicFrame>
      <p:sp>
        <p:nvSpPr>
          <p:cNvPr id="102" name="Note"/>
          <p:cNvSpPr/>
          <p:nvPr/>
        </p:nvSpPr>
        <p:spPr>
          <a:xfrm>
            <a:off x="700000" y="4100000"/>
            <a:ext cx="10800000" cy="2200000"/>
          </a:xfrm>
          <a:prstGeom prst="rect">
            <a:avLst/>
          </a:prstGeom>
          <a:noFill/>
        </p:spPr>
        <p:txBody>
          <a:bodyPr wrap="square" anchor="t"/>
          <a:lstStyle/>
          <a:p>
            <a:r>
              <a:rPr lang="en-US" sz="1700" dirty="0">
                <a:solidFill>
                  <a:srgbClr val="000000"/>
                </a:solidFill>
                <a:latin typeface="Calibri"/>
              </a:rPr>
              <a:t>Random Forest achieved the top scores on four of five metrics. KNN produced the highest recall (0.88), useful for minimizing missed diabetic cases, while the tuned SVM (RBF) achieved the second-highest ROC-AUC (0.893). Logistic Regression trailed on raw performance but remains the most interpretable model via its odds-ratio coefficients.</a:t>
            </a:r>
          </a:p>
        </p:txBody>
      </p:sp>
    </p:spTree>
    <p:extLst>
      <p:ext uri="{BB962C8B-B14F-4D97-AF65-F5344CB8AC3E}">
        <p14:creationId xmlns:p14="http://schemas.microsoft.com/office/powerpoint/2010/main" val="3467524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Model Comparison: Visuals</a:t>
            </a:r>
            <a:endParaRPr lang="en-US" sz="2800" dirty="0">
              <a:solidFill>
                <a:srgbClr val="002060"/>
              </a:solidFill>
            </a:endParaRPr>
          </a:p>
        </p:txBody>
      </p:sp>
      <p:pic>
        <p:nvPicPr>
          <p:cNvPr id="101" name="BarChart"/>
          <p:cNvPicPr>
            <a:picLocks noChangeAspect="1"/>
          </p:cNvPicPr>
          <p:nvPr/>
        </p:nvPicPr>
        <p:blipFill>
          <a:blip r:embed="rId4"/>
          <a:stretch>
            <a:fillRect/>
          </a:stretch>
        </p:blipFill>
        <p:spPr>
          <a:xfrm>
            <a:off x="300000" y="1200000"/>
            <a:ext cx="6600000" cy="3779000"/>
          </a:xfrm>
          <a:prstGeom prst="rect">
            <a:avLst/>
          </a:prstGeom>
        </p:spPr>
      </p:pic>
      <p:pic>
        <p:nvPicPr>
          <p:cNvPr id="102" name="ROC"/>
          <p:cNvPicPr>
            <a:picLocks noChangeAspect="1"/>
          </p:cNvPicPr>
          <p:nvPr/>
        </p:nvPicPr>
        <p:blipFill>
          <a:blip r:embed="rId5"/>
          <a:stretch>
            <a:fillRect/>
          </a:stretch>
        </p:blipFill>
        <p:spPr>
          <a:xfrm>
            <a:off x="7150000" y="1200000"/>
            <a:ext cx="4500000" cy="3747000"/>
          </a:xfrm>
          <a:prstGeom prst="rect">
            <a:avLst/>
          </a:prstGeom>
        </p:spPr>
      </p:pic>
      <p:sp>
        <p:nvSpPr>
          <p:cNvPr id="103" name="Note"/>
          <p:cNvSpPr/>
          <p:nvPr/>
        </p:nvSpPr>
        <p:spPr>
          <a:xfrm>
            <a:off x="300000" y="5150000"/>
            <a:ext cx="11350000" cy="1300000"/>
          </a:xfrm>
          <a:prstGeom prst="rect">
            <a:avLst/>
          </a:prstGeom>
          <a:noFill/>
        </p:spPr>
        <p:txBody>
          <a:bodyPr wrap="square" anchor="t"/>
          <a:lstStyle/>
          <a:p>
            <a:r>
              <a:rPr lang="en-US" sz="1700" b="1" dirty="0">
                <a:solidFill>
                  <a:srgbClr val="000000"/>
                </a:solidFill>
                <a:latin typeface="Calibri"/>
              </a:rPr>
              <a:t>Random Forest offers the best overall trade-off between accuracy and generalization, while SVM (RBF) remains highly competitive on ROC-AUC.</a:t>
            </a:r>
          </a:p>
        </p:txBody>
      </p:sp>
    </p:spTree>
    <p:extLst>
      <p:ext uri="{BB962C8B-B14F-4D97-AF65-F5344CB8AC3E}">
        <p14:creationId xmlns:p14="http://schemas.microsoft.com/office/powerpoint/2010/main" val="3467524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Recommendations</a:t>
            </a:r>
            <a:endParaRPr lang="en-US" sz="2800" dirty="0">
              <a:solidFill>
                <a:srgbClr val="002060"/>
              </a:solidFill>
            </a:endParaRPr>
          </a:p>
        </p:txBody>
      </p:sp>
      <p:sp>
        <p:nvSpPr>
          <p:cNvPr id="101" name="Content Recommendations"/>
          <p:cNvSpPr/>
          <p:nvPr/>
        </p:nvSpPr>
        <p:spPr>
          <a:xfrm>
            <a:off x="502920" y="1150000"/>
            <a:ext cx="11200000" cy="5400000"/>
          </a:xfrm>
          <a:prstGeom prst="rect">
            <a:avLst/>
          </a:prstGeom>
          <a:noFill/>
          <a:ln/>
        </p:spPr>
        <p:txBody>
          <a:bodyPr wrap="square" rtlCol="0" anchor="t">
            <a:normAutofit/>
          </a:bodyPr>
          <a:lstStyle/>
          <a:p>
            <a:pPr marL="285750" indent="-285750" algn="l">
              <a:spcBef>
                <a:spcPts val="1000"/>
              </a:spcBef>
              <a:buFont typeface="Arial" pitchFamily="34" charset="0"/>
              <a:buChar char="•"/>
            </a:pPr>
            <a:r>
              <a:rPr lang="en-US" sz="1700" b="1" dirty="0">
                <a:solidFill>
                  <a:srgbClr val="000000"/>
                </a:solidFill>
                <a:latin typeface="Calibri" pitchFamily="34" charset="0"/>
              </a:rPr>
              <a:t>Adopt Random Forest as the primary candidate model for further validation, given its top ranking on four of five evaluation metrics.</a:t>
            </a:r>
          </a:p>
          <a:p>
            <a:pPr marL="285750" indent="-285750" algn="l">
              <a:spcBef>
                <a:spcPts val="1000"/>
              </a:spcBef>
              <a:buFont typeface="Arial" pitchFamily="34" charset="0"/>
              <a:buChar char="•"/>
            </a:pPr>
            <a:r>
              <a:rPr lang="en-US" sz="1700" dirty="0">
                <a:solidFill>
                  <a:srgbClr val="000000"/>
                </a:solidFill>
                <a:latin typeface="Calibri" pitchFamily="34" charset="0"/>
              </a:rPr>
              <a:t>Retain the tuned SVM (RBF kernel) as a secondary candidate, particularly where the highest ROC-AUC is prioritized.</a:t>
            </a:r>
          </a:p>
          <a:p>
            <a:pPr marL="285750" indent="-285750" algn="l">
              <a:spcBef>
                <a:spcPts val="1000"/>
              </a:spcBef>
              <a:buFont typeface="Arial" pitchFamily="34" charset="0"/>
              <a:buChar char="•"/>
            </a:pPr>
            <a:r>
              <a:rPr lang="en-US" sz="1700" dirty="0">
                <a:solidFill>
                  <a:srgbClr val="000000"/>
                </a:solidFill>
                <a:latin typeface="Calibri" pitchFamily="34" charset="0"/>
              </a:rPr>
              <a:t>Preserve Logistic Regression as an interpretable fallback for contexts requiring transparent, coefficient-level explanations of risk factors.</a:t>
            </a:r>
          </a:p>
          <a:p>
            <a:pPr marL="285750" indent="-285750" algn="l">
              <a:spcBef>
                <a:spcPts val="1000"/>
              </a:spcBef>
              <a:buFont typeface="Arial" pitchFamily="34" charset="0"/>
              <a:buChar char="•"/>
            </a:pPr>
            <a:r>
              <a:rPr lang="en-US" sz="1700" dirty="0">
                <a:solidFill>
                  <a:srgbClr val="000000"/>
                </a:solidFill>
                <a:latin typeface="Calibri" pitchFamily="34" charset="0"/>
              </a:rPr>
              <a:t>Future data collection should distinguish true zero measurements from missing data explicitly, rather than encoding both identically.</a:t>
            </a:r>
          </a:p>
          <a:p>
            <a:pPr marL="285750" indent="-285750" algn="l">
              <a:spcBef>
                <a:spcPts val="1000"/>
              </a:spcBef>
              <a:buFont typeface="Arial" pitchFamily="34" charset="0"/>
              <a:buChar char="•"/>
            </a:pPr>
            <a:r>
              <a:rPr lang="en-US" sz="1700" dirty="0">
                <a:solidFill>
                  <a:srgbClr val="000000"/>
                </a:solidFill>
                <a:latin typeface="Calibri" pitchFamily="34" charset="0"/>
              </a:rPr>
              <a:t>Explore gradient boosting methods (XGBoost, LightGBM) which often outperform Random Forest on tabular clinical data.</a:t>
            </a:r>
          </a:p>
          <a:p>
            <a:pPr marL="285750" indent="-285750" algn="l">
              <a:spcBef>
                <a:spcPts val="1000"/>
              </a:spcBef>
              <a:buFont typeface="Arial" pitchFamily="34" charset="0"/>
              <a:buChar char="•"/>
            </a:pPr>
            <a:r>
              <a:rPr lang="en-US" sz="1700" dirty="0">
                <a:solidFill>
                  <a:srgbClr val="000000"/>
                </a:solidFill>
                <a:latin typeface="Calibri" pitchFamily="34" charset="0"/>
              </a:rPr>
              <a:t>Validate the selected model on an external patient cohort before any clinical deployment, and pair predictions with guidance for confirmatory testing.</a:t>
            </a:r>
          </a:p>
        </p:txBody>
      </p:sp>
    </p:spTree>
    <p:extLst>
      <p:ext uri="{BB962C8B-B14F-4D97-AF65-F5344CB8AC3E}">
        <p14:creationId xmlns:p14="http://schemas.microsoft.com/office/powerpoint/2010/main" val="34675246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26720"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References</a:t>
            </a:r>
            <a:endParaRPr lang="en-US" sz="2800" dirty="0">
              <a:solidFill>
                <a:srgbClr val="002060"/>
              </a:solidFill>
            </a:endParaRPr>
          </a:p>
        </p:txBody>
      </p:sp>
      <p:sp>
        <p:nvSpPr>
          <p:cNvPr id="101" name="Content References"/>
          <p:cNvSpPr/>
          <p:nvPr/>
        </p:nvSpPr>
        <p:spPr>
          <a:xfrm>
            <a:off x="502920" y="1150000"/>
            <a:ext cx="11200000" cy="5400000"/>
          </a:xfrm>
          <a:prstGeom prst="rect">
            <a:avLst/>
          </a:prstGeom>
          <a:noFill/>
          <a:ln/>
        </p:spPr>
        <p:txBody>
          <a:bodyPr wrap="square" rtlCol="0" anchor="t">
            <a:normAutofit/>
          </a:bodyPr>
          <a:lstStyle/>
          <a:p>
            <a:pPr marL="285750" indent="-285750" algn="l">
              <a:spcBef>
                <a:spcPts val="1000"/>
              </a:spcBef>
              <a:buFont typeface="Arial" pitchFamily="34" charset="0"/>
              <a:buChar char="•"/>
            </a:pPr>
            <a:r>
              <a:rPr lang="en-US" sz="1600" b="1" dirty="0">
                <a:solidFill>
                  <a:srgbClr val="000000"/>
                </a:solidFill>
                <a:latin typeface="Calibri" pitchFamily="34" charset="0"/>
              </a:rPr>
              <a:t>Conclusion: Random Forest offers the best trade-off between predictive performance and generalization for diabetes screening; Logistic Regression remains valuable where interpretability is required.</a:t>
            </a:r>
          </a:p>
          <a:p>
            <a:pPr marL="285750" indent="-285750" algn="l">
              <a:spcBef>
                <a:spcPts val="1000"/>
              </a:spcBef>
              <a:buFont typeface="Arial" pitchFamily="34" charset="0"/>
              <a:buChar char="•"/>
            </a:pPr>
            <a:r>
              <a:rPr lang="en-US" sz="1600" dirty="0">
                <a:solidFill>
                  <a:srgbClr val="000000"/>
                </a:solidFill>
                <a:latin typeface="Calibri" pitchFamily="34" charset="0"/>
              </a:rPr>
              <a:t>Smith, J.W., Everhart, J.E., Dickson, W.C., Knowler, W.C., &amp; Johannes, R.S. (1988). Using the ADAP learning algorithm to forecast the onset of diabetes mellitus. Proceedings of the Symposium on Computer Applications in Medical Care.</a:t>
            </a:r>
          </a:p>
          <a:p>
            <a:pPr marL="285750" indent="-285750" algn="l">
              <a:spcBef>
                <a:spcPts val="1000"/>
              </a:spcBef>
              <a:buFont typeface="Arial" pitchFamily="34" charset="0"/>
              <a:buChar char="•"/>
            </a:pPr>
            <a:r>
              <a:rPr lang="en-US" sz="1600" dirty="0">
                <a:solidFill>
                  <a:srgbClr val="000000"/>
                </a:solidFill>
                <a:latin typeface="Calibri" pitchFamily="34" charset="0"/>
              </a:rPr>
              <a:t>Pedregosa, F. et al. (2011). Scikit-learn: Machine Learning in Python. Journal of Machine Learning Research, 12, 2825-2830.</a:t>
            </a:r>
          </a:p>
          <a:p>
            <a:pPr marL="285750" indent="-285750" algn="l">
              <a:spcBef>
                <a:spcPts val="1000"/>
              </a:spcBef>
              <a:buFont typeface="Arial" pitchFamily="34" charset="0"/>
              <a:buChar char="•"/>
            </a:pPr>
            <a:r>
              <a:rPr lang="en-US" sz="1600" dirty="0">
                <a:solidFill>
                  <a:srgbClr val="000000"/>
                </a:solidFill>
                <a:latin typeface="Calibri" pitchFamily="34" charset="0"/>
              </a:rPr>
              <a:t>Chawla, N.V., Bowyer, K.W., Hall, L.O., &amp; Kegelmeyer, W.P. (2002). SMOTE: Synthetic Minority Over-sampling Technique. Journal of Artificial Intelligence Research, 16, 321-357.</a:t>
            </a:r>
          </a:p>
          <a:p>
            <a:pPr marL="285750" indent="-285750" algn="l">
              <a:spcBef>
                <a:spcPts val="1000"/>
              </a:spcBef>
              <a:buFont typeface="Arial" pitchFamily="34" charset="0"/>
              <a:buChar char="•"/>
            </a:pPr>
            <a:r>
              <a:rPr lang="en-US" sz="1600" dirty="0">
                <a:solidFill>
                  <a:srgbClr val="000000"/>
                </a:solidFill>
                <a:latin typeface="Calibri" pitchFamily="34" charset="0"/>
              </a:rPr>
              <a:t>PIMA Indian Diabetes Dataset, Kaggle / UCI Machine Learning Repository.</a:t>
            </a:r>
          </a:p>
        </p:txBody>
      </p:sp>
    </p:spTree>
    <p:extLst>
      <p:ext uri="{BB962C8B-B14F-4D97-AF65-F5344CB8AC3E}">
        <p14:creationId xmlns:p14="http://schemas.microsoft.com/office/powerpoint/2010/main" val="37513609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1116</Words>
  <Application>Microsoft Office PowerPoint</Application>
  <PresentationFormat>Widescreen</PresentationFormat>
  <Paragraphs>198</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Georgia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Keshav Vats</cp:lastModifiedBy>
  <cp:revision>3</cp:revision>
  <dcterms:created xsi:type="dcterms:W3CDTF">2026-05-21T06:29:53Z</dcterms:created>
  <dcterms:modified xsi:type="dcterms:W3CDTF">2026-07-14T15:19:20Z</dcterms:modified>
</cp:coreProperties>
</file>