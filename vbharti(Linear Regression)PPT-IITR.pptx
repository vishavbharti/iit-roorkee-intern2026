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322" r:id="rId3"/>
    <p:sldId id="323" r:id="rId4"/>
    <p:sldId id="324" r:id="rId5"/>
    <p:sldId id="325" r:id="rId6"/>
    <p:sldId id="326" r:id="rId7"/>
    <p:sldId id="32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</a:t>
            </a:r>
            <a:r>
              <a:rPr lang="en-US" sz="1467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Vishav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Bharti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Miss Riya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A2F22875-D6A1-5A1D-A116-460FEFEFA1FD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3B74DF-EEC7-D9ED-4D7A-0E7BBFD4A5B7}"/>
              </a:ext>
            </a:extLst>
          </p:cNvPr>
          <p:cNvSpPr txBox="1"/>
          <p:nvPr/>
        </p:nvSpPr>
        <p:spPr>
          <a:xfrm>
            <a:off x="435685" y="1081549"/>
            <a:ext cx="1105761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Linear Regression</a:t>
            </a:r>
            <a:r>
              <a:rPr lang="en-US" sz="3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Concept of regression.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Mathematical Equation</a:t>
            </a: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Line fitting.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Real-Life analogy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&amp; Least Squares Method</a:t>
            </a: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Assumptions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Linear Relationship.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Independence of observations.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Homoscedasticity (constant variance).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Normal distribution of residuals.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No multicollinearity (for multiple regression).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No significant outliers.</a:t>
            </a:r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-121805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of regression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5D2B4A-8849-09A8-45DB-ECD572EE3ABA}"/>
              </a:ext>
            </a:extLst>
          </p:cNvPr>
          <p:cNvSpPr txBox="1"/>
          <p:nvPr/>
        </p:nvSpPr>
        <p:spPr>
          <a:xfrm>
            <a:off x="426720" y="1082876"/>
            <a:ext cx="110665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</a:t>
            </a:r>
            <a:r>
              <a:rPr lang="en-IN" b="1" dirty="0"/>
              <a:t>machine learning</a:t>
            </a:r>
            <a:r>
              <a:rPr lang="en-IN" dirty="0"/>
              <a:t>, </a:t>
            </a:r>
            <a:r>
              <a:rPr lang="en-IN" b="1" dirty="0"/>
              <a:t>regression</a:t>
            </a:r>
            <a:r>
              <a:rPr lang="en-IN" dirty="0"/>
              <a:t> is a supervised learning technique used to </a:t>
            </a:r>
            <a:r>
              <a:rPr lang="en-IN" b="1" dirty="0"/>
              <a:t>predict a continuous numerical value</a:t>
            </a:r>
            <a:r>
              <a:rPr lang="en-IN" dirty="0"/>
              <a:t> based on input data.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</a:p>
          <a:p>
            <a:r>
              <a:rPr lang="en-IN" b="1" dirty="0"/>
              <a:t>Weather Prediction</a:t>
            </a:r>
          </a:p>
          <a:p>
            <a:r>
              <a:rPr lang="en-IN" dirty="0"/>
              <a:t>Meteorologists use:</a:t>
            </a:r>
          </a:p>
          <a:p>
            <a:r>
              <a:rPr lang="en-IN" dirty="0"/>
              <a:t>Temperature </a:t>
            </a:r>
          </a:p>
          <a:p>
            <a:r>
              <a:rPr lang="en-IN" dirty="0"/>
              <a:t>Humidity </a:t>
            </a:r>
          </a:p>
          <a:p>
            <a:r>
              <a:rPr lang="en-IN" dirty="0"/>
              <a:t>Wind speed </a:t>
            </a:r>
          </a:p>
          <a:p>
            <a:r>
              <a:rPr lang="en-IN" dirty="0"/>
              <a:t>Pressure </a:t>
            </a:r>
          </a:p>
          <a:p>
            <a:r>
              <a:rPr lang="en-IN" dirty="0"/>
              <a:t>to predict tomorrow's temperature.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What is Linear Regression?</a:t>
            </a:r>
          </a:p>
          <a:p>
            <a:r>
              <a:rPr lang="en-IN" dirty="0"/>
              <a:t>Linear Regression is the simplest regression algorithm.</a:t>
            </a:r>
          </a:p>
          <a:p>
            <a:r>
              <a:rPr lang="en-IN" dirty="0"/>
              <a:t>It assumes that the relationship between variables</a:t>
            </a:r>
          </a:p>
          <a:p>
            <a:r>
              <a:rPr lang="en-IN" dirty="0"/>
              <a:t> is approximately a </a:t>
            </a:r>
            <a:r>
              <a:rPr lang="en-IN" b="1" dirty="0"/>
              <a:t>straight line</a:t>
            </a:r>
            <a:r>
              <a:rPr lang="en-IN" dirty="0"/>
              <a:t>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</a:p>
          <a:p>
            <a:r>
              <a:rPr lang="en-IN" dirty="0"/>
              <a:t>Suppose studying more generally leads to higher marks.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dirty="0"/>
              <a:t>Plotting these points forms a nearly straight line.</a:t>
            </a:r>
          </a:p>
          <a:p>
            <a:r>
              <a:rPr lang="en-IN" dirty="0"/>
              <a:t>Linear Regression finds the line that best represents this relationship.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DA868FC-75A6-0D4E-3DEA-0B51B722A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548513"/>
              </p:ext>
            </p:extLst>
          </p:nvPr>
        </p:nvGraphicFramePr>
        <p:xfrm>
          <a:off x="7046689" y="4001402"/>
          <a:ext cx="3913239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113">
                  <a:extLst>
                    <a:ext uri="{9D8B030D-6E8A-4147-A177-3AD203B41FA5}">
                      <a16:colId xmlns:a16="http://schemas.microsoft.com/office/drawing/2014/main" val="339399751"/>
                    </a:ext>
                  </a:extLst>
                </a:gridCol>
                <a:gridCol w="1578126">
                  <a:extLst>
                    <a:ext uri="{9D8B030D-6E8A-4147-A177-3AD203B41FA5}">
                      <a16:colId xmlns:a16="http://schemas.microsoft.com/office/drawing/2014/main" val="448033776"/>
                    </a:ext>
                  </a:extLst>
                </a:gridCol>
              </a:tblGrid>
              <a:tr h="305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Hours Studied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918067"/>
                  </a:ext>
                </a:extLst>
              </a:tr>
              <a:tr h="25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378009"/>
                  </a:ext>
                </a:extLst>
              </a:tr>
              <a:tr h="25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5902828"/>
                  </a:ext>
                </a:extLst>
              </a:tr>
              <a:tr h="25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052686"/>
                  </a:ext>
                </a:extLst>
              </a:tr>
              <a:tr h="25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579113"/>
                  </a:ext>
                </a:extLst>
              </a:tr>
              <a:tr h="25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856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092E3-EC1E-2180-9F22-7F140014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4BF2CC-47B4-FCD0-53A3-70BF9AF467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FC1505D-CF3C-95E8-E895-3D5A9BA35EFF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B7058E-D18E-4EBD-F289-30CB72EB2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700ED7-B4D0-5158-DE13-8DEE697DEA3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4B5EC2C-5D30-BB01-C4DA-1CE3F3C680DE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Equation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349ED4-6431-B9F2-B8AD-AADF70E70A77}"/>
              </a:ext>
            </a:extLst>
          </p:cNvPr>
          <p:cNvSpPr txBox="1"/>
          <p:nvPr/>
        </p:nvSpPr>
        <p:spPr>
          <a:xfrm>
            <a:off x="417755" y="827509"/>
            <a:ext cx="1105761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Mathematical Equation</a:t>
            </a:r>
          </a:p>
          <a:p>
            <a:r>
              <a:rPr lang="en-IN" sz="2000" dirty="0"/>
              <a:t>                                            Y=</a:t>
            </a:r>
            <a:r>
              <a:rPr lang="en-IN" sz="2000" dirty="0" err="1"/>
              <a:t>mX+c</a:t>
            </a:r>
            <a:r>
              <a:rPr lang="en-IN" sz="2000" dirty="0"/>
              <a:t> </a:t>
            </a:r>
          </a:p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Where: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Y</a:t>
            </a:r>
            <a:r>
              <a:rPr lang="en-IN" sz="2000" dirty="0"/>
              <a:t> = Predicted value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X</a:t>
            </a:r>
            <a:r>
              <a:rPr lang="en-IN" sz="2000" dirty="0"/>
              <a:t> = Input variable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</a:t>
            </a:r>
            <a:r>
              <a:rPr lang="en-IN" sz="2000" dirty="0"/>
              <a:t> = Slope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</a:t>
            </a:r>
            <a:r>
              <a:rPr lang="en-IN" sz="2000" dirty="0"/>
              <a:t> = Intercept </a:t>
            </a:r>
          </a:p>
          <a:p>
            <a:r>
              <a:rPr lang="en-IN" sz="2000" b="1" dirty="0"/>
              <a:t>X (Independent Variable)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The feature used to make predictions.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Examples: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Hours studied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House size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Years of experience</a:t>
            </a:r>
          </a:p>
          <a:p>
            <a:r>
              <a:rPr lang="en-IN" sz="2000" b="1" dirty="0"/>
              <a:t>Y (Dependent Variable)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The value we want to predict.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Examples: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Marks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House price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Salary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C72B0-1655-843B-BC79-D90E13132617}"/>
                  </a:ext>
                </a:extLst>
              </p:cNvPr>
              <p:cNvSpPr txBox="1"/>
              <p:nvPr/>
            </p:nvSpPr>
            <p:spPr>
              <a:xfrm>
                <a:off x="5208031" y="2032774"/>
                <a:ext cx="6285267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b="1" dirty="0"/>
                  <a:t>m (Slope)</a:t>
                </a:r>
              </a:p>
              <a:p>
                <a:r>
                  <a:rPr lang="en-IN" sz="2000" dirty="0"/>
                  <a:t>Slope tells us how much Y changes when X increases by one</a:t>
                </a:r>
              </a:p>
              <a:p>
                <a:r>
                  <a:rPr lang="en-IN" sz="2000" dirty="0"/>
                  <a:t>unit.</a:t>
                </a:r>
              </a:p>
              <a:p>
                <a:r>
                  <a:rPr lang="en-IN" sz="2000" dirty="0"/>
                  <a:t>Example:</a:t>
                </a:r>
              </a:p>
              <a:p>
                <a:r>
                  <a:rPr lang="en-IN" sz="2000" dirty="0"/>
                  <a:t>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+20</m:t>
                      </m:r>
                    </m:oMath>
                  </m:oMathPara>
                </a14:m>
                <a:endParaRPr lang="en-IN" sz="2000" dirty="0"/>
              </a:p>
              <a:p>
                <a:r>
                  <a:rPr lang="en-IN" sz="2000" dirty="0"/>
                  <a:t>Every additional study hour increases marks by </a:t>
                </a:r>
                <a:r>
                  <a:rPr lang="en-IN" sz="2000" b="1" dirty="0"/>
                  <a:t>10</a:t>
                </a:r>
                <a:r>
                  <a:rPr lang="en-IN" sz="2000" dirty="0"/>
                  <a:t>.</a:t>
                </a:r>
              </a:p>
              <a:p>
                <a:r>
                  <a:rPr lang="en-IN" sz="2000" b="1" dirty="0"/>
                  <a:t>c (Intercept)</a:t>
                </a:r>
              </a:p>
              <a:p>
                <a:r>
                  <a:rPr lang="en-IN" sz="2000" dirty="0"/>
                  <a:t>The value of Y when X equals zero.</a:t>
                </a:r>
              </a:p>
              <a:p>
                <a:r>
                  <a:rPr lang="en-IN" sz="2000" dirty="0"/>
                  <a:t>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+20</m:t>
                      </m:r>
                    </m:oMath>
                  </m:oMathPara>
                </a14:m>
                <a:endParaRPr lang="en-IN" sz="2000" dirty="0"/>
              </a:p>
              <a:p>
                <a:r>
                  <a:rPr lang="en-IN" sz="2000" dirty="0"/>
                  <a:t>Even with 0 study hours, predicted marks are 20.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C72B0-1655-843B-BC79-D90E13132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031" y="2032774"/>
                <a:ext cx="6285267" cy="4647426"/>
              </a:xfrm>
              <a:prstGeom prst="rect">
                <a:avLst/>
              </a:prstGeom>
              <a:blipFill>
                <a:blip r:embed="rId4"/>
                <a:stretch>
                  <a:fillRect l="-970" t="-6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52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5E9C1-9F6B-DAE9-127C-4FA2336FA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9686F7-366C-08BA-7007-B4A41281D8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468300-176F-5D80-BFFA-B9C6BE0793EA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250447-E1F2-B170-7B6B-A8EEE960A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C0D2BA-C348-542A-C5EE-F788BF0143AB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64B6F76-58F3-5460-9E8D-ED920D34EC50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Fitting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39F7E-1EDF-2E12-2322-4451A2503902}"/>
              </a:ext>
            </a:extLst>
          </p:cNvPr>
          <p:cNvSpPr txBox="1"/>
          <p:nvPr/>
        </p:nvSpPr>
        <p:spPr>
          <a:xfrm>
            <a:off x="435685" y="933544"/>
            <a:ext cx="110576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What is Line Fitting?</a:t>
            </a:r>
          </a:p>
          <a:p>
            <a:r>
              <a:rPr lang="en-IN" dirty="0"/>
              <a:t>Line fitting is the process of drawing a straight line through a set of data points such that the total prediction error is minimized. This line is called the best-fit line or regression line.</a:t>
            </a:r>
            <a:endParaRPr lang="en-IN" b="1" dirty="0"/>
          </a:p>
          <a:p>
            <a:r>
              <a:rPr lang="en-IN" dirty="0"/>
              <a:t>Suppose a teacher records data from students.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These points don't lie perfectly on one line.</a:t>
            </a:r>
          </a:p>
          <a:p>
            <a:r>
              <a:rPr lang="en-IN" dirty="0"/>
              <a:t>So how do we draw the best line?</a:t>
            </a:r>
          </a:p>
          <a:p>
            <a:r>
              <a:rPr lang="en-IN" dirty="0"/>
              <a:t>This is called </a:t>
            </a:r>
            <a:r>
              <a:rPr lang="en-IN" b="1" dirty="0"/>
              <a:t>line fitting</a:t>
            </a:r>
            <a:r>
              <a:rPr lang="en-IN" dirty="0"/>
              <a:t>.</a:t>
            </a:r>
          </a:p>
          <a:p>
            <a:r>
              <a:rPr lang="en-IN" dirty="0"/>
              <a:t>The goal is to find a line that stays as close as possible to all data points.</a:t>
            </a:r>
          </a:p>
          <a:p>
            <a:r>
              <a:rPr lang="en-IN" b="1" dirty="0"/>
              <a:t>Real-Life Analogy</a:t>
            </a:r>
          </a:p>
          <a:p>
            <a:r>
              <a:rPr lang="en-IN" dirty="0"/>
              <a:t>Imagine placing a ruler over scattered dots on paper. You rotate the ruler until most dots are as close as possible to it.</a:t>
            </a:r>
          </a:p>
          <a:p>
            <a:r>
              <a:rPr lang="en-IN" dirty="0"/>
              <a:t>That ruler represents the regression line.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03D0A2-3D83-B1E6-60E3-A3E3D4EB0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231536"/>
              </p:ext>
            </p:extLst>
          </p:nvPr>
        </p:nvGraphicFramePr>
        <p:xfrm>
          <a:off x="455692" y="2073031"/>
          <a:ext cx="1101759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8799">
                  <a:extLst>
                    <a:ext uri="{9D8B030D-6E8A-4147-A177-3AD203B41FA5}">
                      <a16:colId xmlns:a16="http://schemas.microsoft.com/office/drawing/2014/main" val="589151340"/>
                    </a:ext>
                  </a:extLst>
                </a:gridCol>
                <a:gridCol w="5508799">
                  <a:extLst>
                    <a:ext uri="{9D8B030D-6E8A-4147-A177-3AD203B41FA5}">
                      <a16:colId xmlns:a16="http://schemas.microsoft.com/office/drawing/2014/main" val="2849800673"/>
                    </a:ext>
                  </a:extLst>
                </a:gridCol>
              </a:tblGrid>
              <a:tr h="30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506762"/>
                  </a:ext>
                </a:extLst>
              </a:tr>
              <a:tr h="30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231318"/>
                  </a:ext>
                </a:extLst>
              </a:tr>
              <a:tr h="30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314898"/>
                  </a:ext>
                </a:extLst>
              </a:tr>
              <a:tr h="30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067322"/>
                  </a:ext>
                </a:extLst>
              </a:tr>
              <a:tr h="30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256265"/>
                  </a:ext>
                </a:extLst>
              </a:tr>
              <a:tr h="30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728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3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B1285-5F5A-BFB5-A436-140CA2602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DBA023-8C99-E0ED-C963-FEE1F03733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7E2F85-0229-D9B9-7436-E72A365978B5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892B9-595D-02F6-1C16-967E2FF6A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60BB81-84A2-F60E-673C-6C0758736EA7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6052A-E007-785D-37F9-8F0138209BF6}"/>
              </a:ext>
            </a:extLst>
          </p:cNvPr>
          <p:cNvSpPr txBox="1"/>
          <p:nvPr/>
        </p:nvSpPr>
        <p:spPr>
          <a:xfrm>
            <a:off x="442451" y="933544"/>
            <a:ext cx="11130117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Residuals (Errors)</a:t>
            </a:r>
          </a:p>
          <a:p>
            <a:r>
              <a:rPr lang="en-IN" sz="2000" dirty="0"/>
              <a:t>A residual is the difference between the actual value and the predicted value.</a:t>
            </a:r>
            <a:endParaRPr lang="en-IN" sz="2000" b="1" dirty="0"/>
          </a:p>
          <a:p>
            <a:r>
              <a:rPr lang="en-IN" sz="2000" dirty="0"/>
              <a:t>Residual = Actual Value − Predicted Value</a:t>
            </a:r>
          </a:p>
          <a:p>
            <a:r>
              <a:rPr lang="en-IN" sz="2000" dirty="0"/>
              <a:t>Residuals show how far the prediction is from the actual value.</a:t>
            </a:r>
          </a:p>
          <a:p>
            <a:r>
              <a:rPr lang="en-IN" sz="2000" dirty="0"/>
              <a:t>Smaller residuals indicate a better model.</a:t>
            </a:r>
          </a:p>
          <a:p>
            <a:r>
              <a:rPr lang="en-IN" sz="2000" dirty="0"/>
              <a:t>A good regression model tries to minimize these errors.</a:t>
            </a:r>
          </a:p>
          <a:p>
            <a:r>
              <a:rPr lang="en-IN" sz="2000" b="1" dirty="0"/>
              <a:t>Least Squares Method</a:t>
            </a:r>
          </a:p>
          <a:p>
            <a:r>
              <a:rPr lang="en-IN" sz="2000" dirty="0"/>
              <a:t>Linear Regression uses the </a:t>
            </a:r>
            <a:r>
              <a:rPr lang="en-IN" sz="2000" b="1" dirty="0"/>
              <a:t>Least Squares Method</a:t>
            </a:r>
            <a:r>
              <a:rPr lang="en-IN" sz="2000" dirty="0"/>
              <a:t>.</a:t>
            </a:r>
          </a:p>
          <a:p>
            <a:r>
              <a:rPr lang="en-IN" sz="2000" dirty="0"/>
              <a:t>Objective:</a:t>
            </a:r>
          </a:p>
          <a:p>
            <a:r>
              <a:rPr lang="en-IN" sz="2000" dirty="0"/>
              <a:t>Minimize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where:</a:t>
            </a:r>
          </a:p>
          <a:p>
            <a:r>
              <a:rPr lang="en-IN" sz="2000" b="1" dirty="0"/>
              <a:t>Y</a:t>
            </a:r>
            <a:r>
              <a:rPr lang="en-IN" sz="2000" dirty="0"/>
              <a:t> = Actual value </a:t>
            </a:r>
          </a:p>
          <a:p>
            <a:r>
              <a:rPr lang="en-IN" sz="2000" b="1" dirty="0"/>
              <a:t>Ŷ</a:t>
            </a:r>
            <a:r>
              <a:rPr lang="en-IN" sz="2000" dirty="0"/>
              <a:t> = Predicted value </a:t>
            </a:r>
          </a:p>
          <a:p>
            <a:r>
              <a:rPr lang="en-IN" sz="2000" dirty="0"/>
              <a:t>Squaring removes negative values and penalizes larger errors.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84FDED-48E7-D9B2-755C-515DEE8523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154" y="3966060"/>
            <a:ext cx="1414839" cy="549452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2B8A508E-5E39-3DCF-CB25-59173206148B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&amp; Least Squares Method.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432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03DDE-F74B-B514-3E2B-3E802E576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0AC174-9D26-B4B4-F895-6FEF4638E4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BF0533-E7BB-FA3A-C476-FF8C775F7B1E}"/>
              </a:ext>
            </a:extLst>
          </p:cNvPr>
          <p:cNvSpPr/>
          <p:nvPr/>
        </p:nvSpPr>
        <p:spPr>
          <a:xfrm>
            <a:off x="0" y="821781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3AB19-4104-4EEB-2BA5-3A699AE2E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A4816AE-983D-B99F-B7D2-95D7DFE21B3E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84B058-57A4-F2CE-7B12-40EF61D083B7}"/>
              </a:ext>
            </a:extLst>
          </p:cNvPr>
          <p:cNvSpPr txBox="1"/>
          <p:nvPr/>
        </p:nvSpPr>
        <p:spPr>
          <a:xfrm>
            <a:off x="454742" y="821781"/>
            <a:ext cx="11038556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Assumptions of Linear Regression</a:t>
            </a:r>
          </a:p>
          <a:p>
            <a:pPr>
              <a:buNone/>
            </a:pPr>
            <a:r>
              <a:rPr lang="en-IN" b="1" dirty="0"/>
              <a:t>1. Linearity</a:t>
            </a:r>
          </a:p>
          <a:p>
            <a:pPr>
              <a:buNone/>
            </a:pPr>
            <a:r>
              <a:rPr lang="en-IN" dirty="0"/>
              <a:t>There should be a roughly straight-line relationship between inputs and outputs.</a:t>
            </a:r>
          </a:p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dirty="0"/>
              <a:t>Salary generally increases with experience.</a:t>
            </a:r>
          </a:p>
          <a:p>
            <a:r>
              <a:rPr lang="en-IN" b="1" dirty="0"/>
              <a:t>2. Independence</a:t>
            </a:r>
          </a:p>
          <a:p>
            <a:r>
              <a:rPr lang="en-IN" dirty="0"/>
              <a:t>Each observation should be independent of the others.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r>
              <a:rPr lang="en-IN" dirty="0"/>
              <a:t> Sales recorded on different days should not directly influence each other.</a:t>
            </a:r>
          </a:p>
          <a:p>
            <a:r>
              <a:rPr lang="en-IN" b="1" dirty="0"/>
              <a:t>3. Homoscedasticity</a:t>
            </a:r>
          </a:p>
          <a:p>
            <a:r>
              <a:rPr lang="en-IN" dirty="0"/>
              <a:t>The spread of prediction errors should remain approximately constant across all values of X.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dirty="0"/>
              <a:t>If prediction errors are around ±5 for small houses, they should not suddenly become ±50 for large houses.</a:t>
            </a:r>
          </a:p>
          <a:p>
            <a:r>
              <a:rPr lang="en-IN" b="1" dirty="0"/>
              <a:t>4. Normal Distribution of Residuals</a:t>
            </a:r>
          </a:p>
          <a:p>
            <a:r>
              <a:rPr lang="en-IN" dirty="0"/>
              <a:t>Residuals should be approximately normally distributed (bell-shaped).</a:t>
            </a:r>
          </a:p>
          <a:p>
            <a:r>
              <a:rPr lang="en-IN" dirty="0"/>
              <a:t>This helps ensure valid statistical inference and confidence intervals.</a:t>
            </a:r>
          </a:p>
          <a:p>
            <a:r>
              <a:rPr lang="en-IN" b="1" dirty="0"/>
              <a:t>5. No Multicollinearity (Multiple Linear Regression)</a:t>
            </a:r>
          </a:p>
          <a:p>
            <a:r>
              <a:rPr lang="en-IN" dirty="0"/>
              <a:t>Independent variables should not be highly correlated with each other.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r>
              <a:rPr lang="en-IN" dirty="0"/>
              <a:t> Using both height in </a:t>
            </a:r>
            <a:r>
              <a:rPr lang="en-IN" dirty="0" err="1"/>
              <a:t>centimeters</a:t>
            </a:r>
            <a:r>
              <a:rPr lang="en-IN" dirty="0"/>
              <a:t> and height in inches as separate features is redundant because they carry the same information.</a:t>
            </a:r>
          </a:p>
          <a:p>
            <a:r>
              <a:rPr lang="en-IN" b="1" dirty="0"/>
              <a:t>6. No Significant Outliers</a:t>
            </a:r>
          </a:p>
          <a:p>
            <a:r>
              <a:rPr lang="en-IN" dirty="0"/>
              <a:t>Extreme values can pull the regression line away from the overall trend.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r>
              <a:rPr lang="en-IN" dirty="0"/>
              <a:t> Most houses cost ₹50–80 lakhs, but one palace costs ₹30 crores. That outlier can distort the fitted line.</a:t>
            </a:r>
          </a:p>
          <a:p>
            <a:endParaRPr lang="en-IN" dirty="0"/>
          </a:p>
          <a:p>
            <a:pPr>
              <a:buNone/>
            </a:pPr>
            <a:endParaRPr lang="en-IN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EE4E006-468B-FC4F-130B-69FE0A6DE949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18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767</Words>
  <Application>Microsoft Office PowerPoint</Application>
  <PresentationFormat>Widescreen</PresentationFormat>
  <Paragraphs>153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Keshav Vats</cp:lastModifiedBy>
  <cp:revision>3</cp:revision>
  <dcterms:created xsi:type="dcterms:W3CDTF">2026-05-21T06:29:53Z</dcterms:created>
  <dcterms:modified xsi:type="dcterms:W3CDTF">2026-07-14T15:13:35Z</dcterms:modified>
</cp:coreProperties>
</file>