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81" r:id="rId2"/>
    <p:sldId id="352" r:id="rId3"/>
    <p:sldId id="324" r:id="rId4"/>
    <p:sldId id="325" r:id="rId5"/>
    <p:sldId id="326" r:id="rId6"/>
    <p:sldId id="327" r:id="rId7"/>
    <p:sldId id="328" r:id="rId8"/>
    <p:sldId id="330" r:id="rId9"/>
    <p:sldId id="331" r:id="rId10"/>
    <p:sldId id="332" r:id="rId11"/>
    <p:sldId id="334" r:id="rId12"/>
    <p:sldId id="335" r:id="rId13"/>
    <p:sldId id="336" r:id="rId14"/>
    <p:sldId id="337" r:id="rId15"/>
    <p:sldId id="338" r:id="rId16"/>
    <p:sldId id="339" r:id="rId17"/>
    <p:sldId id="340" r:id="rId18"/>
    <p:sldId id="341" r:id="rId19"/>
    <p:sldId id="342" r:id="rId20"/>
    <p:sldId id="343" r:id="rId21"/>
    <p:sldId id="344" r:id="rId22"/>
    <p:sldId id="346" r:id="rId23"/>
    <p:sldId id="348" r:id="rId24"/>
    <p:sldId id="349" r:id="rId25"/>
    <p:sldId id="351" r:id="rId26"/>
    <p:sldId id="32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0CDD76-BD36-47DC-99AA-4CCC20B4F73D}" type="datetimeFigureOut">
              <a:rPr lang="en-IN" smtClean="0"/>
              <a:t>02-07-2026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35777-EAE7-4633-AED0-7C67901D44A4}" type="slidenum">
              <a:rPr lang="en-IN" smtClean="0"/>
              <a:t>‹#›</a:t>
            </a:fld>
            <a:endParaRPr lang="en-IN"/>
          </a:p>
        </p:txBody>
      </p:sp>
    </p:spTree>
    <p:extLst>
      <p:ext uri="{BB962C8B-B14F-4D97-AF65-F5344CB8AC3E}">
        <p14:creationId xmlns:p14="http://schemas.microsoft.com/office/powerpoint/2010/main" val="1431303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735777-EAE7-4633-AED0-7C67901D44A4}" type="slidenum">
              <a:rPr lang="en-IN" smtClean="0"/>
              <a:t>5</a:t>
            </a:fld>
            <a:endParaRPr lang="en-IN"/>
          </a:p>
        </p:txBody>
      </p:sp>
    </p:spTree>
    <p:extLst>
      <p:ext uri="{BB962C8B-B14F-4D97-AF65-F5344CB8AC3E}">
        <p14:creationId xmlns:p14="http://schemas.microsoft.com/office/powerpoint/2010/main" val="4207681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735777-EAE7-4633-AED0-7C67901D44A4}" type="slidenum">
              <a:rPr lang="en-IN" smtClean="0"/>
              <a:t>23</a:t>
            </a:fld>
            <a:endParaRPr lang="en-IN"/>
          </a:p>
        </p:txBody>
      </p:sp>
    </p:spTree>
    <p:extLst>
      <p:ext uri="{BB962C8B-B14F-4D97-AF65-F5344CB8AC3E}">
        <p14:creationId xmlns:p14="http://schemas.microsoft.com/office/powerpoint/2010/main" val="463565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BAEB5-225E-4810-9563-E46323C086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C49624-476A-4471-B279-AD909F197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D3A42A1-7CD4-415E-8AF4-9D85D9FED91B}"/>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5420AA0E-0E69-484F-B4AE-93740666AA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D02798-846B-46C5-8E9A-002676BC0FF6}"/>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13990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FB1A-C635-4763-B822-C6815F5DBD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B9B05-75E0-4400-9E29-DF00D535B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A95CD-B135-4E87-BCEB-F5CDA5DBA02C}"/>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CA7B66C0-FFE4-4C76-B50F-64FA114792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E35CFC-DB24-4743-890C-852D3A402D2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2300877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4D71-AFB1-4E1C-8AE8-524A4FF25C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06E175-81E0-45F0-BDB5-A097DE6FDB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DC4499F-80ED-4BDB-AA88-138ACF1DDB06}"/>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5B31B6B7-9591-4020-867B-9AACA9D0E1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ADEF05-F6A0-42F1-9ECA-4ABD4541C6F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90932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8E95C-93DD-4EDC-B202-DE1512A4E2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F80-1B52-49CF-9284-17541428C1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0BBC02-DF00-4C66-85B6-7928B8EA88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F04E9-34DD-4A67-9A08-5A37CA5A4801}"/>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6" name="Footer Placeholder 5">
            <a:extLst>
              <a:ext uri="{FF2B5EF4-FFF2-40B4-BE49-F238E27FC236}">
                <a16:creationId xmlns:a16="http://schemas.microsoft.com/office/drawing/2014/main" id="{0A8AB592-86DD-461C-92CF-E718CE4244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EA06F5-01A7-4D6A-B553-A96AA8B2D647}"/>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599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233C1-C9CF-4644-AA3B-B31241C851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8190FF-FA3F-4E33-8D8E-C0BF30642A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5AD967B-973D-44B5-93D0-CBBB95E8896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229746-207D-44BD-A805-8FB32B955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AE08D6-F6B4-4C59-AC21-11CACBE749F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B3A868-1684-4D51-9909-E6FEBA237DD2}"/>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8" name="Footer Placeholder 7">
            <a:extLst>
              <a:ext uri="{FF2B5EF4-FFF2-40B4-BE49-F238E27FC236}">
                <a16:creationId xmlns:a16="http://schemas.microsoft.com/office/drawing/2014/main" id="{563C4DB7-8D66-4385-8F36-DDB0B406F8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2238E7-75D6-4B5A-9A5E-94AF3DDFFFC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621102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1F7D-9A0E-4428-AFA6-B3884B8660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FD0FE8-FBC4-4053-A9DB-007B50B02A6D}"/>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4" name="Footer Placeholder 3">
            <a:extLst>
              <a:ext uri="{FF2B5EF4-FFF2-40B4-BE49-F238E27FC236}">
                <a16:creationId xmlns:a16="http://schemas.microsoft.com/office/drawing/2014/main" id="{394F5807-E233-4E49-A82E-99348F18B8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EE2138-6BF4-4E1E-8532-88B172A8AEFA}"/>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37291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A22116-2130-4A94-A2E7-88243ABBEFC4}"/>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3" name="Footer Placeholder 2">
            <a:extLst>
              <a:ext uri="{FF2B5EF4-FFF2-40B4-BE49-F238E27FC236}">
                <a16:creationId xmlns:a16="http://schemas.microsoft.com/office/drawing/2014/main" id="{C9FB84FF-3C8D-4AF6-ACFC-BBB36E20D4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21DE3D-6CA5-40DA-BF1D-E2010838985C}"/>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4031169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99DD-99C2-4B2F-AB88-D320B4676F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CFC6A9-2E46-4F1C-979D-61E38C8C5B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6BF673-C3EC-4B67-86DA-0C2F5AD86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E0DD5C-A4A3-456F-A80A-CC716C66B05F}"/>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6" name="Footer Placeholder 5">
            <a:extLst>
              <a:ext uri="{FF2B5EF4-FFF2-40B4-BE49-F238E27FC236}">
                <a16:creationId xmlns:a16="http://schemas.microsoft.com/office/drawing/2014/main" id="{AC19E7FB-5912-492F-B954-BE022C6CD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0EEE39-41A5-4D5D-8DE7-C16FA7446CD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1407818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A4216-DB91-4F86-AB66-FF06A9B1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E555AE-30E1-4B94-8AE5-5E8654117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D61B40-8596-4A45-BF52-06D0752E6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6302313-6DE9-48CC-8A90-1857FDF711A0}"/>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6" name="Footer Placeholder 5">
            <a:extLst>
              <a:ext uri="{FF2B5EF4-FFF2-40B4-BE49-F238E27FC236}">
                <a16:creationId xmlns:a16="http://schemas.microsoft.com/office/drawing/2014/main" id="{44F0DD8B-F55D-4B88-9392-4DD1584779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70A818-5409-4AFE-B471-373AFE394EE2}"/>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993441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D382-98BA-4F37-BB94-642F99FEE4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94807C-4AD2-4BEF-8657-F80C544E5F8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BA87A4-FF52-4E32-95A3-F2A31EFA483F}"/>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F1C08933-D684-4380-9EBA-8DF478B4F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A5C49-D069-4F13-81B1-A1E07B53A458}"/>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30935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954B0-E481-4AF9-A3BA-564C7010E2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3368E4-F9C3-4E17-8884-BF1F7F82F58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F5AA5-E3DC-4A1B-8ECA-54BEAFEE5288}"/>
              </a:ext>
            </a:extLst>
          </p:cNvPr>
          <p:cNvSpPr>
            <a:spLocks noGrp="1"/>
          </p:cNvSpPr>
          <p:nvPr>
            <p:ph type="dt" sz="half" idx="10"/>
          </p:nvPr>
        </p:nvSpPr>
        <p:spPr/>
        <p:txBody>
          <a:body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297FE7C3-D9E2-4027-9A75-6C5E9E604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59609-801E-4223-836A-D95A46CA2871}"/>
              </a:ext>
            </a:extLst>
          </p:cNvPr>
          <p:cNvSpPr>
            <a:spLocks noGrp="1"/>
          </p:cNvSpPr>
          <p:nvPr>
            <p:ph type="sldNum" sz="quarter" idx="12"/>
          </p:nvPr>
        </p:nvSpPr>
        <p:spPr/>
        <p:txBody>
          <a:bodyPr/>
          <a:lstStyle/>
          <a:p>
            <a:fld id="{8A69F6BF-410A-4A0D-95F8-52951416D106}" type="slidenum">
              <a:rPr lang="en-IN" smtClean="0"/>
              <a:t>‹#›</a:t>
            </a:fld>
            <a:endParaRPr lang="en-IN"/>
          </a:p>
        </p:txBody>
      </p:sp>
    </p:spTree>
    <p:extLst>
      <p:ext uri="{BB962C8B-B14F-4D97-AF65-F5344CB8AC3E}">
        <p14:creationId xmlns:p14="http://schemas.microsoft.com/office/powerpoint/2010/main" val="92975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21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E3B56-6D5C-4682-9920-B94261D4E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7D9D1-EE96-4CB8-A598-90974E675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A7A5E0-FA87-4BDD-B501-B34239EBA7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EF5DC5-E8E1-4A4B-A884-6C770968C94A}" type="datetimeFigureOut">
              <a:rPr lang="en-IN" smtClean="0"/>
              <a:t>02-07-2026</a:t>
            </a:fld>
            <a:endParaRPr lang="en-IN"/>
          </a:p>
        </p:txBody>
      </p:sp>
      <p:sp>
        <p:nvSpPr>
          <p:cNvPr id="5" name="Footer Placeholder 4">
            <a:extLst>
              <a:ext uri="{FF2B5EF4-FFF2-40B4-BE49-F238E27FC236}">
                <a16:creationId xmlns:a16="http://schemas.microsoft.com/office/drawing/2014/main" id="{A4D56BB9-162D-4FE6-BD3D-5DE0B1A00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020E43-4D3F-4308-BFAB-EB5E8B801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69F6BF-410A-4A0D-95F8-52951416D106}" type="slidenum">
              <a:rPr lang="en-IN" smtClean="0"/>
              <a:t>‹#›</a:t>
            </a:fld>
            <a:endParaRPr lang="en-IN"/>
          </a:p>
        </p:txBody>
      </p:sp>
    </p:spTree>
    <p:extLst>
      <p:ext uri="{BB962C8B-B14F-4D97-AF65-F5344CB8AC3E}">
        <p14:creationId xmlns:p14="http://schemas.microsoft.com/office/powerpoint/2010/main" val="99859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hyperlink" Target="https://www.kaggle.com/" TargetMode="External"/><Relationship Id="rId3" Type="http://schemas.openxmlformats.org/officeDocument/2006/relationships/image" Target="../media/image4.png"/><Relationship Id="rId7" Type="http://schemas.openxmlformats.org/officeDocument/2006/relationships/hyperlink" Target="https://towardsdatascience.com/" TargetMode="External"/><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hyperlink" Target="https://www.analyticsvidhya.com/" TargetMode="External"/><Relationship Id="rId5" Type="http://schemas.openxmlformats.org/officeDocument/2006/relationships/hyperlink" Target="https://en.wikipedia.org/wiki/Machine_learning" TargetMode="External"/><Relationship Id="rId4" Type="http://schemas.openxmlformats.org/officeDocument/2006/relationships/hyperlink" Target="https://www.geeksforgeeks.org/machine-learning/" TargetMode="External"/><Relationship Id="rId9" Type="http://schemas.openxmlformats.org/officeDocument/2006/relationships/hyperlink" Target="https://scikit-learn.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C2ADE-F067-45D0-AAAA-FFC13890FBD6}"/>
              </a:ext>
            </a:extLst>
          </p:cNvPr>
          <p:cNvPicPr>
            <a:picLocks noChangeAspect="1"/>
          </p:cNvPicPr>
          <p:nvPr/>
        </p:nvPicPr>
        <p:blipFill>
          <a:blip r:embed="rId2"/>
          <a:stretch>
            <a:fillRect/>
          </a:stretch>
        </p:blipFill>
        <p:spPr>
          <a:xfrm>
            <a:off x="0" y="0"/>
            <a:ext cx="12192000" cy="982133"/>
          </a:xfrm>
          <a:prstGeom prst="rect">
            <a:avLst/>
          </a:prstGeom>
        </p:spPr>
      </p:pic>
      <p:pic>
        <p:nvPicPr>
          <p:cNvPr id="3" name="Picture 2">
            <a:extLst>
              <a:ext uri="{FF2B5EF4-FFF2-40B4-BE49-F238E27FC236}">
                <a16:creationId xmlns:a16="http://schemas.microsoft.com/office/drawing/2014/main" id="{C1AAD0F6-9FE5-42AD-AC79-E88FBF31D686}"/>
              </a:ext>
            </a:extLst>
          </p:cNvPr>
          <p:cNvPicPr>
            <a:picLocks noChangeAspect="1"/>
          </p:cNvPicPr>
          <p:nvPr/>
        </p:nvPicPr>
        <p:blipFill rotWithShape="1">
          <a:blip r:embed="rId3"/>
          <a:srcRect l="486" t="6826"/>
          <a:stretch/>
        </p:blipFill>
        <p:spPr>
          <a:xfrm>
            <a:off x="0" y="4394200"/>
            <a:ext cx="12192000" cy="2463800"/>
          </a:xfrm>
          <a:prstGeom prst="rect">
            <a:avLst/>
          </a:prstGeom>
        </p:spPr>
      </p:pic>
      <p:sp>
        <p:nvSpPr>
          <p:cNvPr id="5" name="Text 3">
            <a:extLst>
              <a:ext uri="{FF2B5EF4-FFF2-40B4-BE49-F238E27FC236}">
                <a16:creationId xmlns:a16="http://schemas.microsoft.com/office/drawing/2014/main" id="{E3314A08-1627-40ED-BFA4-6793AACB7A59}"/>
              </a:ext>
            </a:extLst>
          </p:cNvPr>
          <p:cNvSpPr/>
          <p:nvPr/>
        </p:nvSpPr>
        <p:spPr>
          <a:xfrm>
            <a:off x="1468967" y="1062571"/>
            <a:ext cx="9254067" cy="1088813"/>
          </a:xfrm>
          <a:prstGeom prst="rect">
            <a:avLst/>
          </a:prstGeom>
          <a:noFill/>
          <a:ln/>
        </p:spPr>
        <p:txBody>
          <a:bodyPr wrap="square" rtlCol="0" anchor="ctr"/>
          <a:lstStyle/>
          <a:p>
            <a:pPr algn="ctr">
              <a:lnSpc>
                <a:spcPct val="115000"/>
              </a:lnSpc>
            </a:pPr>
            <a:r>
              <a:rPr lang="en-US" sz="2400" b="1" dirty="0">
                <a:latin typeface="Georgia" pitchFamily="34" charset="0"/>
              </a:rPr>
              <a:t>Machine Learning</a:t>
            </a:r>
            <a:endParaRPr lang="en-US" sz="2400" dirty="0"/>
          </a:p>
        </p:txBody>
      </p:sp>
      <p:sp>
        <p:nvSpPr>
          <p:cNvPr id="6" name="Text Placeholder 2">
            <a:extLst>
              <a:ext uri="{FF2B5EF4-FFF2-40B4-BE49-F238E27FC236}">
                <a16:creationId xmlns:a16="http://schemas.microsoft.com/office/drawing/2014/main" id="{95B2CB65-D2F8-4C74-98AC-5665A3C7ADA1}"/>
              </a:ext>
            </a:extLst>
          </p:cNvPr>
          <p:cNvSpPr txBox="1">
            <a:spLocks/>
          </p:cNvSpPr>
          <p:nvPr/>
        </p:nvSpPr>
        <p:spPr>
          <a:xfrm>
            <a:off x="1264556" y="2303575"/>
            <a:ext cx="9662888" cy="456355"/>
          </a:xfrm>
          <a:prstGeom prst="rect">
            <a:avLst/>
          </a:prstGeom>
        </p:spPr>
        <p:txBody>
          <a:bodyPr anchor="b"/>
          <a:lstStyle>
            <a:lvl1pPr marL="0" indent="0" algn="ctr" defTabSz="914400" rtl="0" eaLnBrk="1" latinLnBrk="0" hangingPunct="1">
              <a:spcBef>
                <a:spcPct val="20000"/>
              </a:spcBef>
              <a:buFont typeface="Arial" pitchFamily="34" charset="0"/>
              <a:buNone/>
              <a:defRPr sz="2000" b="1" i="1" kern="1200">
                <a:solidFill>
                  <a:srgbClr val="000099"/>
                </a:solidFill>
                <a:latin typeface="+mn-lt"/>
                <a:ea typeface="+mn-ea"/>
                <a:cs typeface="+mn-cs"/>
              </a:defRPr>
            </a:lvl1pPr>
            <a:lvl2pPr marL="457200" indent="0" algn="l" defTabSz="914400" rtl="0" eaLnBrk="1" latinLnBrk="0" hangingPunct="1">
              <a:spcBef>
                <a:spcPct val="20000"/>
              </a:spcBef>
              <a:buFont typeface="Arial" pitchFamily="34" charset="0"/>
              <a:buNone/>
              <a:defRPr sz="2000" b="1"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800" b="1"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sz="2400" dirty="0"/>
              <a:t>Summer Internship- 2026</a:t>
            </a:r>
            <a:endParaRPr lang="en-US" sz="2133"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2A523A3B-A0A7-42F8-9E01-9BE5577510A4}"/>
              </a:ext>
            </a:extLst>
          </p:cNvPr>
          <p:cNvSpPr/>
          <p:nvPr/>
        </p:nvSpPr>
        <p:spPr>
          <a:xfrm>
            <a:off x="389467" y="3152568"/>
            <a:ext cx="4783667" cy="1645920"/>
          </a:xfrm>
          <a:prstGeom prst="rect">
            <a:avLst/>
          </a:prstGeom>
          <a:noFill/>
          <a:ln/>
        </p:spPr>
        <p:txBody>
          <a:bodyPr wrap="square" rtlCol="0" anchor="ctr"/>
          <a:lstStyle/>
          <a:p>
            <a:r>
              <a:rPr lang="en-US" sz="1467" dirty="0">
                <a:latin typeface="Times New Roman" panose="02020603050405020304" pitchFamily="18" charset="0"/>
                <a:ea typeface="Calibri" pitchFamily="34" charset="-122"/>
                <a:cs typeface="Times New Roman" panose="02020603050405020304" pitchFamily="18" charset="0"/>
              </a:rPr>
              <a:t>Name: </a:t>
            </a:r>
            <a:r>
              <a:rPr lang="en-US" sz="1467" dirty="0" err="1">
                <a:latin typeface="Times New Roman" panose="02020603050405020304" pitchFamily="18" charset="0"/>
                <a:ea typeface="Calibri" pitchFamily="34" charset="-122"/>
                <a:cs typeface="Times New Roman" panose="02020603050405020304" pitchFamily="18" charset="0"/>
              </a:rPr>
              <a:t>Vishav</a:t>
            </a:r>
            <a:r>
              <a:rPr lang="en-US" sz="1467" dirty="0">
                <a:latin typeface="Times New Roman" panose="02020603050405020304" pitchFamily="18" charset="0"/>
                <a:ea typeface="Calibri" pitchFamily="34" charset="-122"/>
                <a:cs typeface="Times New Roman" panose="02020603050405020304" pitchFamily="18" charset="0"/>
              </a:rPr>
              <a:t> Bharti</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Supervisor: </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Prof. Millie Pant</a:t>
            </a:r>
          </a:p>
          <a:p>
            <a:r>
              <a:rPr lang="en-US" sz="1467" dirty="0">
                <a:solidFill>
                  <a:prstClr val="black"/>
                </a:solidFill>
                <a:latin typeface="Times New Roman" panose="02020603050405020304" pitchFamily="18" charset="0"/>
                <a:ea typeface="Calibri" pitchFamily="34" charset="-122"/>
                <a:cs typeface="Times New Roman" panose="02020603050405020304" pitchFamily="18" charset="0"/>
              </a:rPr>
              <a:t>Mentor</a:t>
            </a:r>
            <a:r>
              <a:rPr lang="en-US" sz="1467" b="1" dirty="0">
                <a:solidFill>
                  <a:prstClr val="black"/>
                </a:solidFill>
                <a:latin typeface="Times New Roman" panose="02020603050405020304" pitchFamily="18" charset="0"/>
                <a:ea typeface="Calibri" pitchFamily="34" charset="-122"/>
                <a:cs typeface="Times New Roman" panose="02020603050405020304" pitchFamily="18" charset="0"/>
              </a:rPr>
              <a:t>: Miss Riya </a:t>
            </a:r>
            <a:r>
              <a:rPr lang="en-US" sz="1867" b="1" dirty="0">
                <a:solidFill>
                  <a:srgbClr val="FFFFFF"/>
                </a:solidFill>
                <a:latin typeface="Times New Roman" panose="02020603050405020304" pitchFamily="18" charset="0"/>
                <a:ea typeface="Calibri" pitchFamily="34" charset="-122"/>
                <a:cs typeface="Times New Roman" panose="02020603050405020304" pitchFamily="18" charset="0"/>
              </a:rPr>
              <a:t>
</a:t>
            </a:r>
            <a:r>
              <a:rPr lang="en-US" sz="1467" dirty="0">
                <a:latin typeface="Times New Roman" panose="02020603050405020304" pitchFamily="18" charset="0"/>
                <a:ea typeface="Calibri" pitchFamily="34" charset="-122"/>
                <a:cs typeface="Times New Roman" panose="02020603050405020304" pitchFamily="18" charset="0"/>
              </a:rPr>
              <a:t>Applied Mathematics &amp; Scientific Computing</a:t>
            </a:r>
          </a:p>
          <a:p>
            <a:r>
              <a:rPr lang="en-US" sz="1467" dirty="0">
                <a:latin typeface="Times New Roman" panose="02020603050405020304" pitchFamily="18" charset="0"/>
                <a:ea typeface="Calibri" pitchFamily="34" charset="-122"/>
                <a:cs typeface="Times New Roman" panose="02020603050405020304" pitchFamily="18" charset="0"/>
              </a:rPr>
              <a:t>Indian Institute of Technology  Roorkee</a:t>
            </a:r>
            <a:endParaRPr lang="en-US" sz="1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417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Learning Objectives</a:t>
            </a:r>
            <a:endParaRPr lang="en-US" sz="2800" dirty="0">
              <a:solidFill>
                <a:srgbClr val="002060"/>
              </a:solidFill>
            </a:endParaRPr>
          </a:p>
        </p:txBody>
      </p:sp>
      <p:sp>
        <p:nvSpPr>
          <p:cNvPr id="8" name="Rectangle 7">
            <a:extLst>
              <a:ext uri="{FF2B5EF4-FFF2-40B4-BE49-F238E27FC236}">
                <a16:creationId xmlns:a16="http://schemas.microsoft.com/office/drawing/2014/main" id="{83532B7D-8A63-4600-9B2F-48936A864DF8}"/>
              </a:ext>
            </a:extLst>
          </p:cNvPr>
          <p:cNvSpPr/>
          <p:nvPr/>
        </p:nvSpPr>
        <p:spPr>
          <a:xfrm>
            <a:off x="435685" y="1173487"/>
            <a:ext cx="11057613" cy="4401205"/>
          </a:xfrm>
          <a:prstGeom prst="rect">
            <a:avLst/>
          </a:prstGeom>
        </p:spPr>
        <p:txBody>
          <a:bodyPr wrap="square">
            <a:spAutoFit/>
          </a:bodyPr>
          <a:lstStyle/>
          <a:p>
            <a:pPr marL="457200" indent="-457200">
              <a:buFont typeface="Wingdings" panose="05000000000000000000" pitchFamily="2" charset="2"/>
              <a:buChar char="Ø"/>
            </a:pPr>
            <a:r>
              <a:rPr lang="en-IN" sz="2800" dirty="0"/>
              <a:t>Introduction to Machine Learning. </a:t>
            </a:r>
          </a:p>
          <a:p>
            <a:pPr marL="457200" indent="-457200">
              <a:buFont typeface="Wingdings" panose="05000000000000000000" pitchFamily="2" charset="2"/>
              <a:buChar char="Ø"/>
            </a:pPr>
            <a:r>
              <a:rPr lang="en-IN" sz="2800" dirty="0"/>
              <a:t>Data </a:t>
            </a:r>
            <a:r>
              <a:rPr lang="en-IN" sz="2800" dirty="0" err="1"/>
              <a:t>Preprocessing</a:t>
            </a:r>
            <a:r>
              <a:rPr lang="en-IN" sz="2800" dirty="0"/>
              <a:t> &amp; EDA.</a:t>
            </a:r>
          </a:p>
          <a:p>
            <a:pPr marL="457200" indent="-457200">
              <a:buFont typeface="Wingdings" panose="05000000000000000000" pitchFamily="2" charset="2"/>
              <a:buChar char="Ø"/>
            </a:pPr>
            <a:r>
              <a:rPr lang="en-IN" sz="2800" dirty="0"/>
              <a:t>Linear &amp; Logistic Regression.</a:t>
            </a:r>
          </a:p>
          <a:p>
            <a:pPr marL="457200" indent="-457200">
              <a:buFont typeface="Wingdings" panose="05000000000000000000" pitchFamily="2" charset="2"/>
              <a:buChar char="Ø"/>
            </a:pPr>
            <a:r>
              <a:rPr lang="en-IN" sz="2800" dirty="0"/>
              <a:t>Decision Trees &amp; Random Forests.</a:t>
            </a:r>
          </a:p>
          <a:p>
            <a:pPr marL="457200" indent="-457200">
              <a:buFont typeface="Wingdings" panose="05000000000000000000" pitchFamily="2" charset="2"/>
              <a:buChar char="Ø"/>
            </a:pPr>
            <a:r>
              <a:rPr lang="en-IN" sz="2800" dirty="0"/>
              <a:t>SVM &amp; K-Nearest </a:t>
            </a:r>
            <a:r>
              <a:rPr lang="en-IN" sz="2800" dirty="0" err="1"/>
              <a:t>Neighbors</a:t>
            </a:r>
            <a:r>
              <a:rPr lang="en-IN" sz="2800" dirty="0"/>
              <a:t>.</a:t>
            </a:r>
          </a:p>
          <a:p>
            <a:pPr marL="457200" indent="-457200">
              <a:buFont typeface="Wingdings" panose="05000000000000000000" pitchFamily="2" charset="2"/>
              <a:buChar char="Ø"/>
            </a:pPr>
            <a:r>
              <a:rPr lang="en-IN" sz="2800" dirty="0"/>
              <a:t>Clustering &amp; Dimensionality Reduction.</a:t>
            </a:r>
          </a:p>
          <a:p>
            <a:pPr marL="457200" indent="-457200">
              <a:buFont typeface="Wingdings" panose="05000000000000000000" pitchFamily="2" charset="2"/>
              <a:buChar char="Ø"/>
            </a:pPr>
            <a:r>
              <a:rPr lang="en-IN" sz="2800" dirty="0"/>
              <a:t>Model Evaluation &amp; Hyperparameter Tuning.</a:t>
            </a:r>
          </a:p>
          <a:p>
            <a:pPr marL="457200" indent="-457200">
              <a:buFont typeface="Wingdings" panose="05000000000000000000" pitchFamily="2" charset="2"/>
              <a:buChar char="Ø"/>
            </a:pPr>
            <a:r>
              <a:rPr lang="en-IN" sz="2800" dirty="0"/>
              <a:t>Feature Engineering &amp; Pipelines.</a:t>
            </a:r>
          </a:p>
          <a:p>
            <a:pPr marL="457200" indent="-457200">
              <a:buFont typeface="Wingdings" panose="05000000000000000000" pitchFamily="2" charset="2"/>
              <a:buChar char="Ø"/>
            </a:pPr>
            <a:r>
              <a:rPr lang="en-IN" sz="2800" dirty="0"/>
              <a:t>Introduction to NLP.</a:t>
            </a:r>
          </a:p>
          <a:p>
            <a:pPr marL="457200" indent="-457200">
              <a:buFont typeface="Wingdings" panose="05000000000000000000" pitchFamily="2" charset="2"/>
              <a:buChar char="Ø"/>
            </a:pPr>
            <a:r>
              <a:rPr lang="en-IN" sz="2800" dirty="0"/>
              <a:t>Machine Learning Capstone.</a:t>
            </a:r>
          </a:p>
        </p:txBody>
      </p:sp>
    </p:spTree>
    <p:extLst>
      <p:ext uri="{BB962C8B-B14F-4D97-AF65-F5344CB8AC3E}">
        <p14:creationId xmlns:p14="http://schemas.microsoft.com/office/powerpoint/2010/main" val="886605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Introduction to Machine learning </a:t>
            </a:r>
            <a:endParaRPr lang="en-US" sz="2800" dirty="0">
              <a:solidFill>
                <a:srgbClr val="002060"/>
              </a:solidFill>
            </a:endParaRPr>
          </a:p>
        </p:txBody>
      </p:sp>
      <p:sp>
        <p:nvSpPr>
          <p:cNvPr id="7" name="TextBox 6">
            <a:extLst>
              <a:ext uri="{FF2B5EF4-FFF2-40B4-BE49-F238E27FC236}">
                <a16:creationId xmlns:a16="http://schemas.microsoft.com/office/drawing/2014/main" id="{BE52AE20-C73A-4F8A-A93A-7CD91D4F289D}"/>
              </a:ext>
            </a:extLst>
          </p:cNvPr>
          <p:cNvSpPr txBox="1"/>
          <p:nvPr/>
        </p:nvSpPr>
        <p:spPr>
          <a:xfrm>
            <a:off x="435685" y="994359"/>
            <a:ext cx="3013197" cy="400110"/>
          </a:xfrm>
          <a:prstGeom prst="rect">
            <a:avLst/>
          </a:prstGeom>
          <a:noFill/>
        </p:spPr>
        <p:txBody>
          <a:bodyPr wrap="none" rtlCol="0">
            <a:spAutoFit/>
          </a:bodyPr>
          <a:lstStyle/>
          <a:p>
            <a:r>
              <a:rPr lang="en-IN" sz="2000" i="1" dirty="0">
                <a:solidFill>
                  <a:schemeClr val="accent1">
                    <a:lumMod val="75000"/>
                  </a:schemeClr>
                </a:solidFill>
              </a:rPr>
              <a:t>What is Machine Learning?</a:t>
            </a:r>
          </a:p>
        </p:txBody>
      </p:sp>
      <p:sp>
        <p:nvSpPr>
          <p:cNvPr id="9" name="TextBox 8">
            <a:extLst>
              <a:ext uri="{FF2B5EF4-FFF2-40B4-BE49-F238E27FC236}">
                <a16:creationId xmlns:a16="http://schemas.microsoft.com/office/drawing/2014/main" id="{063C5318-881B-44C9-8497-4AD1C946ADA6}"/>
              </a:ext>
            </a:extLst>
          </p:cNvPr>
          <p:cNvSpPr txBox="1"/>
          <p:nvPr/>
        </p:nvSpPr>
        <p:spPr>
          <a:xfrm>
            <a:off x="435685" y="1418743"/>
            <a:ext cx="11338560" cy="615553"/>
          </a:xfrm>
          <a:prstGeom prst="rect">
            <a:avLst/>
          </a:prstGeom>
          <a:noFill/>
        </p:spPr>
        <p:txBody>
          <a:bodyPr wrap="square" rtlCol="0">
            <a:spAutoFit/>
          </a:bodyPr>
          <a:lstStyle/>
          <a:p>
            <a:r>
              <a:rPr lang="en-US" sz="1600" dirty="0">
                <a:solidFill>
                  <a:schemeClr val="bg2">
                    <a:lumMod val="10000"/>
                  </a:schemeClr>
                </a:solidFill>
              </a:rPr>
              <a:t>Machine Learning (ML) is a branch of Artificial Intelligence (AI) that enables computers to learn patterns from data and make predictions or decisions without being explicitly programmed</a:t>
            </a:r>
            <a:r>
              <a:rPr lang="en-US" dirty="0"/>
              <a:t>.</a:t>
            </a:r>
            <a:endParaRPr lang="en-IN" dirty="0"/>
          </a:p>
        </p:txBody>
      </p:sp>
      <p:sp>
        <p:nvSpPr>
          <p:cNvPr id="12" name="TextBox 11">
            <a:extLst>
              <a:ext uri="{FF2B5EF4-FFF2-40B4-BE49-F238E27FC236}">
                <a16:creationId xmlns:a16="http://schemas.microsoft.com/office/drawing/2014/main" id="{2DB7550B-6D4C-42A2-B3C0-E0C737AF0257}"/>
              </a:ext>
            </a:extLst>
          </p:cNvPr>
          <p:cNvSpPr txBox="1"/>
          <p:nvPr/>
        </p:nvSpPr>
        <p:spPr>
          <a:xfrm>
            <a:off x="417755" y="2177560"/>
            <a:ext cx="11338560" cy="369332"/>
          </a:xfrm>
          <a:prstGeom prst="rect">
            <a:avLst/>
          </a:prstGeom>
          <a:noFill/>
        </p:spPr>
        <p:txBody>
          <a:bodyPr wrap="square" rtlCol="0">
            <a:spAutoFit/>
          </a:bodyPr>
          <a:lstStyle/>
          <a:p>
            <a:r>
              <a:rPr lang="en-IN" b="1" dirty="0"/>
              <a:t>Types of Machine Learning</a:t>
            </a:r>
          </a:p>
        </p:txBody>
      </p:sp>
      <p:sp>
        <p:nvSpPr>
          <p:cNvPr id="15" name="TextBox 14">
            <a:extLst>
              <a:ext uri="{FF2B5EF4-FFF2-40B4-BE49-F238E27FC236}">
                <a16:creationId xmlns:a16="http://schemas.microsoft.com/office/drawing/2014/main" id="{77FD4B79-CB4A-428A-AAD6-69FB5A467928}"/>
              </a:ext>
            </a:extLst>
          </p:cNvPr>
          <p:cNvSpPr txBox="1"/>
          <p:nvPr/>
        </p:nvSpPr>
        <p:spPr>
          <a:xfrm>
            <a:off x="417755" y="2416739"/>
            <a:ext cx="11338560" cy="830997"/>
          </a:xfrm>
          <a:prstGeom prst="rect">
            <a:avLst/>
          </a:prstGeom>
          <a:noFill/>
        </p:spPr>
        <p:txBody>
          <a:bodyPr wrap="square" rtlCol="0">
            <a:spAutoFit/>
          </a:bodyPr>
          <a:lstStyle/>
          <a:p>
            <a:pPr marL="285750" indent="-285750">
              <a:buFont typeface="Wingdings" panose="05000000000000000000" pitchFamily="2" charset="2"/>
              <a:buChar char="Ø"/>
            </a:pPr>
            <a:r>
              <a:rPr lang="en-US" sz="1600" b="1" dirty="0"/>
              <a:t>Supervised Learning.</a:t>
            </a:r>
            <a:endParaRPr lang="en-US" sz="1600" dirty="0"/>
          </a:p>
          <a:p>
            <a:pPr marL="285750" indent="-285750">
              <a:buFont typeface="Wingdings" panose="05000000000000000000" pitchFamily="2" charset="2"/>
              <a:buChar char="Ø"/>
            </a:pPr>
            <a:r>
              <a:rPr lang="en-US" sz="1600" b="1" dirty="0"/>
              <a:t>Unsupervised Learning.</a:t>
            </a:r>
            <a:endParaRPr lang="en-US" sz="1600" dirty="0"/>
          </a:p>
          <a:p>
            <a:pPr marL="285750" indent="-285750">
              <a:buFont typeface="Wingdings" panose="05000000000000000000" pitchFamily="2" charset="2"/>
              <a:buChar char="Ø"/>
            </a:pPr>
            <a:r>
              <a:rPr lang="en-US" sz="1600" b="1" dirty="0"/>
              <a:t>Reinforcement Learning.</a:t>
            </a:r>
            <a:endParaRPr lang="en-US" sz="1600" dirty="0"/>
          </a:p>
        </p:txBody>
      </p:sp>
      <p:sp>
        <p:nvSpPr>
          <p:cNvPr id="17" name="TextBox 16">
            <a:extLst>
              <a:ext uri="{FF2B5EF4-FFF2-40B4-BE49-F238E27FC236}">
                <a16:creationId xmlns:a16="http://schemas.microsoft.com/office/drawing/2014/main" id="{49D4C2AB-8D9F-4F8C-876C-3D1918A1B73D}"/>
              </a:ext>
            </a:extLst>
          </p:cNvPr>
          <p:cNvSpPr txBox="1"/>
          <p:nvPr/>
        </p:nvSpPr>
        <p:spPr>
          <a:xfrm>
            <a:off x="417755" y="3505324"/>
            <a:ext cx="8351699" cy="1631216"/>
          </a:xfrm>
          <a:prstGeom prst="rect">
            <a:avLst/>
          </a:prstGeom>
          <a:noFill/>
        </p:spPr>
        <p:txBody>
          <a:bodyPr wrap="square" rtlCol="0">
            <a:spAutoFit/>
          </a:bodyPr>
          <a:lstStyle/>
          <a:p>
            <a:r>
              <a:rPr lang="en-US" sz="1600" dirty="0"/>
              <a:t>The model learns using </a:t>
            </a:r>
            <a:r>
              <a:rPr lang="en-US" sz="1600" b="1" dirty="0"/>
              <a:t>labeled data</a:t>
            </a:r>
            <a:r>
              <a:rPr lang="en-US" sz="1600" dirty="0"/>
              <a:t>, where the correct output is already known</a:t>
            </a:r>
            <a:r>
              <a:rPr lang="en-US" dirty="0"/>
              <a:t>.</a:t>
            </a:r>
          </a:p>
          <a:p>
            <a:r>
              <a:rPr lang="en-IN" sz="1600" b="1" dirty="0">
                <a:solidFill>
                  <a:schemeClr val="accent6">
                    <a:lumMod val="75000"/>
                  </a:schemeClr>
                </a:solidFill>
              </a:rPr>
              <a:t>Examples</a:t>
            </a:r>
          </a:p>
          <a:p>
            <a:pPr marL="285750" indent="-285750">
              <a:buFont typeface="Wingdings" panose="05000000000000000000" pitchFamily="2" charset="2"/>
              <a:buChar char="§"/>
            </a:pPr>
            <a:r>
              <a:rPr lang="en-IN" sz="1600" dirty="0"/>
              <a:t>House price prediction. </a:t>
            </a:r>
          </a:p>
          <a:p>
            <a:pPr marL="285750" indent="-285750">
              <a:buFont typeface="Wingdings" panose="05000000000000000000" pitchFamily="2" charset="2"/>
              <a:buChar char="§"/>
            </a:pPr>
            <a:r>
              <a:rPr lang="en-IN" sz="1600" dirty="0"/>
              <a:t>Email spam classification.</a:t>
            </a:r>
          </a:p>
          <a:p>
            <a:pPr marL="285750" indent="-285750">
              <a:buFont typeface="Wingdings" panose="05000000000000000000" pitchFamily="2" charset="2"/>
              <a:buChar char="§"/>
            </a:pPr>
            <a:r>
              <a:rPr lang="en-IN" sz="1600" dirty="0"/>
              <a:t>Student grade prediction.</a:t>
            </a:r>
          </a:p>
          <a:p>
            <a:endParaRPr lang="en-IN" b="1" dirty="0"/>
          </a:p>
        </p:txBody>
      </p:sp>
      <p:sp>
        <p:nvSpPr>
          <p:cNvPr id="22" name="Rectangle 2">
            <a:extLst>
              <a:ext uri="{FF2B5EF4-FFF2-40B4-BE49-F238E27FC236}">
                <a16:creationId xmlns:a16="http://schemas.microsoft.com/office/drawing/2014/main" id="{8FBF8F26-A1D9-4386-BF43-6FD21C727054}"/>
              </a:ext>
            </a:extLst>
          </p:cNvPr>
          <p:cNvSpPr>
            <a:spLocks noChangeArrowheads="1"/>
          </p:cNvSpPr>
          <p:nvPr/>
        </p:nvSpPr>
        <p:spPr bwMode="auto">
          <a:xfrm>
            <a:off x="417755" y="3266399"/>
            <a:ext cx="113385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C00000"/>
                </a:solidFill>
                <a:effectLst/>
                <a:latin typeface="Arial" panose="020B0604020202020204" pitchFamily="34" charset="0"/>
              </a:rPr>
              <a:t>Supervised learning:</a:t>
            </a:r>
          </a:p>
        </p:txBody>
      </p:sp>
      <p:sp>
        <p:nvSpPr>
          <p:cNvPr id="25" name="TextBox 24">
            <a:extLst>
              <a:ext uri="{FF2B5EF4-FFF2-40B4-BE49-F238E27FC236}">
                <a16:creationId xmlns:a16="http://schemas.microsoft.com/office/drawing/2014/main" id="{E14C6B1B-A14A-4D94-BA7F-147B0C66D003}"/>
              </a:ext>
            </a:extLst>
          </p:cNvPr>
          <p:cNvSpPr txBox="1"/>
          <p:nvPr/>
        </p:nvSpPr>
        <p:spPr>
          <a:xfrm>
            <a:off x="417755" y="4894099"/>
            <a:ext cx="5851450" cy="369332"/>
          </a:xfrm>
          <a:prstGeom prst="rect">
            <a:avLst/>
          </a:prstGeom>
          <a:noFill/>
        </p:spPr>
        <p:txBody>
          <a:bodyPr wrap="square" rtlCol="0">
            <a:spAutoFit/>
          </a:bodyPr>
          <a:lstStyle/>
          <a:p>
            <a:r>
              <a:rPr lang="en-US" b="1" dirty="0">
                <a:solidFill>
                  <a:srgbClr val="C00000"/>
                </a:solidFill>
              </a:rPr>
              <a:t>Unsupervised learning: </a:t>
            </a:r>
            <a:endParaRPr lang="en-IN" b="1" dirty="0">
              <a:solidFill>
                <a:srgbClr val="C00000"/>
              </a:solidFill>
            </a:endParaRPr>
          </a:p>
        </p:txBody>
      </p:sp>
      <p:sp>
        <p:nvSpPr>
          <p:cNvPr id="29" name="TextBox 28">
            <a:extLst>
              <a:ext uri="{FF2B5EF4-FFF2-40B4-BE49-F238E27FC236}">
                <a16:creationId xmlns:a16="http://schemas.microsoft.com/office/drawing/2014/main" id="{B5DB7AC5-351C-4D47-9F4A-67D21C49D7EA}"/>
              </a:ext>
            </a:extLst>
          </p:cNvPr>
          <p:cNvSpPr txBox="1"/>
          <p:nvPr/>
        </p:nvSpPr>
        <p:spPr>
          <a:xfrm>
            <a:off x="435685" y="5229870"/>
            <a:ext cx="10213848" cy="1323439"/>
          </a:xfrm>
          <a:prstGeom prst="rect">
            <a:avLst/>
          </a:prstGeom>
          <a:noFill/>
        </p:spPr>
        <p:txBody>
          <a:bodyPr wrap="square" rtlCol="0">
            <a:spAutoFit/>
          </a:bodyPr>
          <a:lstStyle/>
          <a:p>
            <a:r>
              <a:rPr lang="en-US" sz="1600" dirty="0"/>
              <a:t>The model learns from </a:t>
            </a:r>
            <a:r>
              <a:rPr lang="en-US" sz="1600" b="1" dirty="0"/>
              <a:t>unlabeled data</a:t>
            </a:r>
            <a:r>
              <a:rPr lang="en-US" sz="1600" dirty="0"/>
              <a:t> by identifying hidden patterns.</a:t>
            </a:r>
          </a:p>
          <a:p>
            <a:r>
              <a:rPr lang="en-US" sz="1600" b="1" dirty="0">
                <a:solidFill>
                  <a:schemeClr val="accent6">
                    <a:lumMod val="75000"/>
                  </a:schemeClr>
                </a:solidFill>
              </a:rPr>
              <a:t>Examples</a:t>
            </a:r>
          </a:p>
          <a:p>
            <a:pPr marL="285750" indent="-285750">
              <a:buFont typeface="Wingdings" panose="05000000000000000000" pitchFamily="2" charset="2"/>
              <a:buChar char="§"/>
            </a:pPr>
            <a:r>
              <a:rPr lang="en-US" sz="1600" dirty="0"/>
              <a:t>Customer segmentation. </a:t>
            </a:r>
          </a:p>
          <a:p>
            <a:pPr marL="285750" indent="-285750">
              <a:buFont typeface="Wingdings" panose="05000000000000000000" pitchFamily="2" charset="2"/>
              <a:buChar char="§"/>
            </a:pPr>
            <a:r>
              <a:rPr lang="en-US" sz="1600" dirty="0"/>
              <a:t>Market basket analysis.</a:t>
            </a:r>
          </a:p>
          <a:p>
            <a:pPr marL="285750" indent="-285750">
              <a:buFont typeface="Wingdings" panose="05000000000000000000" pitchFamily="2" charset="2"/>
              <a:buChar char="§"/>
            </a:pPr>
            <a:r>
              <a:rPr lang="en-US" sz="1600" dirty="0"/>
              <a:t>Anomaly detection.</a:t>
            </a:r>
          </a:p>
        </p:txBody>
      </p:sp>
      <p:sp>
        <p:nvSpPr>
          <p:cNvPr id="8" name="TextBox 7">
            <a:extLst>
              <a:ext uri="{FF2B5EF4-FFF2-40B4-BE49-F238E27FC236}">
                <a16:creationId xmlns:a16="http://schemas.microsoft.com/office/drawing/2014/main" id="{8587E988-D405-4357-BDE3-5CDFD1379A87}"/>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1</a:t>
            </a:r>
            <a:endParaRPr lang="en-IN" dirty="0">
              <a:solidFill>
                <a:schemeClr val="bg1"/>
              </a:solidFill>
            </a:endParaRPr>
          </a:p>
        </p:txBody>
      </p:sp>
    </p:spTree>
    <p:extLst>
      <p:ext uri="{BB962C8B-B14F-4D97-AF65-F5344CB8AC3E}">
        <p14:creationId xmlns:p14="http://schemas.microsoft.com/office/powerpoint/2010/main" val="426564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rPr>
              <a:t>Types of ML</a:t>
            </a:r>
          </a:p>
        </p:txBody>
      </p:sp>
      <p:sp>
        <p:nvSpPr>
          <p:cNvPr id="7" name="TextBox 6">
            <a:extLst>
              <a:ext uri="{FF2B5EF4-FFF2-40B4-BE49-F238E27FC236}">
                <a16:creationId xmlns:a16="http://schemas.microsoft.com/office/drawing/2014/main" id="{D1642E70-A302-42B1-9DF8-4FAB2AAFAD15}"/>
              </a:ext>
            </a:extLst>
          </p:cNvPr>
          <p:cNvSpPr txBox="1"/>
          <p:nvPr/>
        </p:nvSpPr>
        <p:spPr>
          <a:xfrm>
            <a:off x="435685" y="1021283"/>
            <a:ext cx="5596128" cy="369332"/>
          </a:xfrm>
          <a:prstGeom prst="rect">
            <a:avLst/>
          </a:prstGeom>
          <a:noFill/>
        </p:spPr>
        <p:txBody>
          <a:bodyPr wrap="square" rtlCol="0">
            <a:spAutoFit/>
          </a:bodyPr>
          <a:lstStyle/>
          <a:p>
            <a:r>
              <a:rPr lang="en-IN" b="1" dirty="0">
                <a:solidFill>
                  <a:srgbClr val="C00000"/>
                </a:solidFill>
              </a:rPr>
              <a:t>Reinforcement Learning</a:t>
            </a:r>
          </a:p>
        </p:txBody>
      </p:sp>
      <p:sp>
        <p:nvSpPr>
          <p:cNvPr id="8" name="TextBox 7">
            <a:extLst>
              <a:ext uri="{FF2B5EF4-FFF2-40B4-BE49-F238E27FC236}">
                <a16:creationId xmlns:a16="http://schemas.microsoft.com/office/drawing/2014/main" id="{BFF36A0E-1480-4996-BE18-ABE98C8687CE}"/>
              </a:ext>
            </a:extLst>
          </p:cNvPr>
          <p:cNvSpPr txBox="1"/>
          <p:nvPr/>
        </p:nvSpPr>
        <p:spPr>
          <a:xfrm>
            <a:off x="435685" y="1303020"/>
            <a:ext cx="6053328" cy="1815882"/>
          </a:xfrm>
          <a:prstGeom prst="rect">
            <a:avLst/>
          </a:prstGeom>
          <a:noFill/>
        </p:spPr>
        <p:txBody>
          <a:bodyPr wrap="square" rtlCol="0">
            <a:spAutoFit/>
          </a:bodyPr>
          <a:lstStyle/>
          <a:p>
            <a:r>
              <a:rPr lang="en-US" sz="1600" dirty="0"/>
              <a:t>An agent learns by interacting with an environment and receiving rewards or penalties.</a:t>
            </a:r>
          </a:p>
          <a:p>
            <a:r>
              <a:rPr lang="en-US" sz="1600" b="1" dirty="0">
                <a:solidFill>
                  <a:schemeClr val="accent6">
                    <a:lumMod val="75000"/>
                  </a:schemeClr>
                </a:solidFill>
              </a:rPr>
              <a:t>Components</a:t>
            </a:r>
          </a:p>
          <a:p>
            <a:pPr marL="285750" indent="-285750">
              <a:buFont typeface="Wingdings" panose="05000000000000000000" pitchFamily="2" charset="2"/>
              <a:buChar char="§"/>
            </a:pPr>
            <a:r>
              <a:rPr lang="en-US" sz="1600" dirty="0"/>
              <a:t>Agent </a:t>
            </a:r>
          </a:p>
          <a:p>
            <a:pPr marL="285750" indent="-285750">
              <a:buFont typeface="Wingdings" panose="05000000000000000000" pitchFamily="2" charset="2"/>
              <a:buChar char="§"/>
            </a:pPr>
            <a:r>
              <a:rPr lang="en-US" sz="1600" dirty="0"/>
              <a:t>Environment </a:t>
            </a:r>
          </a:p>
          <a:p>
            <a:pPr marL="285750" indent="-285750">
              <a:buFont typeface="Wingdings" panose="05000000000000000000" pitchFamily="2" charset="2"/>
              <a:buChar char="§"/>
            </a:pPr>
            <a:r>
              <a:rPr lang="en-US" sz="1600" dirty="0"/>
              <a:t>Actions </a:t>
            </a:r>
          </a:p>
          <a:p>
            <a:pPr marL="285750" indent="-285750">
              <a:buFont typeface="Wingdings" panose="05000000000000000000" pitchFamily="2" charset="2"/>
              <a:buChar char="§"/>
            </a:pPr>
            <a:r>
              <a:rPr lang="en-US" sz="1600" dirty="0"/>
              <a:t>Rewards</a:t>
            </a:r>
          </a:p>
        </p:txBody>
      </p:sp>
      <p:graphicFrame>
        <p:nvGraphicFramePr>
          <p:cNvPr id="9" name="Table 8">
            <a:extLst>
              <a:ext uri="{FF2B5EF4-FFF2-40B4-BE49-F238E27FC236}">
                <a16:creationId xmlns:a16="http://schemas.microsoft.com/office/drawing/2014/main" id="{1EF45D38-04B6-4ECC-AEB9-8528E7039308}"/>
              </a:ext>
            </a:extLst>
          </p:cNvPr>
          <p:cNvGraphicFramePr>
            <a:graphicFrameLocks noGrp="1"/>
          </p:cNvGraphicFramePr>
          <p:nvPr>
            <p:extLst>
              <p:ext uri="{D42A27DB-BD31-4B8C-83A1-F6EECF244321}">
                <p14:modId xmlns:p14="http://schemas.microsoft.com/office/powerpoint/2010/main" val="827132389"/>
              </p:ext>
            </p:extLst>
          </p:nvPr>
        </p:nvGraphicFramePr>
        <p:xfrm>
          <a:off x="435685" y="3230499"/>
          <a:ext cx="11057613" cy="2606220"/>
        </p:xfrm>
        <a:graphic>
          <a:graphicData uri="http://schemas.openxmlformats.org/drawingml/2006/table">
            <a:tbl>
              <a:tblPr firstRow="1" bandRow="1">
                <a:tableStyleId>{5C22544A-7EE6-4342-B048-85BDC9FD1C3A}</a:tableStyleId>
              </a:tblPr>
              <a:tblGrid>
                <a:gridCol w="3685871">
                  <a:extLst>
                    <a:ext uri="{9D8B030D-6E8A-4147-A177-3AD203B41FA5}">
                      <a16:colId xmlns:a16="http://schemas.microsoft.com/office/drawing/2014/main" val="2108665314"/>
                    </a:ext>
                  </a:extLst>
                </a:gridCol>
                <a:gridCol w="3685871">
                  <a:extLst>
                    <a:ext uri="{9D8B030D-6E8A-4147-A177-3AD203B41FA5}">
                      <a16:colId xmlns:a16="http://schemas.microsoft.com/office/drawing/2014/main" val="3585029761"/>
                    </a:ext>
                  </a:extLst>
                </a:gridCol>
                <a:gridCol w="3685871">
                  <a:extLst>
                    <a:ext uri="{9D8B030D-6E8A-4147-A177-3AD203B41FA5}">
                      <a16:colId xmlns:a16="http://schemas.microsoft.com/office/drawing/2014/main" val="546297312"/>
                    </a:ext>
                  </a:extLst>
                </a:gridCol>
              </a:tblGrid>
              <a:tr h="651555">
                <a:tc>
                  <a:txBody>
                    <a:bodyPr/>
                    <a:lstStyle/>
                    <a:p>
                      <a:r>
                        <a:rPr lang="en-IN" dirty="0"/>
                        <a:t>Supervised</a:t>
                      </a:r>
                    </a:p>
                  </a:txBody>
                  <a:tcPr anchor="ctr"/>
                </a:tc>
                <a:tc>
                  <a:txBody>
                    <a:bodyPr/>
                    <a:lstStyle/>
                    <a:p>
                      <a:r>
                        <a:rPr lang="en-IN"/>
                        <a:t>Unsupervised</a:t>
                      </a:r>
                    </a:p>
                  </a:txBody>
                  <a:tcPr anchor="ctr"/>
                </a:tc>
                <a:tc>
                  <a:txBody>
                    <a:bodyPr/>
                    <a:lstStyle/>
                    <a:p>
                      <a:r>
                        <a:rPr lang="en-IN"/>
                        <a:t>Reinforcement</a:t>
                      </a:r>
                    </a:p>
                  </a:txBody>
                  <a:tcPr anchor="ctr"/>
                </a:tc>
                <a:extLst>
                  <a:ext uri="{0D108BD9-81ED-4DB2-BD59-A6C34878D82A}">
                    <a16:rowId xmlns:a16="http://schemas.microsoft.com/office/drawing/2014/main" val="2314397529"/>
                  </a:ext>
                </a:extLst>
              </a:tr>
              <a:tr h="651555">
                <a:tc>
                  <a:txBody>
                    <a:bodyPr/>
                    <a:lstStyle/>
                    <a:p>
                      <a:r>
                        <a:rPr lang="en-IN"/>
                        <a:t>Uses labeled data</a:t>
                      </a:r>
                    </a:p>
                  </a:txBody>
                  <a:tcPr anchor="ctr"/>
                </a:tc>
                <a:tc>
                  <a:txBody>
                    <a:bodyPr/>
                    <a:lstStyle/>
                    <a:p>
                      <a:r>
                        <a:rPr lang="en-IN"/>
                        <a:t>Uses unlabeled data</a:t>
                      </a:r>
                    </a:p>
                  </a:txBody>
                  <a:tcPr anchor="ctr"/>
                </a:tc>
                <a:tc>
                  <a:txBody>
                    <a:bodyPr/>
                    <a:lstStyle/>
                    <a:p>
                      <a:r>
                        <a:rPr lang="en-IN" dirty="0"/>
                        <a:t>Learns by rewards</a:t>
                      </a:r>
                    </a:p>
                  </a:txBody>
                  <a:tcPr anchor="ctr"/>
                </a:tc>
                <a:extLst>
                  <a:ext uri="{0D108BD9-81ED-4DB2-BD59-A6C34878D82A}">
                    <a16:rowId xmlns:a16="http://schemas.microsoft.com/office/drawing/2014/main" val="212812609"/>
                  </a:ext>
                </a:extLst>
              </a:tr>
              <a:tr h="651555">
                <a:tc>
                  <a:txBody>
                    <a:bodyPr/>
                    <a:lstStyle/>
                    <a:p>
                      <a:r>
                        <a:rPr lang="en-IN"/>
                        <a:t>Predicts outputs</a:t>
                      </a:r>
                    </a:p>
                  </a:txBody>
                  <a:tcPr anchor="ctr"/>
                </a:tc>
                <a:tc>
                  <a:txBody>
                    <a:bodyPr/>
                    <a:lstStyle/>
                    <a:p>
                      <a:r>
                        <a:rPr lang="en-IN"/>
                        <a:t>Finds hidden patterns</a:t>
                      </a:r>
                    </a:p>
                  </a:txBody>
                  <a:tcPr anchor="ctr"/>
                </a:tc>
                <a:tc>
                  <a:txBody>
                    <a:bodyPr/>
                    <a:lstStyle/>
                    <a:p>
                      <a:r>
                        <a:rPr lang="en-IN"/>
                        <a:t>Maximizes reward</a:t>
                      </a:r>
                    </a:p>
                  </a:txBody>
                  <a:tcPr anchor="ctr"/>
                </a:tc>
                <a:extLst>
                  <a:ext uri="{0D108BD9-81ED-4DB2-BD59-A6C34878D82A}">
                    <a16:rowId xmlns:a16="http://schemas.microsoft.com/office/drawing/2014/main" val="827595552"/>
                  </a:ext>
                </a:extLst>
              </a:tr>
              <a:tr h="651555">
                <a:tc>
                  <a:txBody>
                    <a:bodyPr/>
                    <a:lstStyle/>
                    <a:p>
                      <a:r>
                        <a:rPr lang="en-IN"/>
                        <a:t>Classification &amp; Regression</a:t>
                      </a:r>
                    </a:p>
                  </a:txBody>
                  <a:tcPr anchor="ctr"/>
                </a:tc>
                <a:tc>
                  <a:txBody>
                    <a:bodyPr/>
                    <a:lstStyle/>
                    <a:p>
                      <a:r>
                        <a:rPr lang="en-IN"/>
                        <a:t>Clustering</a:t>
                      </a:r>
                    </a:p>
                  </a:txBody>
                  <a:tcPr anchor="ctr"/>
                </a:tc>
                <a:tc>
                  <a:txBody>
                    <a:bodyPr/>
                    <a:lstStyle/>
                    <a:p>
                      <a:r>
                        <a:rPr lang="en-IN" dirty="0"/>
                        <a:t>Decision-making</a:t>
                      </a:r>
                    </a:p>
                  </a:txBody>
                  <a:tcPr anchor="ctr"/>
                </a:tc>
                <a:extLst>
                  <a:ext uri="{0D108BD9-81ED-4DB2-BD59-A6C34878D82A}">
                    <a16:rowId xmlns:a16="http://schemas.microsoft.com/office/drawing/2014/main" val="4289506587"/>
                  </a:ext>
                </a:extLst>
              </a:tr>
            </a:tbl>
          </a:graphicData>
        </a:graphic>
      </p:graphicFrame>
      <p:sp>
        <p:nvSpPr>
          <p:cNvPr id="11" name="TextBox 10">
            <a:extLst>
              <a:ext uri="{FF2B5EF4-FFF2-40B4-BE49-F238E27FC236}">
                <a16:creationId xmlns:a16="http://schemas.microsoft.com/office/drawing/2014/main" id="{883DEAE3-DDEC-4860-86B4-B60AD6FA6F09}"/>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2</a:t>
            </a:r>
            <a:endParaRPr lang="en-IN" dirty="0">
              <a:solidFill>
                <a:schemeClr val="bg1"/>
              </a:solidFill>
            </a:endParaRPr>
          </a:p>
        </p:txBody>
      </p:sp>
    </p:spTree>
    <p:extLst>
      <p:ext uri="{BB962C8B-B14F-4D97-AF65-F5344CB8AC3E}">
        <p14:creationId xmlns:p14="http://schemas.microsoft.com/office/powerpoint/2010/main" val="415013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DB75981C-CE12-46D3-B24F-17FBE575981E}"/>
              </a:ext>
            </a:extLst>
          </p:cNvPr>
          <p:cNvSpPr txBox="1"/>
          <p:nvPr/>
        </p:nvSpPr>
        <p:spPr>
          <a:xfrm>
            <a:off x="417755" y="899943"/>
            <a:ext cx="10991271" cy="3600986"/>
          </a:xfrm>
          <a:prstGeom prst="rect">
            <a:avLst/>
          </a:prstGeom>
          <a:noFill/>
        </p:spPr>
        <p:txBody>
          <a:bodyPr wrap="square" rtlCol="0">
            <a:spAutoFit/>
          </a:bodyPr>
          <a:lstStyle/>
          <a:p>
            <a:r>
              <a:rPr lang="en-US" b="1" i="1" dirty="0">
                <a:solidFill>
                  <a:srgbClr val="C00000"/>
                </a:solidFill>
              </a:rPr>
              <a:t>Key Terminology :</a:t>
            </a:r>
          </a:p>
          <a:p>
            <a:r>
              <a:rPr lang="en-US" sz="1600" b="1" dirty="0">
                <a:solidFill>
                  <a:schemeClr val="accent1">
                    <a:lumMod val="75000"/>
                  </a:schemeClr>
                </a:solidFill>
              </a:rPr>
              <a:t>Features:</a:t>
            </a:r>
          </a:p>
          <a:p>
            <a:r>
              <a:rPr lang="en-US" sz="1600" dirty="0"/>
              <a:t>Input variables used for prediction.</a:t>
            </a:r>
          </a:p>
          <a:p>
            <a:r>
              <a:rPr lang="en-US" sz="1600" b="1" dirty="0">
                <a:solidFill>
                  <a:schemeClr val="accent6">
                    <a:lumMod val="75000"/>
                  </a:schemeClr>
                </a:solidFill>
              </a:rPr>
              <a:t>Example:</a:t>
            </a:r>
          </a:p>
          <a:p>
            <a:pPr marL="285750" indent="-285750">
              <a:buFont typeface="Arial" panose="020B0604020202020204" pitchFamily="34" charset="0"/>
              <a:buChar char="•"/>
            </a:pPr>
            <a:r>
              <a:rPr lang="en-US" sz="1600" dirty="0"/>
              <a:t>Age </a:t>
            </a:r>
          </a:p>
          <a:p>
            <a:pPr marL="285750" indent="-285750">
              <a:buFont typeface="Arial" panose="020B0604020202020204" pitchFamily="34" charset="0"/>
              <a:buChar char="•"/>
            </a:pPr>
            <a:r>
              <a:rPr lang="en-US" sz="1600" dirty="0"/>
              <a:t>Salary </a:t>
            </a:r>
          </a:p>
          <a:p>
            <a:pPr marL="285750" indent="-285750">
              <a:buFont typeface="Arial" panose="020B0604020202020204" pitchFamily="34" charset="0"/>
              <a:buChar char="•"/>
            </a:pPr>
            <a:r>
              <a:rPr lang="en-US" sz="1600" dirty="0"/>
              <a:t>Height </a:t>
            </a:r>
          </a:p>
          <a:p>
            <a:r>
              <a:rPr lang="en-US" sz="1600" b="1" dirty="0"/>
              <a:t>Labels:</a:t>
            </a:r>
          </a:p>
          <a:p>
            <a:r>
              <a:rPr lang="en-US" sz="1600" dirty="0"/>
              <a:t>The target output that the model predicts.</a:t>
            </a:r>
          </a:p>
          <a:p>
            <a:r>
              <a:rPr lang="en-US" sz="1600" b="1" dirty="0">
                <a:solidFill>
                  <a:schemeClr val="accent6">
                    <a:lumMod val="75000"/>
                  </a:schemeClr>
                </a:solidFill>
              </a:rPr>
              <a:t>Example:</a:t>
            </a:r>
          </a:p>
          <a:p>
            <a:pPr marL="285750" indent="-285750">
              <a:buFont typeface="Arial" panose="020B0604020202020204" pitchFamily="34" charset="0"/>
              <a:buChar char="•"/>
            </a:pPr>
            <a:r>
              <a:rPr lang="en-US" sz="1600" dirty="0"/>
              <a:t>Pass/Fail </a:t>
            </a:r>
          </a:p>
          <a:p>
            <a:pPr marL="285750" indent="-285750">
              <a:buFont typeface="Arial" panose="020B0604020202020204" pitchFamily="34" charset="0"/>
              <a:buChar char="•"/>
            </a:pPr>
            <a:r>
              <a:rPr lang="en-US" sz="1600" dirty="0"/>
              <a:t>House Price </a:t>
            </a:r>
          </a:p>
          <a:p>
            <a:pPr marL="285750" indent="-285750">
              <a:buFont typeface="Arial" panose="020B0604020202020204" pitchFamily="34" charset="0"/>
              <a:buChar char="•"/>
            </a:pPr>
            <a:r>
              <a:rPr lang="en-US" sz="1600" dirty="0"/>
              <a:t>Spam/Not Spam </a:t>
            </a:r>
          </a:p>
          <a:p>
            <a:endParaRPr lang="en-IN" dirty="0"/>
          </a:p>
        </p:txBody>
      </p:sp>
      <p:sp>
        <p:nvSpPr>
          <p:cNvPr id="12" name="TextBox 11">
            <a:extLst>
              <a:ext uri="{FF2B5EF4-FFF2-40B4-BE49-F238E27FC236}">
                <a16:creationId xmlns:a16="http://schemas.microsoft.com/office/drawing/2014/main" id="{DDEEA6FB-FD1D-4D96-A343-D6C3FC5E245D}"/>
              </a:ext>
            </a:extLst>
          </p:cNvPr>
          <p:cNvSpPr txBox="1"/>
          <p:nvPr/>
        </p:nvSpPr>
        <p:spPr>
          <a:xfrm>
            <a:off x="417755" y="4121675"/>
            <a:ext cx="11057613" cy="369332"/>
          </a:xfrm>
          <a:prstGeom prst="rect">
            <a:avLst/>
          </a:prstGeom>
          <a:noFill/>
        </p:spPr>
        <p:txBody>
          <a:bodyPr wrap="square" rtlCol="0">
            <a:spAutoFit/>
          </a:bodyPr>
          <a:lstStyle/>
          <a:p>
            <a:r>
              <a:rPr lang="en-IN" b="1" i="1" dirty="0">
                <a:solidFill>
                  <a:srgbClr val="C00000"/>
                </a:solidFill>
              </a:rPr>
              <a:t>Machine Learning Workflow :</a:t>
            </a:r>
          </a:p>
        </p:txBody>
      </p:sp>
      <p:sp>
        <p:nvSpPr>
          <p:cNvPr id="14" name="Rectangle 1">
            <a:extLst>
              <a:ext uri="{FF2B5EF4-FFF2-40B4-BE49-F238E27FC236}">
                <a16:creationId xmlns:a16="http://schemas.microsoft.com/office/drawing/2014/main" id="{AEC2A429-5B42-441F-9301-6F7B86961F44}"/>
              </a:ext>
            </a:extLst>
          </p:cNvPr>
          <p:cNvSpPr>
            <a:spLocks noChangeArrowheads="1"/>
          </p:cNvSpPr>
          <p:nvPr/>
        </p:nvSpPr>
        <p:spPr bwMode="auto">
          <a:xfrm>
            <a:off x="417755" y="4476946"/>
            <a:ext cx="815053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Data Preprocessing</a:t>
            </a:r>
            <a:r>
              <a:rPr kumimoji="0" lang="en-US" altLang="en-US" sz="1600" b="0" i="0" u="none" strike="noStrike" cap="none" normalizeH="0" baseline="0" dirty="0">
                <a:ln>
                  <a:noFill/>
                </a:ln>
                <a:solidFill>
                  <a:schemeClr val="tx1"/>
                </a:solidFill>
                <a:effectLst/>
                <a:latin typeface="Arial" panose="020B0604020202020204" pitchFamily="34" charset="0"/>
              </a:rPr>
              <a:t> – Clean and transform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Model Selection</a:t>
            </a:r>
            <a:r>
              <a:rPr kumimoji="0" lang="en-US" altLang="en-US" sz="1600" b="0" i="0" u="none" strike="noStrike" cap="none" normalizeH="0" baseline="0" dirty="0">
                <a:ln>
                  <a:noFill/>
                </a:ln>
                <a:solidFill>
                  <a:schemeClr val="tx1"/>
                </a:solidFill>
                <a:effectLst/>
                <a:latin typeface="Arial" panose="020B0604020202020204" pitchFamily="34" charset="0"/>
              </a:rPr>
              <a:t> – Choose algorithm (e.g., decision tree, neural network).</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Training</a:t>
            </a:r>
            <a:r>
              <a:rPr kumimoji="0" lang="en-US" altLang="en-US" sz="1600" b="0" i="0" u="none" strike="noStrike" cap="none" normalizeH="0" baseline="0" dirty="0">
                <a:ln>
                  <a:noFill/>
                </a:ln>
                <a:solidFill>
                  <a:schemeClr val="tx1"/>
                </a:solidFill>
                <a:effectLst/>
                <a:latin typeface="Arial" panose="020B0604020202020204" pitchFamily="34" charset="0"/>
              </a:rPr>
              <a:t> – Fit the model to training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Evaluation</a:t>
            </a:r>
            <a:r>
              <a:rPr kumimoji="0" lang="en-US" altLang="en-US" sz="1600" b="0" i="0" u="none" strike="noStrike" cap="none" normalizeH="0" baseline="0" dirty="0">
                <a:ln>
                  <a:noFill/>
                </a:ln>
                <a:solidFill>
                  <a:schemeClr val="tx1"/>
                </a:solidFill>
                <a:effectLst/>
                <a:latin typeface="Arial" panose="020B0604020202020204" pitchFamily="34" charset="0"/>
              </a:rPr>
              <a:t> – Test accuracy and performance.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Deployment</a:t>
            </a:r>
            <a:r>
              <a:rPr kumimoji="0" lang="en-US" altLang="en-US" sz="1600" b="0" i="0" u="none" strike="noStrike" cap="none" normalizeH="0" baseline="0" dirty="0">
                <a:ln>
                  <a:noFill/>
                </a:ln>
                <a:solidFill>
                  <a:schemeClr val="tx1"/>
                </a:solidFill>
                <a:effectLst/>
                <a:latin typeface="Arial" panose="020B0604020202020204" pitchFamily="34" charset="0"/>
              </a:rPr>
              <a:t> – Integrate into real-world applications.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Data Collection</a:t>
            </a:r>
            <a:r>
              <a:rPr kumimoji="0" lang="en-US" altLang="en-US" sz="1600" b="0" i="0" u="none" strike="noStrike" cap="none" normalizeH="0" baseline="0" dirty="0">
                <a:ln>
                  <a:noFill/>
                </a:ln>
                <a:solidFill>
                  <a:schemeClr val="tx1"/>
                </a:solidFill>
                <a:effectLst/>
                <a:latin typeface="Arial" panose="020B0604020202020204" pitchFamily="34" charset="0"/>
              </a:rPr>
              <a:t> – Gather raw data.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Monitoring</a:t>
            </a:r>
            <a:r>
              <a:rPr kumimoji="0" lang="en-US" altLang="en-US" sz="1600" b="0" i="0" u="none" strike="noStrike" cap="none" normalizeH="0" baseline="0" dirty="0">
                <a:ln>
                  <a:noFill/>
                </a:ln>
                <a:solidFill>
                  <a:schemeClr val="tx1"/>
                </a:solidFill>
                <a:effectLst/>
                <a:latin typeface="Arial" panose="020B0604020202020204" pitchFamily="34" charset="0"/>
              </a:rPr>
              <a:t> – Track performance and retrain if needed</a:t>
            </a:r>
          </a:p>
        </p:txBody>
      </p:sp>
      <p:pic>
        <p:nvPicPr>
          <p:cNvPr id="2051" name="Picture 3" descr="Workflow of machine learning for effective data processing outline ...">
            <a:extLst>
              <a:ext uri="{FF2B5EF4-FFF2-40B4-BE49-F238E27FC236}">
                <a16:creationId xmlns:a16="http://schemas.microsoft.com/office/drawing/2014/main" id="{39FAC90E-31A6-48AE-9C02-9853FFEF5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6221" y="3867272"/>
            <a:ext cx="2907077" cy="2319521"/>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E6580343-854E-4C25-8899-A76C532244EC}"/>
              </a:ext>
            </a:extLst>
          </p:cNvPr>
          <p:cNvSpPr/>
          <p:nvPr/>
        </p:nvSpPr>
        <p:spPr>
          <a:xfrm>
            <a:off x="8366585" y="5519097"/>
            <a:ext cx="439271"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E6CB719-7EC8-4224-BA7C-EACC4A158691}"/>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3</a:t>
            </a:r>
            <a:endParaRPr lang="en-IN" dirty="0">
              <a:solidFill>
                <a:schemeClr val="bg1"/>
              </a:solidFill>
            </a:endParaRPr>
          </a:p>
        </p:txBody>
      </p:sp>
      <p:sp>
        <p:nvSpPr>
          <p:cNvPr id="16" name="Rectangle 15">
            <a:extLst>
              <a:ext uri="{FF2B5EF4-FFF2-40B4-BE49-F238E27FC236}">
                <a16:creationId xmlns:a16="http://schemas.microsoft.com/office/drawing/2014/main" id="{2663A77A-9A27-4971-9D82-30B200BF3EDC}"/>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Key terminology(</a:t>
            </a:r>
            <a:r>
              <a:rPr lang="en-US" sz="2800" b="1" dirty="0" err="1">
                <a:solidFill>
                  <a:schemeClr val="accent1">
                    <a:lumMod val="50000"/>
                  </a:schemeClr>
                </a:solidFill>
              </a:rPr>
              <a:t>features,labels</a:t>
            </a:r>
            <a:r>
              <a:rPr lang="en-US" sz="2800" b="1" dirty="0">
                <a:solidFill>
                  <a:schemeClr val="accent1">
                    <a:lumMod val="50000"/>
                  </a:schemeClr>
                </a:solidFill>
              </a:rPr>
              <a:t>) &amp; ML </a:t>
            </a:r>
            <a:r>
              <a:rPr lang="en-US" sz="2800" b="1" dirty="0" err="1">
                <a:solidFill>
                  <a:schemeClr val="accent1">
                    <a:lumMod val="50000"/>
                  </a:schemeClr>
                </a:solidFill>
              </a:rPr>
              <a:t>Workfflow</a:t>
            </a:r>
            <a:r>
              <a:rPr lang="en-US" sz="2800" b="1" dirty="0">
                <a:solidFill>
                  <a:schemeClr val="accent1">
                    <a:lumMod val="50000"/>
                  </a:schemeClr>
                </a:solidFill>
              </a:rPr>
              <a:t> </a:t>
            </a:r>
            <a:endParaRPr lang="en-IN" sz="2800" b="1" dirty="0">
              <a:solidFill>
                <a:schemeClr val="accent1">
                  <a:lumMod val="50000"/>
                </a:schemeClr>
              </a:solidFill>
            </a:endParaRPr>
          </a:p>
        </p:txBody>
      </p:sp>
    </p:spTree>
    <p:extLst>
      <p:ext uri="{BB962C8B-B14F-4D97-AF65-F5344CB8AC3E}">
        <p14:creationId xmlns:p14="http://schemas.microsoft.com/office/powerpoint/2010/main" val="228775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CAEE3C3C-A38F-4DE8-8F93-122EA308C560}"/>
              </a:ext>
            </a:extLst>
          </p:cNvPr>
          <p:cNvSpPr txBox="1"/>
          <p:nvPr/>
        </p:nvSpPr>
        <p:spPr>
          <a:xfrm>
            <a:off x="346037" y="1500372"/>
            <a:ext cx="11057613" cy="615553"/>
          </a:xfrm>
          <a:prstGeom prst="rect">
            <a:avLst/>
          </a:prstGeom>
          <a:noFill/>
        </p:spPr>
        <p:txBody>
          <a:bodyPr wrap="square" rtlCol="0">
            <a:spAutoFit/>
          </a:bodyPr>
          <a:lstStyle/>
          <a:p>
            <a:r>
              <a:rPr lang="en-US" sz="1600" dirty="0"/>
              <a:t>Data preprocessing is the process of cleaning, transforming, and organizing raw data into a format suitable for machine learning models. High-quality preprocessing improves model accuracy, reduces bias, and speeds up training</a:t>
            </a:r>
            <a:r>
              <a:rPr lang="en-US" dirty="0"/>
              <a:t>.</a:t>
            </a:r>
            <a:endParaRPr lang="en-IN" dirty="0"/>
          </a:p>
        </p:txBody>
      </p:sp>
      <p:sp>
        <p:nvSpPr>
          <p:cNvPr id="11" name="Rectangle 1">
            <a:extLst>
              <a:ext uri="{FF2B5EF4-FFF2-40B4-BE49-F238E27FC236}">
                <a16:creationId xmlns:a16="http://schemas.microsoft.com/office/drawing/2014/main" id="{EA09B6A5-3CD7-455E-A46B-A14B28275224}"/>
              </a:ext>
            </a:extLst>
          </p:cNvPr>
          <p:cNvSpPr>
            <a:spLocks noChangeArrowheads="1"/>
          </p:cNvSpPr>
          <p:nvPr/>
        </p:nvSpPr>
        <p:spPr bwMode="auto">
          <a:xfrm>
            <a:off x="346037" y="2212012"/>
            <a:ext cx="1105761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C00000"/>
                </a:solidFill>
                <a:effectLst/>
                <a:latin typeface="Arial" panose="020B0604020202020204" pitchFamily="34" charset="0"/>
              </a:rPr>
              <a:t>Handling Missing Values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Missing values occur due to incomplete data collection, system errors, or unavailable information. They must be handled before model training.</a:t>
            </a:r>
          </a:p>
          <a:p>
            <a:pPr lvl="0" eaLnBrk="0" fontAlgn="base" hangingPunct="0">
              <a:spcBef>
                <a:spcPct val="0"/>
              </a:spcBef>
              <a:spcAft>
                <a:spcPct val="0"/>
              </a:spcAft>
            </a:pPr>
            <a:r>
              <a:rPr lang="en-IN" sz="1600" b="1" dirty="0">
                <a:solidFill>
                  <a:schemeClr val="accent6">
                    <a:lumMod val="75000"/>
                  </a:schemeClr>
                </a:solidFill>
              </a:rPr>
              <a:t>Methods</a:t>
            </a:r>
          </a:p>
          <a:p>
            <a:pPr marL="285750" lvl="0" indent="-285750" eaLnBrk="0" fontAlgn="base" hangingPunct="0">
              <a:spcBef>
                <a:spcPct val="0"/>
              </a:spcBef>
              <a:spcAft>
                <a:spcPct val="0"/>
              </a:spcAft>
              <a:buFont typeface="Arial" panose="020B0604020202020204" pitchFamily="34" charset="0"/>
              <a:buChar char="•"/>
            </a:pPr>
            <a:r>
              <a:rPr lang="en-US" sz="1600" b="1" dirty="0" err="1"/>
              <a:t>Fillna</a:t>
            </a:r>
            <a:r>
              <a:rPr lang="en-US" sz="1600" b="1" dirty="0"/>
              <a:t>()- </a:t>
            </a:r>
            <a:r>
              <a:rPr lang="en-US" sz="1600" dirty="0"/>
              <a:t>Replaces missing values with statistical measures such as mean, median, mode, or a fixed value.</a:t>
            </a:r>
          </a:p>
          <a:p>
            <a:pPr marL="285750" lvl="0" indent="-285750" eaLnBrk="0" fontAlgn="base" hangingPunct="0">
              <a:spcBef>
                <a:spcPct val="0"/>
              </a:spcBef>
              <a:spcAft>
                <a:spcPct val="0"/>
              </a:spcAft>
              <a:buFont typeface="Arial" panose="020B0604020202020204" pitchFamily="34" charset="0"/>
              <a:buChar char="•"/>
            </a:pPr>
            <a:r>
              <a:rPr lang="en-US" sz="1600" b="1" dirty="0" err="1"/>
              <a:t>Dropna</a:t>
            </a:r>
            <a:r>
              <a:rPr lang="en-US" sz="1600" b="1" dirty="0"/>
              <a:t>()-</a:t>
            </a:r>
            <a:r>
              <a:rPr lang="en-US" sz="1600" dirty="0"/>
              <a:t>Removes rows or columns containing missing values when they are few or not critical.</a:t>
            </a:r>
          </a:p>
          <a:p>
            <a:pPr lvl="0" eaLnBrk="0" fontAlgn="base" hangingPunct="0">
              <a:spcBef>
                <a:spcPct val="0"/>
              </a:spcBef>
              <a:spcAft>
                <a:spcPct val="0"/>
              </a:spcAft>
            </a:pPr>
            <a:r>
              <a:rPr lang="en-IN" sz="1600" dirty="0">
                <a:solidFill>
                  <a:schemeClr val="accent6">
                    <a:lumMod val="75000"/>
                  </a:schemeClr>
                </a:solidFill>
              </a:rPr>
              <a:t>Example</a:t>
            </a:r>
          </a:p>
          <a:p>
            <a:pPr lvl="0" eaLnBrk="0" fontAlgn="base" hangingPunct="0">
              <a:spcBef>
                <a:spcPct val="0"/>
              </a:spcBef>
              <a:spcAft>
                <a:spcPct val="0"/>
              </a:spcAft>
            </a:pPr>
            <a:r>
              <a:rPr lang="en-IN" sz="1600" dirty="0"/>
              <a:t> -Pandas</a:t>
            </a:r>
          </a:p>
          <a:p>
            <a:pPr lvl="0" eaLnBrk="0" fontAlgn="base" hangingPunct="0">
              <a:spcBef>
                <a:spcPct val="0"/>
              </a:spcBef>
              <a:spcAft>
                <a:spcPct val="0"/>
              </a:spcAft>
            </a:pPr>
            <a:endParaRPr kumimoji="0" lang="en-US" altLang="en-US" sz="1600" i="0" u="none" strike="noStrike" cap="none" normalizeH="0" baseline="0" dirty="0">
              <a:ln>
                <a:noFill/>
              </a:ln>
              <a:solidFill>
                <a:schemeClr val="accent6">
                  <a:lumMod val="75000"/>
                </a:schemeClr>
              </a:solidFill>
              <a:effectLst/>
              <a:latin typeface="Arial" panose="020B0604020202020204" pitchFamily="34" charset="0"/>
            </a:endParaRPr>
          </a:p>
        </p:txBody>
      </p:sp>
      <p:sp>
        <p:nvSpPr>
          <p:cNvPr id="13" name="TextBox 12">
            <a:extLst>
              <a:ext uri="{FF2B5EF4-FFF2-40B4-BE49-F238E27FC236}">
                <a16:creationId xmlns:a16="http://schemas.microsoft.com/office/drawing/2014/main" id="{7039CEC7-8CB5-4D4F-B639-27F597412FB7}"/>
              </a:ext>
            </a:extLst>
          </p:cNvPr>
          <p:cNvSpPr txBox="1"/>
          <p:nvPr/>
        </p:nvSpPr>
        <p:spPr>
          <a:xfrm>
            <a:off x="346037" y="4562825"/>
            <a:ext cx="10967965" cy="1077218"/>
          </a:xfrm>
          <a:prstGeom prst="rect">
            <a:avLst/>
          </a:prstGeom>
          <a:noFill/>
        </p:spPr>
        <p:txBody>
          <a:bodyPr wrap="square" rtlCol="0">
            <a:spAutoFit/>
          </a:bodyPr>
          <a:lstStyle/>
          <a:p>
            <a:r>
              <a:rPr lang="en-US" sz="1600" b="1" dirty="0">
                <a:solidFill>
                  <a:schemeClr val="accent4">
                    <a:lumMod val="75000"/>
                  </a:schemeClr>
                </a:solidFill>
              </a:rPr>
              <a:t>Advantages</a:t>
            </a:r>
          </a:p>
          <a:p>
            <a:pPr marL="285750" indent="-285750">
              <a:buFont typeface="Wingdings" panose="05000000000000000000" pitchFamily="2" charset="2"/>
              <a:buChar char="ü"/>
            </a:pPr>
            <a:r>
              <a:rPr lang="en-US" sz="1600" dirty="0"/>
              <a:t> Improves data quality.</a:t>
            </a:r>
          </a:p>
          <a:p>
            <a:pPr marL="285750" indent="-285750">
              <a:buFont typeface="Wingdings" panose="05000000000000000000" pitchFamily="2" charset="2"/>
              <a:buChar char="ü"/>
            </a:pPr>
            <a:r>
              <a:rPr lang="en-US" sz="1600" dirty="0"/>
              <a:t> Prevents model errors.</a:t>
            </a:r>
          </a:p>
          <a:p>
            <a:pPr marL="285750" indent="-285750">
              <a:buFont typeface="Wingdings" panose="05000000000000000000" pitchFamily="2" charset="2"/>
              <a:buChar char="ü"/>
            </a:pPr>
            <a:r>
              <a:rPr lang="en-US" sz="1600" dirty="0"/>
              <a:t> Produces more reliable predictions.</a:t>
            </a:r>
          </a:p>
        </p:txBody>
      </p:sp>
      <p:sp>
        <p:nvSpPr>
          <p:cNvPr id="14" name="TextBox 13">
            <a:extLst>
              <a:ext uri="{FF2B5EF4-FFF2-40B4-BE49-F238E27FC236}">
                <a16:creationId xmlns:a16="http://schemas.microsoft.com/office/drawing/2014/main" id="{6C3E6C68-AB17-4A6D-8D94-CDAA68CEED9B}"/>
              </a:ext>
            </a:extLst>
          </p:cNvPr>
          <p:cNvSpPr txBox="1"/>
          <p:nvPr/>
        </p:nvSpPr>
        <p:spPr>
          <a:xfrm>
            <a:off x="435685" y="5207825"/>
            <a:ext cx="914400" cy="914400"/>
          </a:xfrm>
          <a:prstGeom prst="rect">
            <a:avLst/>
          </a:prstGeom>
          <a:noFill/>
        </p:spPr>
        <p:txBody>
          <a:bodyPr wrap="square" rtlCol="0">
            <a:spAutoFit/>
          </a:bodyPr>
          <a:lstStyle/>
          <a:p>
            <a:endParaRPr lang="en-IN" dirty="0"/>
          </a:p>
        </p:txBody>
      </p:sp>
      <p:sp>
        <p:nvSpPr>
          <p:cNvPr id="15" name="TextBox 14">
            <a:extLst>
              <a:ext uri="{FF2B5EF4-FFF2-40B4-BE49-F238E27FC236}">
                <a16:creationId xmlns:a16="http://schemas.microsoft.com/office/drawing/2014/main" id="{776CD15B-0687-44AD-8EBB-470229AF5849}"/>
              </a:ext>
            </a:extLst>
          </p:cNvPr>
          <p:cNvSpPr txBox="1"/>
          <p:nvPr/>
        </p:nvSpPr>
        <p:spPr>
          <a:xfrm>
            <a:off x="346037" y="1009754"/>
            <a:ext cx="3859306" cy="369332"/>
          </a:xfrm>
          <a:prstGeom prst="rect">
            <a:avLst/>
          </a:prstGeom>
          <a:noFill/>
        </p:spPr>
        <p:txBody>
          <a:bodyPr wrap="square" rtlCol="0">
            <a:spAutoFit/>
          </a:bodyPr>
          <a:lstStyle/>
          <a:p>
            <a:r>
              <a:rPr lang="en-IN" b="1" dirty="0">
                <a:solidFill>
                  <a:srgbClr val="C00000"/>
                </a:solidFill>
              </a:rPr>
              <a:t>Data </a:t>
            </a:r>
            <a:r>
              <a:rPr lang="en-IN" b="1" dirty="0" err="1">
                <a:solidFill>
                  <a:srgbClr val="C00000"/>
                </a:solidFill>
              </a:rPr>
              <a:t>preprocessing</a:t>
            </a:r>
            <a:r>
              <a:rPr lang="en-IN" b="1" dirty="0">
                <a:solidFill>
                  <a:srgbClr val="C00000"/>
                </a:solidFill>
              </a:rPr>
              <a:t>:</a:t>
            </a:r>
          </a:p>
        </p:txBody>
      </p:sp>
      <p:sp>
        <p:nvSpPr>
          <p:cNvPr id="12" name="TextBox 11">
            <a:extLst>
              <a:ext uri="{FF2B5EF4-FFF2-40B4-BE49-F238E27FC236}">
                <a16:creationId xmlns:a16="http://schemas.microsoft.com/office/drawing/2014/main" id="{55929F64-8853-4ABA-A49F-4D27769B8DC6}"/>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4</a:t>
            </a:r>
            <a:endParaRPr lang="en-IN" dirty="0">
              <a:solidFill>
                <a:schemeClr val="bg1"/>
              </a:solidFill>
            </a:endParaRPr>
          </a:p>
        </p:txBody>
      </p:sp>
      <p:sp>
        <p:nvSpPr>
          <p:cNvPr id="16" name="Rectangle 15">
            <a:extLst>
              <a:ext uri="{FF2B5EF4-FFF2-40B4-BE49-F238E27FC236}">
                <a16:creationId xmlns:a16="http://schemas.microsoft.com/office/drawing/2014/main" id="{454CA67C-4A7E-4047-A9FE-27D0443EC539}"/>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Data preprocessing &amp;  Handling Missing values</a:t>
            </a:r>
            <a:endParaRPr lang="en-IN" sz="2800" b="1" dirty="0">
              <a:solidFill>
                <a:schemeClr val="accent1">
                  <a:lumMod val="50000"/>
                </a:schemeClr>
              </a:solidFill>
            </a:endParaRPr>
          </a:p>
        </p:txBody>
      </p:sp>
    </p:spTree>
    <p:extLst>
      <p:ext uri="{BB962C8B-B14F-4D97-AF65-F5344CB8AC3E}">
        <p14:creationId xmlns:p14="http://schemas.microsoft.com/office/powerpoint/2010/main" val="3142748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9" name="TextBox 8">
            <a:extLst>
              <a:ext uri="{FF2B5EF4-FFF2-40B4-BE49-F238E27FC236}">
                <a16:creationId xmlns:a16="http://schemas.microsoft.com/office/drawing/2014/main" id="{ED54C4D0-CA2E-4BFE-82C9-12BEA7158169}"/>
              </a:ext>
            </a:extLst>
          </p:cNvPr>
          <p:cNvSpPr txBox="1"/>
          <p:nvPr/>
        </p:nvSpPr>
        <p:spPr>
          <a:xfrm>
            <a:off x="5795682" y="3128682"/>
            <a:ext cx="914400" cy="914400"/>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4D2E375E-7C4A-49B8-99C0-46A207F890B3}"/>
              </a:ext>
            </a:extLst>
          </p:cNvPr>
          <p:cNvSpPr txBox="1"/>
          <p:nvPr/>
        </p:nvSpPr>
        <p:spPr>
          <a:xfrm>
            <a:off x="435685" y="1018209"/>
            <a:ext cx="4961965" cy="914400"/>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6E6895AA-EEFA-4215-9CEC-7D08B0DF6B53}"/>
              </a:ext>
            </a:extLst>
          </p:cNvPr>
          <p:cNvSpPr txBox="1"/>
          <p:nvPr/>
        </p:nvSpPr>
        <p:spPr>
          <a:xfrm>
            <a:off x="435684" y="994359"/>
            <a:ext cx="11057614" cy="861774"/>
          </a:xfrm>
          <a:prstGeom prst="rect">
            <a:avLst/>
          </a:prstGeom>
          <a:noFill/>
        </p:spPr>
        <p:txBody>
          <a:bodyPr wrap="square" rtlCol="0">
            <a:spAutoFit/>
          </a:bodyPr>
          <a:lstStyle/>
          <a:p>
            <a:r>
              <a:rPr lang="en-IN" b="1" dirty="0">
                <a:solidFill>
                  <a:srgbClr val="C00000"/>
                </a:solidFill>
              </a:rPr>
              <a:t>Encoding Categorical Variables</a:t>
            </a:r>
            <a:endParaRPr lang="en-US" b="1" dirty="0">
              <a:solidFill>
                <a:srgbClr val="C00000"/>
              </a:solidFill>
            </a:endParaRPr>
          </a:p>
          <a:p>
            <a:r>
              <a:rPr lang="en-US" sz="1600" dirty="0"/>
              <a:t>Machine learning algorithms work with numerical data, so categorical variables must be converted into numbers.</a:t>
            </a:r>
          </a:p>
          <a:p>
            <a:r>
              <a:rPr lang="en-US" sz="1600" i="1" dirty="0"/>
              <a:t>Why it matters: ML algorithms work with numbers, not text.</a:t>
            </a:r>
          </a:p>
        </p:txBody>
      </p:sp>
      <p:sp>
        <p:nvSpPr>
          <p:cNvPr id="12" name="TextBox 11">
            <a:extLst>
              <a:ext uri="{FF2B5EF4-FFF2-40B4-BE49-F238E27FC236}">
                <a16:creationId xmlns:a16="http://schemas.microsoft.com/office/drawing/2014/main" id="{DC869B29-0A06-45B5-935D-C6125C521DFF}"/>
              </a:ext>
            </a:extLst>
          </p:cNvPr>
          <p:cNvSpPr txBox="1"/>
          <p:nvPr/>
        </p:nvSpPr>
        <p:spPr>
          <a:xfrm>
            <a:off x="435684" y="1879983"/>
            <a:ext cx="11152637" cy="4431983"/>
          </a:xfrm>
          <a:prstGeom prst="rect">
            <a:avLst/>
          </a:prstGeom>
          <a:noFill/>
        </p:spPr>
        <p:txBody>
          <a:bodyPr wrap="square" rtlCol="0">
            <a:spAutoFit/>
          </a:bodyPr>
          <a:lstStyle/>
          <a:p>
            <a:r>
              <a:rPr lang="en-IN" b="1" dirty="0"/>
              <a:t>Techniques:</a:t>
            </a:r>
            <a:endParaRPr lang="en-IN" dirty="0"/>
          </a:p>
          <a:p>
            <a:r>
              <a:rPr lang="en-IN" sz="1600" b="1" dirty="0" err="1"/>
              <a:t>LabelEncoder</a:t>
            </a:r>
            <a:r>
              <a:rPr lang="en-IN" sz="1600" dirty="0"/>
              <a:t>: Converts categories into integers (</a:t>
            </a:r>
            <a:r>
              <a:rPr lang="en-US" sz="1600" dirty="0"/>
              <a:t>Assigns a unique integer to each category.</a:t>
            </a:r>
            <a:r>
              <a:rPr lang="en-IN" sz="1600" dirty="0"/>
              <a:t>). Best for ordinal data.</a:t>
            </a:r>
          </a:p>
          <a:p>
            <a:r>
              <a:rPr lang="en-US" sz="1600" dirty="0">
                <a:solidFill>
                  <a:schemeClr val="accent6">
                    <a:lumMod val="75000"/>
                  </a:schemeClr>
                </a:solidFill>
              </a:rPr>
              <a:t>Example</a:t>
            </a:r>
          </a:p>
          <a:p>
            <a:endParaRPr lang="en-IN" dirty="0"/>
          </a:p>
          <a:p>
            <a:endParaRPr lang="en-IN" b="1" dirty="0"/>
          </a:p>
          <a:p>
            <a:endParaRPr lang="en-IN" b="1" dirty="0"/>
          </a:p>
          <a:p>
            <a:endParaRPr lang="en-IN" b="1" dirty="0"/>
          </a:p>
          <a:p>
            <a:endParaRPr lang="en-IN" b="1" dirty="0"/>
          </a:p>
          <a:p>
            <a:r>
              <a:rPr lang="en-IN" sz="1600" b="1" dirty="0" err="1"/>
              <a:t>OneHotEncoder</a:t>
            </a:r>
            <a:r>
              <a:rPr lang="en-IN" sz="1600" dirty="0"/>
              <a:t>: Creates binary columns for each category (</a:t>
            </a:r>
            <a:r>
              <a:rPr lang="en-US" sz="1600" dirty="0"/>
              <a:t>Creates a separate binary column for each category</a:t>
            </a:r>
            <a:r>
              <a:rPr lang="en-IN" sz="1600" dirty="0"/>
              <a:t>). Best for nominal data</a:t>
            </a:r>
            <a:r>
              <a:rPr lang="en-IN" dirty="0"/>
              <a:t>.</a:t>
            </a:r>
          </a:p>
          <a:p>
            <a:r>
              <a:rPr lang="en-US" dirty="0">
                <a:solidFill>
                  <a:schemeClr val="accent6">
                    <a:lumMod val="75000"/>
                  </a:schemeClr>
                </a:solidFill>
              </a:rPr>
              <a:t>Example</a:t>
            </a:r>
            <a:endParaRPr lang="en-IN" dirty="0">
              <a:solidFill>
                <a:schemeClr val="accent6">
                  <a:lumMod val="75000"/>
                </a:schemeClr>
              </a:solidFill>
            </a:endParaRPr>
          </a:p>
          <a:p>
            <a:endParaRPr lang="en-US" dirty="0"/>
          </a:p>
          <a:p>
            <a:endParaRPr lang="en-US" dirty="0"/>
          </a:p>
          <a:p>
            <a:endParaRPr lang="en-US" dirty="0"/>
          </a:p>
          <a:p>
            <a:endParaRPr lang="en-US" dirty="0"/>
          </a:p>
          <a:p>
            <a:endParaRPr lang="en-US" dirty="0"/>
          </a:p>
        </p:txBody>
      </p:sp>
      <p:graphicFrame>
        <p:nvGraphicFramePr>
          <p:cNvPr id="17" name="Table 16">
            <a:extLst>
              <a:ext uri="{FF2B5EF4-FFF2-40B4-BE49-F238E27FC236}">
                <a16:creationId xmlns:a16="http://schemas.microsoft.com/office/drawing/2014/main" id="{3D9C5222-F13E-4883-9CF1-DDBD356D9CA2}"/>
              </a:ext>
            </a:extLst>
          </p:cNvPr>
          <p:cNvGraphicFramePr>
            <a:graphicFrameLocks noGrp="1"/>
          </p:cNvGraphicFramePr>
          <p:nvPr>
            <p:extLst>
              <p:ext uri="{D42A27DB-BD31-4B8C-83A1-F6EECF244321}">
                <p14:modId xmlns:p14="http://schemas.microsoft.com/office/powerpoint/2010/main" val="1202763952"/>
              </p:ext>
            </p:extLst>
          </p:nvPr>
        </p:nvGraphicFramePr>
        <p:xfrm>
          <a:off x="525328" y="2789100"/>
          <a:ext cx="11057616" cy="1107440"/>
        </p:xfrm>
        <a:graphic>
          <a:graphicData uri="http://schemas.openxmlformats.org/drawingml/2006/table">
            <a:tbl>
              <a:tblPr firstRow="1" bandRow="1">
                <a:tableStyleId>{5C22544A-7EE6-4342-B048-85BDC9FD1C3A}</a:tableStyleId>
              </a:tblPr>
              <a:tblGrid>
                <a:gridCol w="5528808">
                  <a:extLst>
                    <a:ext uri="{9D8B030D-6E8A-4147-A177-3AD203B41FA5}">
                      <a16:colId xmlns:a16="http://schemas.microsoft.com/office/drawing/2014/main" val="2042174586"/>
                    </a:ext>
                  </a:extLst>
                </a:gridCol>
                <a:gridCol w="5528808">
                  <a:extLst>
                    <a:ext uri="{9D8B030D-6E8A-4147-A177-3AD203B41FA5}">
                      <a16:colId xmlns:a16="http://schemas.microsoft.com/office/drawing/2014/main" val="3932524588"/>
                    </a:ext>
                  </a:extLst>
                </a:gridCol>
              </a:tblGrid>
              <a:tr h="0">
                <a:tc>
                  <a:txBody>
                    <a:bodyPr/>
                    <a:lstStyle/>
                    <a:p>
                      <a:r>
                        <a:rPr lang="en-IN" dirty="0"/>
                        <a:t>Gender</a:t>
                      </a:r>
                    </a:p>
                  </a:txBody>
                  <a:tcPr anchor="ctr"/>
                </a:tc>
                <a:tc>
                  <a:txBody>
                    <a:bodyPr/>
                    <a:lstStyle/>
                    <a:p>
                      <a:r>
                        <a:rPr lang="en-IN"/>
                        <a:t>Encoded</a:t>
                      </a:r>
                    </a:p>
                  </a:txBody>
                  <a:tcPr anchor="ctr"/>
                </a:tc>
                <a:extLst>
                  <a:ext uri="{0D108BD9-81ED-4DB2-BD59-A6C34878D82A}">
                    <a16:rowId xmlns:a16="http://schemas.microsoft.com/office/drawing/2014/main" val="1893277670"/>
                  </a:ext>
                </a:extLst>
              </a:tr>
              <a:tr h="370840">
                <a:tc>
                  <a:txBody>
                    <a:bodyPr/>
                    <a:lstStyle/>
                    <a:p>
                      <a:r>
                        <a:rPr lang="en-IN" dirty="0"/>
                        <a:t>Male</a:t>
                      </a:r>
                    </a:p>
                  </a:txBody>
                  <a:tcPr anchor="ctr"/>
                </a:tc>
                <a:tc>
                  <a:txBody>
                    <a:bodyPr/>
                    <a:lstStyle/>
                    <a:p>
                      <a:r>
                        <a:rPr lang="en-IN" dirty="0"/>
                        <a:t>1</a:t>
                      </a:r>
                    </a:p>
                  </a:txBody>
                  <a:tcPr anchor="ctr"/>
                </a:tc>
                <a:extLst>
                  <a:ext uri="{0D108BD9-81ED-4DB2-BD59-A6C34878D82A}">
                    <a16:rowId xmlns:a16="http://schemas.microsoft.com/office/drawing/2014/main" val="3258389963"/>
                  </a:ext>
                </a:extLst>
              </a:tr>
              <a:tr h="370840">
                <a:tc>
                  <a:txBody>
                    <a:bodyPr/>
                    <a:lstStyle/>
                    <a:p>
                      <a:r>
                        <a:rPr lang="en-IN" dirty="0"/>
                        <a:t>Female</a:t>
                      </a:r>
                    </a:p>
                  </a:txBody>
                  <a:tcPr anchor="ctr"/>
                </a:tc>
                <a:tc>
                  <a:txBody>
                    <a:bodyPr/>
                    <a:lstStyle/>
                    <a:p>
                      <a:r>
                        <a:rPr lang="en-IN" dirty="0"/>
                        <a:t>0</a:t>
                      </a:r>
                    </a:p>
                  </a:txBody>
                  <a:tcPr anchor="ctr"/>
                </a:tc>
                <a:extLst>
                  <a:ext uri="{0D108BD9-81ED-4DB2-BD59-A6C34878D82A}">
                    <a16:rowId xmlns:a16="http://schemas.microsoft.com/office/drawing/2014/main" val="1274681447"/>
                  </a:ext>
                </a:extLst>
              </a:tr>
            </a:tbl>
          </a:graphicData>
        </a:graphic>
      </p:graphicFrame>
      <p:graphicFrame>
        <p:nvGraphicFramePr>
          <p:cNvPr id="18" name="Table 17">
            <a:extLst>
              <a:ext uri="{FF2B5EF4-FFF2-40B4-BE49-F238E27FC236}">
                <a16:creationId xmlns:a16="http://schemas.microsoft.com/office/drawing/2014/main" id="{61B52952-13B2-45D1-85F4-34910A2EC366}"/>
              </a:ext>
            </a:extLst>
          </p:cNvPr>
          <p:cNvGraphicFramePr>
            <a:graphicFrameLocks noGrp="1"/>
          </p:cNvGraphicFramePr>
          <p:nvPr>
            <p:extLst>
              <p:ext uri="{D42A27DB-BD31-4B8C-83A1-F6EECF244321}">
                <p14:modId xmlns:p14="http://schemas.microsoft.com/office/powerpoint/2010/main" val="2679002062"/>
              </p:ext>
            </p:extLst>
          </p:nvPr>
        </p:nvGraphicFramePr>
        <p:xfrm>
          <a:off x="525327" y="4912059"/>
          <a:ext cx="11068368" cy="1112520"/>
        </p:xfrm>
        <a:graphic>
          <a:graphicData uri="http://schemas.openxmlformats.org/drawingml/2006/table">
            <a:tbl>
              <a:tblPr firstRow="1" bandRow="1">
                <a:tableStyleId>{5C22544A-7EE6-4342-B048-85BDC9FD1C3A}</a:tableStyleId>
              </a:tblPr>
              <a:tblGrid>
                <a:gridCol w="2767092">
                  <a:extLst>
                    <a:ext uri="{9D8B030D-6E8A-4147-A177-3AD203B41FA5}">
                      <a16:colId xmlns:a16="http://schemas.microsoft.com/office/drawing/2014/main" val="499931370"/>
                    </a:ext>
                  </a:extLst>
                </a:gridCol>
                <a:gridCol w="2767092">
                  <a:extLst>
                    <a:ext uri="{9D8B030D-6E8A-4147-A177-3AD203B41FA5}">
                      <a16:colId xmlns:a16="http://schemas.microsoft.com/office/drawing/2014/main" val="1853190466"/>
                    </a:ext>
                  </a:extLst>
                </a:gridCol>
                <a:gridCol w="2767092">
                  <a:extLst>
                    <a:ext uri="{9D8B030D-6E8A-4147-A177-3AD203B41FA5}">
                      <a16:colId xmlns:a16="http://schemas.microsoft.com/office/drawing/2014/main" val="3283057861"/>
                    </a:ext>
                  </a:extLst>
                </a:gridCol>
                <a:gridCol w="2767092">
                  <a:extLst>
                    <a:ext uri="{9D8B030D-6E8A-4147-A177-3AD203B41FA5}">
                      <a16:colId xmlns:a16="http://schemas.microsoft.com/office/drawing/2014/main" val="3785112779"/>
                    </a:ext>
                  </a:extLst>
                </a:gridCol>
              </a:tblGrid>
              <a:tr h="370840">
                <a:tc>
                  <a:txBody>
                    <a:bodyPr/>
                    <a:lstStyle/>
                    <a:p>
                      <a:r>
                        <a:rPr lang="en-IN" dirty="0" err="1"/>
                        <a:t>Color</a:t>
                      </a:r>
                      <a:endParaRPr lang="en-IN" dirty="0"/>
                    </a:p>
                  </a:txBody>
                  <a:tcPr anchor="ctr"/>
                </a:tc>
                <a:tc>
                  <a:txBody>
                    <a:bodyPr/>
                    <a:lstStyle/>
                    <a:p>
                      <a:r>
                        <a:rPr lang="en-IN"/>
                        <a:t>Red</a:t>
                      </a:r>
                    </a:p>
                  </a:txBody>
                  <a:tcPr anchor="ctr"/>
                </a:tc>
                <a:tc>
                  <a:txBody>
                    <a:bodyPr/>
                    <a:lstStyle/>
                    <a:p>
                      <a:r>
                        <a:rPr lang="en-IN"/>
                        <a:t>Blue</a:t>
                      </a:r>
                    </a:p>
                  </a:txBody>
                  <a:tcPr anchor="ctr"/>
                </a:tc>
                <a:tc>
                  <a:txBody>
                    <a:bodyPr/>
                    <a:lstStyle/>
                    <a:p>
                      <a:r>
                        <a:rPr lang="en-IN"/>
                        <a:t>Green</a:t>
                      </a:r>
                    </a:p>
                  </a:txBody>
                  <a:tcPr anchor="ctr"/>
                </a:tc>
                <a:extLst>
                  <a:ext uri="{0D108BD9-81ED-4DB2-BD59-A6C34878D82A}">
                    <a16:rowId xmlns:a16="http://schemas.microsoft.com/office/drawing/2014/main" val="2172875134"/>
                  </a:ext>
                </a:extLst>
              </a:tr>
              <a:tr h="370840">
                <a:tc>
                  <a:txBody>
                    <a:bodyPr/>
                    <a:lstStyle/>
                    <a:p>
                      <a:r>
                        <a:rPr lang="en-IN"/>
                        <a:t>Red</a:t>
                      </a:r>
                    </a:p>
                  </a:txBody>
                  <a:tcPr anchor="ctr"/>
                </a:tc>
                <a:tc>
                  <a:txBody>
                    <a:bodyPr/>
                    <a:lstStyle/>
                    <a:p>
                      <a:r>
                        <a:rPr lang="en-IN"/>
                        <a:t>1</a:t>
                      </a:r>
                    </a:p>
                  </a:txBody>
                  <a:tcPr anchor="ctr"/>
                </a:tc>
                <a:tc>
                  <a:txBody>
                    <a:bodyPr/>
                    <a:lstStyle/>
                    <a:p>
                      <a:r>
                        <a:rPr lang="en-IN"/>
                        <a:t>0</a:t>
                      </a:r>
                    </a:p>
                  </a:txBody>
                  <a:tcPr anchor="ctr"/>
                </a:tc>
                <a:tc>
                  <a:txBody>
                    <a:bodyPr/>
                    <a:lstStyle/>
                    <a:p>
                      <a:r>
                        <a:rPr lang="en-IN" dirty="0"/>
                        <a:t>0</a:t>
                      </a:r>
                    </a:p>
                  </a:txBody>
                  <a:tcPr anchor="ctr"/>
                </a:tc>
                <a:extLst>
                  <a:ext uri="{0D108BD9-81ED-4DB2-BD59-A6C34878D82A}">
                    <a16:rowId xmlns:a16="http://schemas.microsoft.com/office/drawing/2014/main" val="2393201218"/>
                  </a:ext>
                </a:extLst>
              </a:tr>
              <a:tr h="370840">
                <a:tc>
                  <a:txBody>
                    <a:bodyPr/>
                    <a:lstStyle/>
                    <a:p>
                      <a:r>
                        <a:rPr lang="en-IN" dirty="0"/>
                        <a:t>Blue</a:t>
                      </a:r>
                    </a:p>
                  </a:txBody>
                  <a:tcPr anchor="ctr"/>
                </a:tc>
                <a:tc>
                  <a:txBody>
                    <a:bodyPr/>
                    <a:lstStyle/>
                    <a:p>
                      <a:r>
                        <a:rPr lang="en-IN"/>
                        <a:t>0</a:t>
                      </a:r>
                    </a:p>
                  </a:txBody>
                  <a:tcPr anchor="ctr"/>
                </a:tc>
                <a:tc>
                  <a:txBody>
                    <a:bodyPr/>
                    <a:lstStyle/>
                    <a:p>
                      <a:r>
                        <a:rPr lang="en-IN"/>
                        <a:t>1</a:t>
                      </a:r>
                    </a:p>
                  </a:txBody>
                  <a:tcPr anchor="ctr"/>
                </a:tc>
                <a:tc>
                  <a:txBody>
                    <a:bodyPr/>
                    <a:lstStyle/>
                    <a:p>
                      <a:r>
                        <a:rPr lang="en-IN" dirty="0"/>
                        <a:t>0</a:t>
                      </a:r>
                    </a:p>
                  </a:txBody>
                  <a:tcPr anchor="ctr"/>
                </a:tc>
                <a:extLst>
                  <a:ext uri="{0D108BD9-81ED-4DB2-BD59-A6C34878D82A}">
                    <a16:rowId xmlns:a16="http://schemas.microsoft.com/office/drawing/2014/main" val="4051805985"/>
                  </a:ext>
                </a:extLst>
              </a:tr>
            </a:tbl>
          </a:graphicData>
        </a:graphic>
      </p:graphicFrame>
      <p:sp>
        <p:nvSpPr>
          <p:cNvPr id="13" name="TextBox 12">
            <a:extLst>
              <a:ext uri="{FF2B5EF4-FFF2-40B4-BE49-F238E27FC236}">
                <a16:creationId xmlns:a16="http://schemas.microsoft.com/office/drawing/2014/main" id="{69BACE68-677C-40C5-80C9-86BF1486CEC0}"/>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5</a:t>
            </a:r>
            <a:endParaRPr lang="en-IN" dirty="0">
              <a:solidFill>
                <a:schemeClr val="bg1"/>
              </a:solidFill>
            </a:endParaRPr>
          </a:p>
        </p:txBody>
      </p:sp>
      <p:sp>
        <p:nvSpPr>
          <p:cNvPr id="14" name="Rectangle 13">
            <a:extLst>
              <a:ext uri="{FF2B5EF4-FFF2-40B4-BE49-F238E27FC236}">
                <a16:creationId xmlns:a16="http://schemas.microsoft.com/office/drawing/2014/main" id="{12B38FAE-5155-4021-AC45-8A18FE00206F}"/>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Encoding categorical variables</a:t>
            </a:r>
            <a:endParaRPr lang="en-IN" sz="2800" b="1" dirty="0">
              <a:solidFill>
                <a:schemeClr val="accent1">
                  <a:lumMod val="50000"/>
                </a:schemeClr>
              </a:solidFill>
            </a:endParaRPr>
          </a:p>
        </p:txBody>
      </p:sp>
    </p:spTree>
    <p:extLst>
      <p:ext uri="{BB962C8B-B14F-4D97-AF65-F5344CB8AC3E}">
        <p14:creationId xmlns:p14="http://schemas.microsoft.com/office/powerpoint/2010/main" val="3434124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0EB9D353-956A-4C6D-9D42-70A11048F403}"/>
              </a:ext>
            </a:extLst>
          </p:cNvPr>
          <p:cNvSpPr txBox="1"/>
          <p:nvPr/>
        </p:nvSpPr>
        <p:spPr>
          <a:xfrm>
            <a:off x="435684" y="1229122"/>
            <a:ext cx="11057613" cy="5293757"/>
          </a:xfrm>
          <a:prstGeom prst="rect">
            <a:avLst/>
          </a:prstGeom>
          <a:noFill/>
        </p:spPr>
        <p:txBody>
          <a:bodyPr wrap="square" rtlCol="0">
            <a:spAutoFit/>
          </a:bodyPr>
          <a:lstStyle/>
          <a:p>
            <a:r>
              <a:rPr lang="en-IN" b="1" dirty="0">
                <a:solidFill>
                  <a:srgbClr val="C00000"/>
                </a:solidFill>
              </a:rPr>
              <a:t>Feature Scaling</a:t>
            </a:r>
          </a:p>
          <a:p>
            <a:r>
              <a:rPr lang="en-IN" sz="1600" dirty="0"/>
              <a:t>Features with different ranges can bias machine learning models. Scaling ensures equal importance.</a:t>
            </a:r>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endParaRPr lang="en-US" sz="1600" b="1" dirty="0"/>
          </a:p>
          <a:p>
            <a:r>
              <a:rPr lang="en-US" sz="1600" b="1" dirty="0">
                <a:solidFill>
                  <a:srgbClr val="C00000"/>
                </a:solidFill>
              </a:rPr>
              <a:t>Train-Test Split</a:t>
            </a:r>
          </a:p>
          <a:p>
            <a:r>
              <a:rPr lang="en-US" sz="1600" dirty="0"/>
              <a:t>Separates data for training and evaluation.</a:t>
            </a:r>
          </a:p>
          <a:p>
            <a:r>
              <a:rPr lang="en-US" sz="1600" dirty="0"/>
              <a:t>Common ratio:</a:t>
            </a:r>
          </a:p>
          <a:p>
            <a:pPr marL="285750" indent="-285750">
              <a:buFont typeface="Courier New" panose="02070309020205020404" pitchFamily="49" charset="0"/>
              <a:buChar char="o"/>
            </a:pPr>
            <a:r>
              <a:rPr lang="en-US" sz="1600" dirty="0"/>
              <a:t>80% Training </a:t>
            </a:r>
          </a:p>
          <a:p>
            <a:pPr marL="285750" indent="-285750">
              <a:buFont typeface="Courier New" panose="02070309020205020404" pitchFamily="49" charset="0"/>
              <a:buChar char="o"/>
            </a:pPr>
            <a:r>
              <a:rPr lang="en-US" sz="1600" dirty="0"/>
              <a:t>20% Testing</a:t>
            </a:r>
          </a:p>
          <a:p>
            <a:endParaRPr lang="en-US" sz="1600" b="1" dirty="0"/>
          </a:p>
          <a:p>
            <a:endParaRPr lang="en-IN" sz="1600" b="1" dirty="0"/>
          </a:p>
        </p:txBody>
      </p:sp>
      <p:graphicFrame>
        <p:nvGraphicFramePr>
          <p:cNvPr id="10" name="Table 9">
            <a:extLst>
              <a:ext uri="{FF2B5EF4-FFF2-40B4-BE49-F238E27FC236}">
                <a16:creationId xmlns:a16="http://schemas.microsoft.com/office/drawing/2014/main" id="{7B79D438-868A-4BFE-81D9-F0D95CEC8148}"/>
              </a:ext>
            </a:extLst>
          </p:cNvPr>
          <p:cNvGraphicFramePr>
            <a:graphicFrameLocks noGrp="1"/>
          </p:cNvGraphicFramePr>
          <p:nvPr>
            <p:extLst>
              <p:ext uri="{D42A27DB-BD31-4B8C-83A1-F6EECF244321}">
                <p14:modId xmlns:p14="http://schemas.microsoft.com/office/powerpoint/2010/main" val="1092303022"/>
              </p:ext>
            </p:extLst>
          </p:nvPr>
        </p:nvGraphicFramePr>
        <p:xfrm>
          <a:off x="435684" y="1954542"/>
          <a:ext cx="11057613" cy="2519584"/>
        </p:xfrm>
        <a:graphic>
          <a:graphicData uri="http://schemas.openxmlformats.org/drawingml/2006/table">
            <a:tbl>
              <a:tblPr firstRow="1" bandRow="1">
                <a:tableStyleId>{5C22544A-7EE6-4342-B048-85BDC9FD1C3A}</a:tableStyleId>
              </a:tblPr>
              <a:tblGrid>
                <a:gridCol w="5535273">
                  <a:extLst>
                    <a:ext uri="{9D8B030D-6E8A-4147-A177-3AD203B41FA5}">
                      <a16:colId xmlns:a16="http://schemas.microsoft.com/office/drawing/2014/main" val="1165162667"/>
                    </a:ext>
                  </a:extLst>
                </a:gridCol>
                <a:gridCol w="5522340">
                  <a:extLst>
                    <a:ext uri="{9D8B030D-6E8A-4147-A177-3AD203B41FA5}">
                      <a16:colId xmlns:a16="http://schemas.microsoft.com/office/drawing/2014/main" val="1785886879"/>
                    </a:ext>
                  </a:extLst>
                </a:gridCol>
              </a:tblGrid>
              <a:tr h="554391">
                <a:tc>
                  <a:txBody>
                    <a:bodyPr/>
                    <a:lstStyle/>
                    <a:p>
                      <a:r>
                        <a:rPr lang="en-US" dirty="0"/>
                        <a:t>                </a:t>
                      </a:r>
                      <a:r>
                        <a:rPr lang="en-US" dirty="0" err="1"/>
                        <a:t>StandardScaler</a:t>
                      </a:r>
                      <a:endParaRPr lang="en-IN" dirty="0"/>
                    </a:p>
                  </a:txBody>
                  <a:tcPr/>
                </a:tc>
                <a:tc>
                  <a:txBody>
                    <a:bodyPr/>
                    <a:lstStyle/>
                    <a:p>
                      <a:r>
                        <a:rPr lang="en-US" dirty="0">
                          <a:solidFill>
                            <a:schemeClr val="bg1"/>
                          </a:solidFill>
                        </a:rPr>
                        <a:t>              </a:t>
                      </a:r>
                      <a:r>
                        <a:rPr lang="en-US" dirty="0" err="1">
                          <a:solidFill>
                            <a:schemeClr val="bg1"/>
                          </a:solidFill>
                        </a:rPr>
                        <a:t>MinMaxscaler</a:t>
                      </a:r>
                      <a:endParaRPr lang="en-IN" dirty="0">
                        <a:solidFill>
                          <a:schemeClr val="bg1"/>
                        </a:solidFill>
                      </a:endParaRPr>
                    </a:p>
                  </a:txBody>
                  <a:tcPr/>
                </a:tc>
                <a:extLst>
                  <a:ext uri="{0D108BD9-81ED-4DB2-BD59-A6C34878D82A}">
                    <a16:rowId xmlns:a16="http://schemas.microsoft.com/office/drawing/2014/main" val="341408197"/>
                  </a:ext>
                </a:extLst>
              </a:tr>
              <a:tr h="1965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accent6">
                              <a:lumMod val="75000"/>
                            </a:schemeClr>
                          </a:solidFill>
                        </a:rPr>
                        <a:t>Formula:</a:t>
                      </a:r>
                      <a:r>
                        <a:rPr lang="en-IN" sz="1800" dirty="0">
                          <a:solidFill>
                            <a:schemeClr val="accent6">
                              <a:lumMod val="75000"/>
                            </a:schemeClr>
                          </a:solidFill>
                        </a:rPr>
                        <a:t> </a:t>
                      </a:r>
                      <a:endParaRPr lang="en-US" sz="1800" dirty="0"/>
                    </a:p>
                    <a:p>
                      <a:endParaRPr lang="en-IN" sz="1800" dirty="0"/>
                    </a:p>
                    <a:p>
                      <a:endParaRPr lang="en-IN" sz="1800" dirty="0"/>
                    </a:p>
                    <a:p>
                      <a:r>
                        <a:rPr lang="en-IN" sz="1800" dirty="0"/>
                        <a:t>Mean = 0 </a:t>
                      </a:r>
                    </a:p>
                    <a:p>
                      <a:r>
                        <a:rPr lang="en-IN" sz="1800" dirty="0"/>
                        <a:t>Standard Deviation = 1 </a:t>
                      </a:r>
                    </a:p>
                    <a:p>
                      <a:r>
                        <a:rPr lang="en-IN" sz="1800" dirty="0"/>
                        <a:t>Used in- SVM, Logistic Regression, P</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accent6">
                              <a:lumMod val="75000"/>
                            </a:schemeClr>
                          </a:solidFill>
                        </a:rPr>
                        <a:t>F</a:t>
                      </a:r>
                      <a:r>
                        <a:rPr lang="en-IN" sz="1800" b="1" dirty="0" err="1">
                          <a:solidFill>
                            <a:schemeClr val="accent6">
                              <a:lumMod val="75000"/>
                            </a:schemeClr>
                          </a:solidFill>
                        </a:rPr>
                        <a:t>ormula</a:t>
                      </a:r>
                      <a:r>
                        <a:rPr lang="en-IN" sz="1800" b="1" dirty="0">
                          <a:solidFill>
                            <a:schemeClr val="accent6">
                              <a:lumMod val="75000"/>
                            </a:schemeClr>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Range = 0 to 1</a:t>
                      </a:r>
                    </a:p>
                    <a:p>
                      <a:endParaRPr lang="en-IN" dirty="0"/>
                    </a:p>
                  </a:txBody>
                  <a:tcPr/>
                </a:tc>
                <a:extLst>
                  <a:ext uri="{0D108BD9-81ED-4DB2-BD59-A6C34878D82A}">
                    <a16:rowId xmlns:a16="http://schemas.microsoft.com/office/drawing/2014/main" val="865657716"/>
                  </a:ext>
                </a:extLst>
              </a:tr>
            </a:tbl>
          </a:graphicData>
        </a:graphic>
      </p:graphicFrame>
      <p:pic>
        <p:nvPicPr>
          <p:cNvPr id="11" name="Picture 10">
            <a:extLst>
              <a:ext uri="{FF2B5EF4-FFF2-40B4-BE49-F238E27FC236}">
                <a16:creationId xmlns:a16="http://schemas.microsoft.com/office/drawing/2014/main" id="{8E22F6F0-FD30-4EEA-8B27-1C8BD490604A}"/>
              </a:ext>
            </a:extLst>
          </p:cNvPr>
          <p:cNvPicPr>
            <a:picLocks noChangeAspect="1"/>
          </p:cNvPicPr>
          <p:nvPr/>
        </p:nvPicPr>
        <p:blipFill>
          <a:blip r:embed="rId4"/>
          <a:stretch>
            <a:fillRect/>
          </a:stretch>
        </p:blipFill>
        <p:spPr>
          <a:xfrm>
            <a:off x="1652037" y="2611678"/>
            <a:ext cx="1369438" cy="857370"/>
          </a:xfrm>
          <a:prstGeom prst="rect">
            <a:avLst/>
          </a:prstGeom>
        </p:spPr>
      </p:pic>
      <p:pic>
        <p:nvPicPr>
          <p:cNvPr id="12" name="Picture 11">
            <a:extLst>
              <a:ext uri="{FF2B5EF4-FFF2-40B4-BE49-F238E27FC236}">
                <a16:creationId xmlns:a16="http://schemas.microsoft.com/office/drawing/2014/main" id="{12A3B626-CF2F-404A-8572-EE2DDEFE6242}"/>
              </a:ext>
            </a:extLst>
          </p:cNvPr>
          <p:cNvPicPr>
            <a:picLocks noChangeAspect="1"/>
          </p:cNvPicPr>
          <p:nvPr/>
        </p:nvPicPr>
        <p:blipFill>
          <a:blip r:embed="rId5"/>
          <a:stretch>
            <a:fillRect/>
          </a:stretch>
        </p:blipFill>
        <p:spPr>
          <a:xfrm>
            <a:off x="6976704" y="2668836"/>
            <a:ext cx="1743318" cy="743054"/>
          </a:xfrm>
          <a:prstGeom prst="rect">
            <a:avLst/>
          </a:prstGeom>
        </p:spPr>
      </p:pic>
      <p:sp>
        <p:nvSpPr>
          <p:cNvPr id="13" name="TextBox 12">
            <a:extLst>
              <a:ext uri="{FF2B5EF4-FFF2-40B4-BE49-F238E27FC236}">
                <a16:creationId xmlns:a16="http://schemas.microsoft.com/office/drawing/2014/main" id="{B36DB328-08EA-44B9-AC26-E0DB9BF122AC}"/>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6</a:t>
            </a:r>
            <a:endParaRPr lang="en-IN" dirty="0">
              <a:solidFill>
                <a:schemeClr val="bg1"/>
              </a:solidFill>
            </a:endParaRPr>
          </a:p>
        </p:txBody>
      </p:sp>
      <p:sp>
        <p:nvSpPr>
          <p:cNvPr id="14" name="Rectangle 13">
            <a:extLst>
              <a:ext uri="{FF2B5EF4-FFF2-40B4-BE49-F238E27FC236}">
                <a16:creationId xmlns:a16="http://schemas.microsoft.com/office/drawing/2014/main" id="{E44CCE0A-6C57-4C6B-A218-899C9C2E9030}"/>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Feature scaling </a:t>
            </a:r>
            <a:endParaRPr lang="en-IN" sz="2800" b="1" dirty="0">
              <a:solidFill>
                <a:schemeClr val="accent1">
                  <a:lumMod val="50000"/>
                </a:schemeClr>
              </a:solidFill>
            </a:endParaRPr>
          </a:p>
        </p:txBody>
      </p:sp>
    </p:spTree>
    <p:extLst>
      <p:ext uri="{BB962C8B-B14F-4D97-AF65-F5344CB8AC3E}">
        <p14:creationId xmlns:p14="http://schemas.microsoft.com/office/powerpoint/2010/main" val="3683985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C0A95F34-C949-461C-9EBA-CC702688C20E}"/>
              </a:ext>
            </a:extLst>
          </p:cNvPr>
          <p:cNvSpPr txBox="1"/>
          <p:nvPr/>
        </p:nvSpPr>
        <p:spPr>
          <a:xfrm>
            <a:off x="435685" y="933544"/>
            <a:ext cx="11057613" cy="646331"/>
          </a:xfrm>
          <a:prstGeom prst="rect">
            <a:avLst/>
          </a:prstGeom>
          <a:noFill/>
        </p:spPr>
        <p:txBody>
          <a:bodyPr wrap="square" rtlCol="0">
            <a:spAutoFit/>
          </a:bodyPr>
          <a:lstStyle/>
          <a:p>
            <a:r>
              <a:rPr lang="en-IN" b="1" dirty="0">
                <a:solidFill>
                  <a:srgbClr val="C00000"/>
                </a:solidFill>
              </a:rPr>
              <a:t>Exploratory Data Analysis (EDA)</a:t>
            </a:r>
          </a:p>
          <a:p>
            <a:endParaRPr lang="en-IN" dirty="0"/>
          </a:p>
        </p:txBody>
      </p:sp>
      <p:sp>
        <p:nvSpPr>
          <p:cNvPr id="9" name="TextBox 8">
            <a:extLst>
              <a:ext uri="{FF2B5EF4-FFF2-40B4-BE49-F238E27FC236}">
                <a16:creationId xmlns:a16="http://schemas.microsoft.com/office/drawing/2014/main" id="{6F38C20B-529C-4160-A8B2-DDCA50BD6081}"/>
              </a:ext>
            </a:extLst>
          </p:cNvPr>
          <p:cNvSpPr txBox="1"/>
          <p:nvPr/>
        </p:nvSpPr>
        <p:spPr>
          <a:xfrm>
            <a:off x="435684" y="1256709"/>
            <a:ext cx="11057613" cy="5509200"/>
          </a:xfrm>
          <a:prstGeom prst="rect">
            <a:avLst/>
          </a:prstGeom>
          <a:noFill/>
        </p:spPr>
        <p:txBody>
          <a:bodyPr wrap="square" rtlCol="0">
            <a:spAutoFit/>
          </a:bodyPr>
          <a:lstStyle/>
          <a:p>
            <a:r>
              <a:rPr lang="en-US" b="1" i="1" dirty="0">
                <a:solidFill>
                  <a:schemeClr val="accent1">
                    <a:lumMod val="60000"/>
                    <a:lumOff val="40000"/>
                  </a:schemeClr>
                </a:solidFill>
              </a:rPr>
              <a:t>What is EDA?</a:t>
            </a:r>
          </a:p>
          <a:p>
            <a:r>
              <a:rPr lang="en-US" sz="1600" dirty="0"/>
              <a:t>EDA helps understand data before building a machine learning model.</a:t>
            </a:r>
          </a:p>
          <a:p>
            <a:r>
              <a:rPr lang="en-US" b="1" dirty="0">
                <a:solidFill>
                  <a:schemeClr val="accent6">
                    <a:lumMod val="75000"/>
                  </a:schemeClr>
                </a:solidFill>
              </a:rPr>
              <a:t>Objectives</a:t>
            </a:r>
            <a:endParaRPr lang="en-US" dirty="0">
              <a:solidFill>
                <a:schemeClr val="accent6">
                  <a:lumMod val="75000"/>
                </a:schemeClr>
              </a:solidFill>
            </a:endParaRPr>
          </a:p>
          <a:p>
            <a:pPr marL="285750" indent="-285750">
              <a:buFont typeface="Wingdings" panose="05000000000000000000" pitchFamily="2" charset="2"/>
              <a:buChar char="Ø"/>
            </a:pPr>
            <a:r>
              <a:rPr lang="en-US" sz="1600" dirty="0"/>
              <a:t>Find missing values </a:t>
            </a:r>
          </a:p>
          <a:p>
            <a:pPr marL="285750" indent="-285750">
              <a:buFont typeface="Wingdings" panose="05000000000000000000" pitchFamily="2" charset="2"/>
              <a:buChar char="Ø"/>
            </a:pPr>
            <a:r>
              <a:rPr lang="en-US" sz="1600" dirty="0"/>
              <a:t>Detect outliers </a:t>
            </a:r>
          </a:p>
          <a:p>
            <a:pPr marL="285750" indent="-285750">
              <a:buFont typeface="Wingdings" panose="05000000000000000000" pitchFamily="2" charset="2"/>
              <a:buChar char="Ø"/>
            </a:pPr>
            <a:r>
              <a:rPr lang="en-US" sz="1600" dirty="0"/>
              <a:t>Understand distributions </a:t>
            </a:r>
          </a:p>
          <a:p>
            <a:pPr marL="285750" indent="-285750">
              <a:buFont typeface="Wingdings" panose="05000000000000000000" pitchFamily="2" charset="2"/>
              <a:buChar char="Ø"/>
            </a:pPr>
            <a:r>
              <a:rPr lang="en-US" sz="1600" dirty="0"/>
              <a:t>Discover relationships </a:t>
            </a:r>
          </a:p>
          <a:p>
            <a:pPr marL="285750" indent="-285750">
              <a:buFont typeface="Wingdings" panose="05000000000000000000" pitchFamily="2" charset="2"/>
              <a:buChar char="Ø"/>
            </a:pPr>
            <a:r>
              <a:rPr lang="en-US" sz="1600" dirty="0"/>
              <a:t>Identify patterns</a:t>
            </a:r>
            <a:endParaRPr lang="en-IN" sz="1600" dirty="0"/>
          </a:p>
          <a:p>
            <a:endParaRPr lang="en-US" sz="1600" b="1" dirty="0"/>
          </a:p>
          <a:p>
            <a:r>
              <a:rPr lang="en-US" sz="1600" b="1" dirty="0"/>
              <a:t>Purpose:</a:t>
            </a:r>
            <a:r>
              <a:rPr lang="en-US" sz="1600" dirty="0"/>
              <a:t> Understand data distribution, relationships, and anomalies before modeling.</a:t>
            </a:r>
            <a:endParaRPr lang="en-US" sz="1600" b="1" dirty="0"/>
          </a:p>
          <a:p>
            <a:r>
              <a:rPr lang="en-US" sz="1600" b="1" dirty="0">
                <a:solidFill>
                  <a:schemeClr val="accent6">
                    <a:lumMod val="75000"/>
                  </a:schemeClr>
                </a:solidFill>
              </a:rPr>
              <a:t>Tools:</a:t>
            </a:r>
            <a:endParaRPr lang="en-US" sz="1600" dirty="0">
              <a:solidFill>
                <a:schemeClr val="accent6">
                  <a:lumMod val="75000"/>
                </a:schemeClr>
              </a:solidFill>
            </a:endParaRPr>
          </a:p>
          <a:p>
            <a:r>
              <a:rPr lang="en-US" sz="1600" b="1" dirty="0"/>
              <a:t>Seaborn</a:t>
            </a:r>
            <a:r>
              <a:rPr lang="en-US" sz="1600" dirty="0"/>
              <a:t>: High-level statistical plots (</a:t>
            </a:r>
            <a:r>
              <a:rPr lang="en-US" sz="1600" dirty="0" err="1"/>
              <a:t>pairplot</a:t>
            </a:r>
            <a:r>
              <a:rPr lang="en-US" sz="1600" dirty="0"/>
              <a:t>, heatmap, boxplot).</a:t>
            </a:r>
          </a:p>
          <a:p>
            <a:r>
              <a:rPr lang="en-US" sz="1600" b="1" dirty="0"/>
              <a:t>Matplotlib</a:t>
            </a:r>
            <a:r>
              <a:rPr lang="en-US" sz="1600" dirty="0"/>
              <a:t>: Flexible plotting (histograms, scatter plots, line charts).</a:t>
            </a:r>
          </a:p>
          <a:p>
            <a:r>
              <a:rPr lang="en-US" b="1" dirty="0">
                <a:solidFill>
                  <a:schemeClr val="accent6">
                    <a:lumMod val="75000"/>
                  </a:schemeClr>
                </a:solidFill>
              </a:rPr>
              <a:t>Examples:</a:t>
            </a:r>
            <a:endParaRPr lang="en-US" dirty="0">
              <a:solidFill>
                <a:schemeClr val="accent6">
                  <a:lumMod val="75000"/>
                </a:schemeClr>
              </a:solidFill>
            </a:endParaRPr>
          </a:p>
          <a:p>
            <a:pPr marL="742950" lvl="1" indent="-285750">
              <a:buFont typeface="Arial" panose="020B0604020202020204" pitchFamily="34" charset="0"/>
              <a:buChar char="•"/>
            </a:pPr>
            <a:r>
              <a:rPr lang="en-US" dirty="0"/>
              <a:t>Heatmap for correlation between features.</a:t>
            </a:r>
          </a:p>
          <a:p>
            <a:pPr marL="742950" lvl="1" indent="-285750">
              <a:buFont typeface="Arial" panose="020B0604020202020204" pitchFamily="34" charset="0"/>
              <a:buChar char="•"/>
            </a:pPr>
            <a:r>
              <a:rPr lang="en-US" dirty="0" err="1"/>
              <a:t>Pairplot</a:t>
            </a:r>
            <a:r>
              <a:rPr lang="en-US" dirty="0"/>
              <a:t> to visualize relationships between variables. </a:t>
            </a:r>
          </a:p>
          <a:p>
            <a:pPr marL="742950" lvl="1" indent="-285750">
              <a:buFont typeface="Arial" panose="020B0604020202020204" pitchFamily="34" charset="0"/>
              <a:buChar char="•"/>
            </a:pPr>
            <a:r>
              <a:rPr lang="en-US" dirty="0"/>
              <a:t>Histogram to check skewness in numerical features.</a:t>
            </a:r>
          </a:p>
          <a:p>
            <a:pPr lvl="1"/>
            <a:endParaRPr lang="en-US" dirty="0"/>
          </a:p>
          <a:p>
            <a:pPr lvl="1"/>
            <a:endParaRPr lang="en-US" dirty="0"/>
          </a:p>
          <a:p>
            <a:endParaRPr lang="en-US" sz="1600" dirty="0"/>
          </a:p>
          <a:p>
            <a:endParaRPr lang="en-US" sz="1600" dirty="0"/>
          </a:p>
        </p:txBody>
      </p:sp>
      <p:pic>
        <p:nvPicPr>
          <p:cNvPr id="4102" name="Picture 6" descr="Matplotlib Histogram Plot Tutorial And Examples">
            <a:extLst>
              <a:ext uri="{FF2B5EF4-FFF2-40B4-BE49-F238E27FC236}">
                <a16:creationId xmlns:a16="http://schemas.microsoft.com/office/drawing/2014/main" id="{CC1D6C97-911C-4DFD-A5C4-6A1F1DE7AC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5533" y="4107913"/>
            <a:ext cx="2464144" cy="18527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9CAC5720-D5C8-4DB4-A826-56CC4033174D}"/>
              </a:ext>
            </a:extLst>
          </p:cNvPr>
          <p:cNvPicPr>
            <a:picLocks noChangeAspect="1"/>
          </p:cNvPicPr>
          <p:nvPr/>
        </p:nvPicPr>
        <p:blipFill>
          <a:blip r:embed="rId5"/>
          <a:stretch>
            <a:fillRect/>
          </a:stretch>
        </p:blipFill>
        <p:spPr>
          <a:xfrm>
            <a:off x="8708538" y="1346396"/>
            <a:ext cx="2255297" cy="2553056"/>
          </a:xfrm>
          <a:prstGeom prst="rect">
            <a:avLst/>
          </a:prstGeom>
        </p:spPr>
      </p:pic>
      <p:sp>
        <p:nvSpPr>
          <p:cNvPr id="19" name="TextBox 18">
            <a:extLst>
              <a:ext uri="{FF2B5EF4-FFF2-40B4-BE49-F238E27FC236}">
                <a16:creationId xmlns:a16="http://schemas.microsoft.com/office/drawing/2014/main" id="{DAF522DB-92AF-473F-980D-6CA9E41B75FD}"/>
              </a:ext>
            </a:extLst>
          </p:cNvPr>
          <p:cNvSpPr txBox="1"/>
          <p:nvPr/>
        </p:nvSpPr>
        <p:spPr>
          <a:xfrm>
            <a:off x="8565533" y="977064"/>
            <a:ext cx="1770531" cy="369332"/>
          </a:xfrm>
          <a:prstGeom prst="rect">
            <a:avLst/>
          </a:prstGeom>
          <a:noFill/>
        </p:spPr>
        <p:txBody>
          <a:bodyPr wrap="square" rtlCol="0">
            <a:spAutoFit/>
          </a:bodyPr>
          <a:lstStyle/>
          <a:p>
            <a:r>
              <a:rPr lang="en-IN" b="1" i="1" dirty="0">
                <a:solidFill>
                  <a:schemeClr val="tx1">
                    <a:lumMod val="50000"/>
                    <a:lumOff val="50000"/>
                  </a:schemeClr>
                </a:solidFill>
              </a:rPr>
              <a:t>EDA Workflow:</a:t>
            </a:r>
          </a:p>
        </p:txBody>
      </p:sp>
      <p:sp>
        <p:nvSpPr>
          <p:cNvPr id="12" name="TextBox 11">
            <a:extLst>
              <a:ext uri="{FF2B5EF4-FFF2-40B4-BE49-F238E27FC236}">
                <a16:creationId xmlns:a16="http://schemas.microsoft.com/office/drawing/2014/main" id="{2CE0F1C9-7F88-425D-98F6-9FA124BFAB95}"/>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7</a:t>
            </a:r>
            <a:endParaRPr lang="en-IN" dirty="0">
              <a:solidFill>
                <a:schemeClr val="bg1"/>
              </a:solidFill>
            </a:endParaRPr>
          </a:p>
        </p:txBody>
      </p:sp>
      <p:sp>
        <p:nvSpPr>
          <p:cNvPr id="13" name="Rectangle 12">
            <a:extLst>
              <a:ext uri="{FF2B5EF4-FFF2-40B4-BE49-F238E27FC236}">
                <a16:creationId xmlns:a16="http://schemas.microsoft.com/office/drawing/2014/main" id="{F12BAE0D-1F04-41F5-A7ED-2B68517000BC}"/>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EDA</a:t>
            </a:r>
            <a:endParaRPr lang="en-IN" sz="2800" b="1" dirty="0">
              <a:solidFill>
                <a:schemeClr val="accent1">
                  <a:lumMod val="50000"/>
                </a:schemeClr>
              </a:solidFill>
            </a:endParaRPr>
          </a:p>
        </p:txBody>
      </p:sp>
    </p:spTree>
    <p:extLst>
      <p:ext uri="{BB962C8B-B14F-4D97-AF65-F5344CB8AC3E}">
        <p14:creationId xmlns:p14="http://schemas.microsoft.com/office/powerpoint/2010/main" val="2332530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8965" y="6670069"/>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96820A1B-26B0-4C41-8569-E1F5E5C05D25}"/>
              </a:ext>
            </a:extLst>
          </p:cNvPr>
          <p:cNvSpPr txBox="1"/>
          <p:nvPr/>
        </p:nvSpPr>
        <p:spPr>
          <a:xfrm>
            <a:off x="435685" y="1086537"/>
            <a:ext cx="11057613" cy="2277547"/>
          </a:xfrm>
          <a:prstGeom prst="rect">
            <a:avLst/>
          </a:prstGeom>
          <a:noFill/>
        </p:spPr>
        <p:txBody>
          <a:bodyPr wrap="square" rtlCol="0">
            <a:spAutoFit/>
          </a:bodyPr>
          <a:lstStyle/>
          <a:p>
            <a:r>
              <a:rPr lang="en-US" b="1" dirty="0">
                <a:solidFill>
                  <a:srgbClr val="C00000"/>
                </a:solidFill>
              </a:rPr>
              <a:t>Linear Regression</a:t>
            </a:r>
          </a:p>
          <a:p>
            <a:r>
              <a:rPr lang="en-US" b="1" dirty="0">
                <a:solidFill>
                  <a:schemeClr val="accent1">
                    <a:lumMod val="60000"/>
                    <a:lumOff val="40000"/>
                  </a:schemeClr>
                </a:solidFill>
              </a:rPr>
              <a:t>What is Linear Regression?</a:t>
            </a:r>
          </a:p>
          <a:p>
            <a:r>
              <a:rPr lang="en-US" sz="1600" dirty="0"/>
              <a:t>Linear Regression is a </a:t>
            </a:r>
            <a:r>
              <a:rPr lang="en-US" sz="1600" b="1" dirty="0"/>
              <a:t>supervised machine learning algorithm</a:t>
            </a:r>
            <a:r>
              <a:rPr lang="en-US" sz="1600" dirty="0"/>
              <a:t> used to predict a </a:t>
            </a:r>
            <a:r>
              <a:rPr lang="en-US" sz="1600" b="1" dirty="0"/>
              <a:t>continuous numerical value</a:t>
            </a:r>
            <a:r>
              <a:rPr lang="en-US" sz="1600" dirty="0"/>
              <a:t> (e.g., house price, salary, temperature) by finding the best-fit straight line that represents the relationship between independent variables (features) and the dependent variable (target).</a:t>
            </a:r>
          </a:p>
          <a:p>
            <a:r>
              <a:rPr lang="en-US" sz="1600" b="1" dirty="0"/>
              <a:t>Mathematical Equation:                              </a:t>
            </a:r>
            <a:r>
              <a:rPr lang="en-US" sz="1400" dirty="0"/>
              <a:t>Where: </a:t>
            </a:r>
            <a:r>
              <a:rPr lang="en-US" sz="1400" b="1" dirty="0"/>
              <a:t>y </a:t>
            </a:r>
            <a:r>
              <a:rPr lang="en-US" sz="1400" dirty="0"/>
              <a:t>= Predicted output ,</a:t>
            </a:r>
            <a:r>
              <a:rPr lang="en-US" sz="1400" b="1" dirty="0"/>
              <a:t>β₀</a:t>
            </a:r>
            <a:r>
              <a:rPr lang="en-US" sz="1400" dirty="0"/>
              <a:t> = Intercept (bias) ,</a:t>
            </a:r>
            <a:r>
              <a:rPr lang="en-US" sz="1400" b="1" dirty="0"/>
              <a:t> β₁</a:t>
            </a:r>
            <a:r>
              <a:rPr lang="en-US" sz="1400" dirty="0"/>
              <a:t> = Slope (weight),</a:t>
            </a:r>
            <a:r>
              <a:rPr lang="en-US" sz="1400" b="1" dirty="0"/>
              <a:t> x</a:t>
            </a:r>
            <a:r>
              <a:rPr lang="en-US" sz="1400" dirty="0"/>
              <a:t> = Input feature ,</a:t>
            </a:r>
            <a:r>
              <a:rPr lang="en-US" sz="1400" b="1" dirty="0"/>
              <a:t>ε</a:t>
            </a:r>
            <a:r>
              <a:rPr lang="en-US" sz="1400" dirty="0"/>
              <a:t> = Error term </a:t>
            </a:r>
          </a:p>
          <a:p>
            <a:r>
              <a:rPr lang="en-US" sz="1200" i="1" dirty="0"/>
              <a:t>The objective is to minimize the prediction error by finding the optimal values of </a:t>
            </a:r>
            <a:r>
              <a:rPr lang="en-US" sz="1200" b="1" i="1" dirty="0"/>
              <a:t>β₀</a:t>
            </a:r>
            <a:r>
              <a:rPr lang="en-US" sz="1200" i="1" dirty="0"/>
              <a:t> and </a:t>
            </a:r>
            <a:r>
              <a:rPr lang="el-GR" sz="1200" b="1" dirty="0"/>
              <a:t>β₁</a:t>
            </a:r>
            <a:r>
              <a:rPr lang="el-GR" sz="1200" dirty="0"/>
              <a:t>.</a:t>
            </a:r>
            <a:endParaRPr lang="en-IN" sz="1200" dirty="0"/>
          </a:p>
          <a:p>
            <a:endParaRPr lang="en-US" sz="1400" dirty="0"/>
          </a:p>
          <a:p>
            <a:endParaRPr lang="en-US" sz="1600" b="1" dirty="0"/>
          </a:p>
        </p:txBody>
      </p:sp>
      <p:pic>
        <p:nvPicPr>
          <p:cNvPr id="8" name="Picture 7">
            <a:extLst>
              <a:ext uri="{FF2B5EF4-FFF2-40B4-BE49-F238E27FC236}">
                <a16:creationId xmlns:a16="http://schemas.microsoft.com/office/drawing/2014/main" id="{720856C9-BDCA-454A-9B65-05F1F27D0EC8}"/>
              </a:ext>
            </a:extLst>
          </p:cNvPr>
          <p:cNvPicPr>
            <a:picLocks noChangeAspect="1"/>
          </p:cNvPicPr>
          <p:nvPr/>
        </p:nvPicPr>
        <p:blipFill>
          <a:blip r:embed="rId4"/>
          <a:stretch>
            <a:fillRect/>
          </a:stretch>
        </p:blipFill>
        <p:spPr>
          <a:xfrm>
            <a:off x="2576425" y="2462250"/>
            <a:ext cx="1247949" cy="238158"/>
          </a:xfrm>
          <a:prstGeom prst="rect">
            <a:avLst/>
          </a:prstGeom>
        </p:spPr>
      </p:pic>
      <p:graphicFrame>
        <p:nvGraphicFramePr>
          <p:cNvPr id="11" name="Table 10">
            <a:extLst>
              <a:ext uri="{FF2B5EF4-FFF2-40B4-BE49-F238E27FC236}">
                <a16:creationId xmlns:a16="http://schemas.microsoft.com/office/drawing/2014/main" id="{55B85B3F-D4E0-465F-A747-25B7D6DCBE2D}"/>
              </a:ext>
            </a:extLst>
          </p:cNvPr>
          <p:cNvGraphicFramePr>
            <a:graphicFrameLocks noGrp="1"/>
          </p:cNvGraphicFramePr>
          <p:nvPr>
            <p:extLst>
              <p:ext uri="{D42A27DB-BD31-4B8C-83A1-F6EECF244321}">
                <p14:modId xmlns:p14="http://schemas.microsoft.com/office/powerpoint/2010/main" val="2478202224"/>
              </p:ext>
            </p:extLst>
          </p:nvPr>
        </p:nvGraphicFramePr>
        <p:xfrm>
          <a:off x="435684" y="2949388"/>
          <a:ext cx="10779163" cy="3383280"/>
        </p:xfrm>
        <a:graphic>
          <a:graphicData uri="http://schemas.openxmlformats.org/drawingml/2006/table">
            <a:tbl>
              <a:tblPr firstRow="1" bandRow="1">
                <a:tableStyleId>{5C22544A-7EE6-4342-B048-85BDC9FD1C3A}</a:tableStyleId>
              </a:tblPr>
              <a:tblGrid>
                <a:gridCol w="5425038">
                  <a:extLst>
                    <a:ext uri="{9D8B030D-6E8A-4147-A177-3AD203B41FA5}">
                      <a16:colId xmlns:a16="http://schemas.microsoft.com/office/drawing/2014/main" val="2741896965"/>
                    </a:ext>
                  </a:extLst>
                </a:gridCol>
                <a:gridCol w="5354125">
                  <a:extLst>
                    <a:ext uri="{9D8B030D-6E8A-4147-A177-3AD203B41FA5}">
                      <a16:colId xmlns:a16="http://schemas.microsoft.com/office/drawing/2014/main" val="2991654437"/>
                    </a:ext>
                  </a:extLst>
                </a:gridCol>
              </a:tblGrid>
              <a:tr h="5893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bg1"/>
                          </a:solidFill>
                        </a:rPr>
                        <a:t>        Cost Function (Mean Squared Error – MSE)</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rPr>
                        <a:t>                              Gradient Descent</a:t>
                      </a:r>
                    </a:p>
                    <a:p>
                      <a:endParaRPr lang="en-IN" dirty="0"/>
                    </a:p>
                  </a:txBody>
                  <a:tcPr/>
                </a:tc>
                <a:extLst>
                  <a:ext uri="{0D108BD9-81ED-4DB2-BD59-A6C34878D82A}">
                    <a16:rowId xmlns:a16="http://schemas.microsoft.com/office/drawing/2014/main" val="1400462793"/>
                  </a:ext>
                </a:extLst>
              </a:tr>
              <a:tr h="2694353">
                <a:tc>
                  <a:txBody>
                    <a:bodyPr/>
                    <a:lstStyle/>
                    <a:p>
                      <a:r>
                        <a:rPr lang="en-IN" sz="1200" dirty="0"/>
                        <a:t>The Cost Function measures how far the predicted values are from the actual values.</a:t>
                      </a:r>
                    </a:p>
                    <a:p>
                      <a:endParaRPr lang="en-IN" sz="1200" dirty="0"/>
                    </a:p>
                    <a:p>
                      <a:endParaRPr lang="en-IN" sz="1200" dirty="0"/>
                    </a:p>
                    <a:p>
                      <a:endParaRPr lang="en-IN" sz="1200" dirty="0"/>
                    </a:p>
                    <a:p>
                      <a:r>
                        <a:rPr lang="en-IN" sz="1200" dirty="0"/>
                        <a:t>Where: </a:t>
                      </a:r>
                      <a:r>
                        <a:rPr lang="en-IN" sz="1200" b="1" dirty="0"/>
                        <a:t>m</a:t>
                      </a:r>
                      <a:r>
                        <a:rPr lang="en-IN" sz="1200" dirty="0"/>
                        <a:t> = Number of training examples </a:t>
                      </a:r>
                    </a:p>
                    <a:p>
                      <a:r>
                        <a:rPr lang="en-IN" sz="1200" b="1" dirty="0"/>
                        <a:t>              h(x)</a:t>
                      </a:r>
                      <a:r>
                        <a:rPr lang="en-IN" sz="1200" dirty="0"/>
                        <a:t> = Predicted value </a:t>
                      </a:r>
                    </a:p>
                    <a:p>
                      <a:r>
                        <a:rPr lang="en-IN" sz="1200" b="1" dirty="0"/>
                        <a:t>              y</a:t>
                      </a:r>
                      <a:r>
                        <a:rPr lang="en-IN" sz="1200" dirty="0"/>
                        <a:t> = Actual value </a:t>
                      </a:r>
                    </a:p>
                    <a:p>
                      <a:endParaRPr lang="en-IN" sz="1200" b="1" dirty="0">
                        <a:solidFill>
                          <a:schemeClr val="accent5">
                            <a:lumMod val="60000"/>
                            <a:lumOff val="40000"/>
                          </a:schemeClr>
                        </a:solidFill>
                      </a:endParaRPr>
                    </a:p>
                    <a:p>
                      <a:r>
                        <a:rPr lang="en-IN" sz="1200" b="1" dirty="0">
                          <a:solidFill>
                            <a:schemeClr val="accent5">
                              <a:lumMod val="60000"/>
                              <a:lumOff val="40000"/>
                            </a:schemeClr>
                          </a:solidFill>
                        </a:rPr>
                        <a:t>Why MSE?</a:t>
                      </a:r>
                    </a:p>
                    <a:p>
                      <a:pPr marL="285750" indent="-285750">
                        <a:buFont typeface="Wingdings" panose="05000000000000000000" pitchFamily="2" charset="2"/>
                        <a:buChar char="ü"/>
                      </a:pPr>
                      <a:r>
                        <a:rPr lang="en-IN" sz="1200" dirty="0"/>
                        <a:t>Penalizes larger errors more heavily. </a:t>
                      </a:r>
                    </a:p>
                    <a:p>
                      <a:pPr marL="285750" indent="-285750">
                        <a:buFont typeface="Wingdings" panose="05000000000000000000" pitchFamily="2" charset="2"/>
                        <a:buChar char="ü"/>
                      </a:pPr>
                      <a:r>
                        <a:rPr lang="en-IN" sz="1200" dirty="0"/>
                        <a:t>Smooth and differentiable, making optimization easier. </a:t>
                      </a:r>
                    </a:p>
                    <a:p>
                      <a:pPr marL="285750" indent="-285750">
                        <a:buFont typeface="Wingdings" panose="05000000000000000000" pitchFamily="2" charset="2"/>
                        <a:buChar char="ü"/>
                      </a:pPr>
                      <a:r>
                        <a:rPr lang="en-IN" sz="1200" dirty="0"/>
                        <a:t>Lower MSE indicates a better-performing model</a:t>
                      </a:r>
                      <a:r>
                        <a:rPr lang="en-IN" sz="1800" dirty="0"/>
                        <a:t>. </a:t>
                      </a:r>
                    </a:p>
                    <a:p>
                      <a:endParaRPr lang="en-IN" dirty="0"/>
                    </a:p>
                  </a:txBody>
                  <a:tcPr/>
                </a:tc>
                <a:tc>
                  <a:txBody>
                    <a:bodyPr/>
                    <a:lstStyle/>
                    <a:p>
                      <a:r>
                        <a:rPr lang="en-IN" sz="1200" dirty="0"/>
                        <a:t>Gradient Descent is an optimization algorithm that minimizes the cost function by updating the model parameters iteratively.</a:t>
                      </a:r>
                    </a:p>
                    <a:p>
                      <a:r>
                        <a:rPr lang="en-IN" sz="1200" b="1" dirty="0"/>
                        <a:t>Update Rule:</a:t>
                      </a:r>
                      <a:r>
                        <a:rPr lang="en-IN" sz="1200" dirty="0"/>
                        <a:t>​ </a:t>
                      </a:r>
                    </a:p>
                    <a:p>
                      <a:endParaRPr lang="en-IN" sz="1200" dirty="0"/>
                    </a:p>
                    <a:p>
                      <a:r>
                        <a:rPr lang="en-IN" sz="1200" dirty="0"/>
                        <a:t>Where: </a:t>
                      </a:r>
                      <a:r>
                        <a:rPr lang="el-GR" sz="1200" b="1" dirty="0"/>
                        <a:t>θ</a:t>
                      </a:r>
                      <a:r>
                        <a:rPr lang="el-GR" sz="1200" dirty="0"/>
                        <a:t> = </a:t>
                      </a:r>
                      <a:r>
                        <a:rPr lang="en-IN" sz="1200" dirty="0"/>
                        <a:t>Model parameter </a:t>
                      </a:r>
                    </a:p>
                    <a:p>
                      <a:r>
                        <a:rPr lang="en-US" sz="1200" b="1" dirty="0"/>
                        <a:t>              </a:t>
                      </a:r>
                      <a:r>
                        <a:rPr lang="el-GR" sz="1200" b="1" dirty="0"/>
                        <a:t>α</a:t>
                      </a:r>
                      <a:r>
                        <a:rPr lang="el-GR" sz="1200" dirty="0"/>
                        <a:t> = </a:t>
                      </a:r>
                      <a:r>
                        <a:rPr lang="en-IN" sz="1200" dirty="0"/>
                        <a:t>Learning rate </a:t>
                      </a:r>
                    </a:p>
                    <a:p>
                      <a:r>
                        <a:rPr lang="en-IN" sz="1200" b="1" dirty="0"/>
                        <a:t>              ∂J/∂</a:t>
                      </a:r>
                      <a:r>
                        <a:rPr lang="el-GR" sz="1200" b="1" dirty="0"/>
                        <a:t>θ</a:t>
                      </a:r>
                      <a:r>
                        <a:rPr lang="el-GR" sz="1200" dirty="0"/>
                        <a:t> = </a:t>
                      </a:r>
                      <a:r>
                        <a:rPr lang="en-IN" sz="1200" dirty="0"/>
                        <a:t>Gradient of the cost function </a:t>
                      </a:r>
                    </a:p>
                    <a:p>
                      <a:r>
                        <a:rPr lang="en-IN" sz="1200" b="1" dirty="0">
                          <a:solidFill>
                            <a:schemeClr val="accent1">
                              <a:lumMod val="50000"/>
                            </a:schemeClr>
                          </a:solidFill>
                        </a:rPr>
                        <a:t>Working Process</a:t>
                      </a:r>
                    </a:p>
                    <a:p>
                      <a:pPr marL="342900" indent="-342900">
                        <a:buFont typeface="+mj-lt"/>
                        <a:buAutoNum type="arabicPeriod"/>
                      </a:pPr>
                      <a:r>
                        <a:rPr lang="en-IN" sz="1200" dirty="0"/>
                        <a:t>Initialize parameters randomly. </a:t>
                      </a:r>
                    </a:p>
                    <a:p>
                      <a:pPr marL="342900" indent="-342900">
                        <a:buFont typeface="+mj-lt"/>
                        <a:buAutoNum type="arabicPeriod"/>
                      </a:pPr>
                      <a:r>
                        <a:rPr lang="en-IN" sz="1200" dirty="0"/>
                        <a:t>Calculate prediction. </a:t>
                      </a:r>
                    </a:p>
                    <a:p>
                      <a:pPr marL="342900" indent="-342900">
                        <a:buFont typeface="+mj-lt"/>
                        <a:buAutoNum type="arabicPeriod"/>
                      </a:pPr>
                      <a:r>
                        <a:rPr lang="en-IN" sz="1200" dirty="0"/>
                        <a:t>Compute error using the cost function. </a:t>
                      </a:r>
                    </a:p>
                    <a:p>
                      <a:pPr marL="342900" indent="-342900">
                        <a:buFont typeface="+mj-lt"/>
                        <a:buAutoNum type="arabicPeriod"/>
                      </a:pPr>
                      <a:r>
                        <a:rPr lang="en-IN" sz="1200" dirty="0"/>
                        <a:t>Update weights. </a:t>
                      </a:r>
                    </a:p>
                    <a:p>
                      <a:pPr marL="342900" indent="-342900">
                        <a:buFont typeface="+mj-lt"/>
                        <a:buAutoNum type="arabicPeriod"/>
                      </a:pPr>
                      <a:r>
                        <a:rPr lang="en-IN" sz="1200" dirty="0"/>
                        <a:t>Repeat until the minimum cost is achieved</a:t>
                      </a:r>
                      <a:endParaRPr lang="en-IN" sz="1200" b="1" dirty="0"/>
                    </a:p>
                    <a:p>
                      <a:endParaRPr lang="en-IN" dirty="0"/>
                    </a:p>
                  </a:txBody>
                  <a:tcPr/>
                </a:tc>
                <a:extLst>
                  <a:ext uri="{0D108BD9-81ED-4DB2-BD59-A6C34878D82A}">
                    <a16:rowId xmlns:a16="http://schemas.microsoft.com/office/drawing/2014/main" val="3028631847"/>
                  </a:ext>
                </a:extLst>
              </a:tr>
            </a:tbl>
          </a:graphicData>
        </a:graphic>
      </p:graphicFrame>
      <p:pic>
        <p:nvPicPr>
          <p:cNvPr id="12" name="Picture 11">
            <a:extLst>
              <a:ext uri="{FF2B5EF4-FFF2-40B4-BE49-F238E27FC236}">
                <a16:creationId xmlns:a16="http://schemas.microsoft.com/office/drawing/2014/main" id="{08E80B1D-ACEA-46F7-A302-4612EA96BF08}"/>
              </a:ext>
            </a:extLst>
          </p:cNvPr>
          <p:cNvPicPr>
            <a:picLocks noChangeAspect="1"/>
          </p:cNvPicPr>
          <p:nvPr/>
        </p:nvPicPr>
        <p:blipFill>
          <a:blip r:embed="rId5"/>
          <a:stretch>
            <a:fillRect/>
          </a:stretch>
        </p:blipFill>
        <p:spPr>
          <a:xfrm>
            <a:off x="659803" y="3802419"/>
            <a:ext cx="1837764" cy="530067"/>
          </a:xfrm>
          <a:prstGeom prst="rect">
            <a:avLst/>
          </a:prstGeom>
        </p:spPr>
      </p:pic>
      <p:pic>
        <p:nvPicPr>
          <p:cNvPr id="14" name="Picture 13">
            <a:extLst>
              <a:ext uri="{FF2B5EF4-FFF2-40B4-BE49-F238E27FC236}">
                <a16:creationId xmlns:a16="http://schemas.microsoft.com/office/drawing/2014/main" id="{066600CC-12C7-4E82-8215-F5F78E2120C7}"/>
              </a:ext>
            </a:extLst>
          </p:cNvPr>
          <p:cNvPicPr>
            <a:picLocks noChangeAspect="1"/>
          </p:cNvPicPr>
          <p:nvPr/>
        </p:nvPicPr>
        <p:blipFill>
          <a:blip r:embed="rId6"/>
          <a:stretch>
            <a:fillRect/>
          </a:stretch>
        </p:blipFill>
        <p:spPr>
          <a:xfrm>
            <a:off x="6817854" y="4003097"/>
            <a:ext cx="838005" cy="382711"/>
          </a:xfrm>
          <a:prstGeom prst="rect">
            <a:avLst/>
          </a:prstGeom>
        </p:spPr>
      </p:pic>
      <p:sp>
        <p:nvSpPr>
          <p:cNvPr id="13" name="TextBox 12">
            <a:extLst>
              <a:ext uri="{FF2B5EF4-FFF2-40B4-BE49-F238E27FC236}">
                <a16:creationId xmlns:a16="http://schemas.microsoft.com/office/drawing/2014/main" id="{72A2978A-CF4B-48F7-97D9-7EDF8D199CA8}"/>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8</a:t>
            </a:r>
            <a:endParaRPr lang="en-IN" dirty="0">
              <a:solidFill>
                <a:schemeClr val="bg1"/>
              </a:solidFill>
            </a:endParaRPr>
          </a:p>
        </p:txBody>
      </p:sp>
      <p:sp>
        <p:nvSpPr>
          <p:cNvPr id="15" name="Rectangle 14">
            <a:extLst>
              <a:ext uri="{FF2B5EF4-FFF2-40B4-BE49-F238E27FC236}">
                <a16:creationId xmlns:a16="http://schemas.microsoft.com/office/drawing/2014/main" id="{46893638-BADB-4DAE-917B-6648891DA037}"/>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Linear Regression</a:t>
            </a:r>
            <a:endParaRPr lang="en-IN" sz="2800" b="1" dirty="0">
              <a:solidFill>
                <a:schemeClr val="accent1">
                  <a:lumMod val="50000"/>
                </a:schemeClr>
              </a:solidFill>
            </a:endParaRPr>
          </a:p>
        </p:txBody>
      </p:sp>
    </p:spTree>
    <p:extLst>
      <p:ext uri="{BB962C8B-B14F-4D97-AF65-F5344CB8AC3E}">
        <p14:creationId xmlns:p14="http://schemas.microsoft.com/office/powerpoint/2010/main" val="556647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EC6F1B48-EC90-493A-9BA4-4C5C84C98EB8}"/>
              </a:ext>
            </a:extLst>
          </p:cNvPr>
          <p:cNvSpPr txBox="1"/>
          <p:nvPr/>
        </p:nvSpPr>
        <p:spPr>
          <a:xfrm>
            <a:off x="435684" y="994358"/>
            <a:ext cx="5461397" cy="2369880"/>
          </a:xfrm>
          <a:prstGeom prst="rect">
            <a:avLst/>
          </a:prstGeom>
          <a:solidFill>
            <a:schemeClr val="bg2">
              <a:lumMod val="90000"/>
            </a:schemeClr>
          </a:solidFill>
        </p:spPr>
        <p:txBody>
          <a:bodyPr wrap="square" rtlCol="0">
            <a:spAutoFit/>
          </a:bodyPr>
          <a:lstStyle/>
          <a:p>
            <a:r>
              <a:rPr lang="en-US" sz="1600" b="1" dirty="0">
                <a:solidFill>
                  <a:srgbClr val="FF0000"/>
                </a:solidFill>
              </a:rPr>
              <a:t>Logistic Regression</a:t>
            </a:r>
          </a:p>
          <a:p>
            <a:r>
              <a:rPr lang="en-US" sz="1200" dirty="0"/>
              <a:t>Logistic Regression is a supervised learning algorithm used for </a:t>
            </a:r>
            <a:r>
              <a:rPr lang="en-US" sz="1200" b="1" dirty="0"/>
              <a:t>binary classification problems</a:t>
            </a:r>
            <a:r>
              <a:rPr lang="en-US" sz="1200" dirty="0"/>
              <a:t>, where the output belongs to one of two classes.</a:t>
            </a:r>
          </a:p>
          <a:p>
            <a:r>
              <a:rPr lang="en-US" sz="1200" b="1" dirty="0">
                <a:solidFill>
                  <a:schemeClr val="accent6">
                    <a:lumMod val="75000"/>
                  </a:schemeClr>
                </a:solidFill>
              </a:rPr>
              <a:t>Examples:</a:t>
            </a:r>
          </a:p>
          <a:p>
            <a:pPr marL="285750" indent="-285750">
              <a:buFont typeface="Wingdings" panose="05000000000000000000" pitchFamily="2" charset="2"/>
              <a:buChar char="§"/>
            </a:pPr>
            <a:r>
              <a:rPr lang="en-US" sz="1200" dirty="0"/>
              <a:t>Spam or Not Spam </a:t>
            </a:r>
          </a:p>
          <a:p>
            <a:pPr marL="285750" indent="-285750">
              <a:buFont typeface="Wingdings" panose="05000000000000000000" pitchFamily="2" charset="2"/>
              <a:buChar char="§"/>
            </a:pPr>
            <a:r>
              <a:rPr lang="en-US" sz="1200" dirty="0"/>
              <a:t>Pass or Fail </a:t>
            </a:r>
          </a:p>
          <a:p>
            <a:pPr marL="285750" indent="-285750">
              <a:buFont typeface="Wingdings" panose="05000000000000000000" pitchFamily="2" charset="2"/>
              <a:buChar char="§"/>
            </a:pPr>
            <a:r>
              <a:rPr lang="en-US" sz="1200" dirty="0"/>
              <a:t>Disease or No Disease </a:t>
            </a:r>
          </a:p>
          <a:p>
            <a:pPr marL="285750" indent="-285750">
              <a:buFont typeface="Wingdings" panose="05000000000000000000" pitchFamily="2" charset="2"/>
              <a:buChar char="§"/>
            </a:pPr>
            <a:r>
              <a:rPr lang="en-US" sz="1200" dirty="0"/>
              <a:t>Fraud or Genuine Transaction </a:t>
            </a:r>
          </a:p>
          <a:p>
            <a:r>
              <a:rPr lang="en-US" sz="1200" dirty="0"/>
              <a:t>Unlike Linear Regression, Logistic Regression predicts the </a:t>
            </a:r>
            <a:r>
              <a:rPr lang="en-US" sz="1200" b="1" dirty="0"/>
              <a:t>probability</a:t>
            </a:r>
            <a:r>
              <a:rPr lang="en-US" sz="1200" dirty="0"/>
              <a:t> that a data point belongs to a particular class.</a:t>
            </a:r>
          </a:p>
          <a:p>
            <a:endParaRPr lang="en-US" sz="1200" dirty="0"/>
          </a:p>
          <a:p>
            <a:endParaRPr lang="en-US" sz="1200" dirty="0"/>
          </a:p>
        </p:txBody>
      </p:sp>
      <p:sp>
        <p:nvSpPr>
          <p:cNvPr id="8" name="TextBox 7">
            <a:extLst>
              <a:ext uri="{FF2B5EF4-FFF2-40B4-BE49-F238E27FC236}">
                <a16:creationId xmlns:a16="http://schemas.microsoft.com/office/drawing/2014/main" id="{B1827DFD-F0BF-4DFA-80D7-E4FC0C017BE7}"/>
              </a:ext>
            </a:extLst>
          </p:cNvPr>
          <p:cNvSpPr txBox="1"/>
          <p:nvPr/>
        </p:nvSpPr>
        <p:spPr>
          <a:xfrm>
            <a:off x="6294920" y="1000205"/>
            <a:ext cx="5198378" cy="2369880"/>
          </a:xfrm>
          <a:prstGeom prst="rect">
            <a:avLst/>
          </a:prstGeom>
          <a:solidFill>
            <a:schemeClr val="bg2">
              <a:lumMod val="90000"/>
            </a:schemeClr>
          </a:solidFill>
        </p:spPr>
        <p:txBody>
          <a:bodyPr wrap="square" rtlCol="0">
            <a:spAutoFit/>
          </a:bodyPr>
          <a:lstStyle/>
          <a:p>
            <a:r>
              <a:rPr lang="en-IN" sz="1600" b="1" dirty="0">
                <a:solidFill>
                  <a:srgbClr val="FF0000"/>
                </a:solidFill>
              </a:rPr>
              <a:t>Sigmoid Function</a:t>
            </a:r>
          </a:p>
          <a:p>
            <a:r>
              <a:rPr lang="en-IN" sz="1200" dirty="0"/>
              <a:t>The predicted probability is calculated using the Sigmoid (Logistic) </a:t>
            </a:r>
            <a:r>
              <a:rPr lang="en-IN" sz="1200" dirty="0">
                <a:solidFill>
                  <a:schemeClr val="accent6">
                    <a:lumMod val="75000"/>
                  </a:schemeClr>
                </a:solidFill>
              </a:rPr>
              <a:t>Function:</a:t>
            </a:r>
          </a:p>
          <a:p>
            <a:endParaRPr lang="en-US" sz="1200" dirty="0"/>
          </a:p>
          <a:p>
            <a:endParaRPr lang="en-US" sz="1200" dirty="0"/>
          </a:p>
          <a:p>
            <a:r>
              <a:rPr lang="en-US" sz="1200" dirty="0"/>
              <a:t>Where:</a:t>
            </a:r>
            <a:endParaRPr lang="en-IN" sz="1200" dirty="0"/>
          </a:p>
          <a:p>
            <a:r>
              <a:rPr lang="en-IN" sz="1200" b="1" dirty="0">
                <a:solidFill>
                  <a:schemeClr val="accent6">
                    <a:lumMod val="75000"/>
                  </a:schemeClr>
                </a:solidFill>
              </a:rPr>
              <a:t>Properties:</a:t>
            </a:r>
          </a:p>
          <a:p>
            <a:r>
              <a:rPr lang="en-IN" sz="1200" dirty="0"/>
              <a:t>Output always lies between </a:t>
            </a:r>
            <a:r>
              <a:rPr lang="en-IN" sz="1200" b="1" dirty="0"/>
              <a:t>0 and 1</a:t>
            </a:r>
            <a:r>
              <a:rPr lang="en-IN" sz="1200" dirty="0"/>
              <a:t>. </a:t>
            </a:r>
          </a:p>
          <a:p>
            <a:r>
              <a:rPr lang="en-IN" sz="1200" dirty="0"/>
              <a:t>Converts any real value into a probability. </a:t>
            </a:r>
          </a:p>
          <a:p>
            <a:r>
              <a:rPr lang="en-IN" sz="1200" dirty="0"/>
              <a:t>Produces an S-shaped (sigmoid) curve. </a:t>
            </a:r>
          </a:p>
          <a:p>
            <a:r>
              <a:rPr lang="en-IN" sz="1200" b="1" dirty="0">
                <a:solidFill>
                  <a:schemeClr val="accent1">
                    <a:lumMod val="75000"/>
                  </a:schemeClr>
                </a:solidFill>
              </a:rPr>
              <a:t>Classification Rule</a:t>
            </a:r>
          </a:p>
          <a:p>
            <a:pPr marL="171450" indent="-171450">
              <a:buFont typeface="Arial" panose="020B0604020202020204" pitchFamily="34" charset="0"/>
              <a:buChar char="•"/>
            </a:pPr>
            <a:r>
              <a:rPr lang="en-IN" sz="1200" dirty="0"/>
              <a:t>Probability ≥ 0.5 → Class 1 </a:t>
            </a:r>
          </a:p>
          <a:p>
            <a:pPr marL="171450" indent="-171450">
              <a:buFont typeface="Arial" panose="020B0604020202020204" pitchFamily="34" charset="0"/>
              <a:buChar char="•"/>
            </a:pPr>
            <a:r>
              <a:rPr lang="en-IN" sz="1200" dirty="0"/>
              <a:t>Probability &lt; 0.5 → Class 0</a:t>
            </a:r>
          </a:p>
        </p:txBody>
      </p:sp>
      <p:pic>
        <p:nvPicPr>
          <p:cNvPr id="9" name="Picture 8">
            <a:extLst>
              <a:ext uri="{FF2B5EF4-FFF2-40B4-BE49-F238E27FC236}">
                <a16:creationId xmlns:a16="http://schemas.microsoft.com/office/drawing/2014/main" id="{61EB865F-6BAA-4547-82E7-BA7BBBDCBDD6}"/>
              </a:ext>
            </a:extLst>
          </p:cNvPr>
          <p:cNvPicPr>
            <a:picLocks noChangeAspect="1"/>
          </p:cNvPicPr>
          <p:nvPr/>
        </p:nvPicPr>
        <p:blipFill>
          <a:blip r:embed="rId4"/>
          <a:stretch>
            <a:fillRect/>
          </a:stretch>
        </p:blipFill>
        <p:spPr>
          <a:xfrm>
            <a:off x="6400712" y="1444141"/>
            <a:ext cx="1058865" cy="371654"/>
          </a:xfrm>
          <a:prstGeom prst="rect">
            <a:avLst/>
          </a:prstGeom>
        </p:spPr>
      </p:pic>
      <p:pic>
        <p:nvPicPr>
          <p:cNvPr id="10" name="Picture 9">
            <a:extLst>
              <a:ext uri="{FF2B5EF4-FFF2-40B4-BE49-F238E27FC236}">
                <a16:creationId xmlns:a16="http://schemas.microsoft.com/office/drawing/2014/main" id="{7D942F56-CADD-4698-B9FB-7C42098A41DC}"/>
              </a:ext>
            </a:extLst>
          </p:cNvPr>
          <p:cNvPicPr>
            <a:picLocks noChangeAspect="1"/>
          </p:cNvPicPr>
          <p:nvPr/>
        </p:nvPicPr>
        <p:blipFill>
          <a:blip r:embed="rId5"/>
          <a:stretch>
            <a:fillRect/>
          </a:stretch>
        </p:blipFill>
        <p:spPr>
          <a:xfrm>
            <a:off x="7459577" y="1822889"/>
            <a:ext cx="845885" cy="310416"/>
          </a:xfrm>
          <a:prstGeom prst="rect">
            <a:avLst/>
          </a:prstGeom>
        </p:spPr>
      </p:pic>
      <p:sp>
        <p:nvSpPr>
          <p:cNvPr id="11" name="TextBox 10">
            <a:extLst>
              <a:ext uri="{FF2B5EF4-FFF2-40B4-BE49-F238E27FC236}">
                <a16:creationId xmlns:a16="http://schemas.microsoft.com/office/drawing/2014/main" id="{39C78105-BEAB-43A8-BA7A-0E739F17083C}"/>
              </a:ext>
            </a:extLst>
          </p:cNvPr>
          <p:cNvSpPr txBox="1"/>
          <p:nvPr/>
        </p:nvSpPr>
        <p:spPr>
          <a:xfrm>
            <a:off x="435685" y="3438813"/>
            <a:ext cx="5461396" cy="2923877"/>
          </a:xfrm>
          <a:prstGeom prst="rect">
            <a:avLst/>
          </a:prstGeom>
          <a:solidFill>
            <a:schemeClr val="bg2">
              <a:lumMod val="90000"/>
            </a:schemeClr>
          </a:solidFill>
        </p:spPr>
        <p:txBody>
          <a:bodyPr wrap="square" rtlCol="0">
            <a:spAutoFit/>
          </a:bodyPr>
          <a:lstStyle/>
          <a:p>
            <a:r>
              <a:rPr lang="en-US" sz="1600" b="1" dirty="0">
                <a:solidFill>
                  <a:srgbClr val="FF0000"/>
                </a:solidFill>
              </a:rPr>
              <a:t>Decision Boundary</a:t>
            </a:r>
          </a:p>
          <a:p>
            <a:r>
              <a:rPr lang="en-US" sz="1200" dirty="0"/>
              <a:t>A Decision Boundary is the line (or curve) that separates different classes in the feature space.</a:t>
            </a:r>
          </a:p>
          <a:p>
            <a:r>
              <a:rPr lang="en-US" sz="1200" b="1" dirty="0">
                <a:solidFill>
                  <a:schemeClr val="accent6">
                    <a:lumMod val="75000"/>
                  </a:schemeClr>
                </a:solidFill>
              </a:rPr>
              <a:t>For example:</a:t>
            </a:r>
          </a:p>
          <a:p>
            <a:pPr marL="171450" indent="-171450">
              <a:buFont typeface="Arial" panose="020B0604020202020204" pitchFamily="34" charset="0"/>
              <a:buChar char="•"/>
            </a:pPr>
            <a:r>
              <a:rPr lang="en-US" sz="1200" dirty="0"/>
              <a:t>Students with probability greater than 0.5 are classified as </a:t>
            </a:r>
            <a:r>
              <a:rPr lang="en-US" sz="1200" b="1" dirty="0"/>
              <a:t>Pass</a:t>
            </a:r>
            <a:r>
              <a:rPr lang="en-US" sz="1200" dirty="0"/>
              <a:t>. </a:t>
            </a:r>
          </a:p>
          <a:p>
            <a:pPr marL="171450" indent="-171450">
              <a:buFont typeface="Arial" panose="020B0604020202020204" pitchFamily="34" charset="0"/>
              <a:buChar char="•"/>
            </a:pPr>
            <a:r>
              <a:rPr lang="en-US" sz="1200" dirty="0"/>
              <a:t>Students with probability less than 0.5 are classified as </a:t>
            </a:r>
            <a:r>
              <a:rPr lang="en-US" sz="1200" b="1" dirty="0"/>
              <a:t>Fail</a:t>
            </a:r>
            <a:r>
              <a:rPr lang="en-US" sz="1200" dirty="0"/>
              <a:t>. </a:t>
            </a:r>
          </a:p>
          <a:p>
            <a:pPr marL="171450" indent="-171450">
              <a:buFont typeface="Arial" panose="020B0604020202020204" pitchFamily="34" charset="0"/>
              <a:buChar char="•"/>
            </a:pPr>
            <a:r>
              <a:rPr lang="en-US" sz="1200" dirty="0"/>
              <a:t>The boundary is determined using the learned model parameters.</a:t>
            </a:r>
          </a:p>
          <a:p>
            <a:r>
              <a:rPr lang="en-US" sz="1200" b="1" dirty="0">
                <a:solidFill>
                  <a:schemeClr val="accent1">
                    <a:lumMod val="75000"/>
                  </a:schemeClr>
                </a:solidFill>
              </a:rPr>
              <a:t>Advantages of Logistic Regression</a:t>
            </a:r>
          </a:p>
          <a:p>
            <a:pPr marL="171450" indent="-171450">
              <a:buFont typeface="Wingdings" panose="05000000000000000000" pitchFamily="2" charset="2"/>
              <a:buChar char="ü"/>
            </a:pPr>
            <a:r>
              <a:rPr lang="en-US" sz="1200" dirty="0"/>
              <a:t>Simple and computationally efficient. </a:t>
            </a:r>
          </a:p>
          <a:p>
            <a:pPr marL="171450" indent="-171450">
              <a:buFont typeface="Wingdings" panose="05000000000000000000" pitchFamily="2" charset="2"/>
              <a:buChar char="ü"/>
            </a:pPr>
            <a:r>
              <a:rPr lang="en-US" sz="1200" dirty="0"/>
              <a:t>Provides probability estimates. </a:t>
            </a:r>
          </a:p>
          <a:p>
            <a:pPr marL="171450" indent="-171450">
              <a:buFont typeface="Wingdings" panose="05000000000000000000" pitchFamily="2" charset="2"/>
              <a:buChar char="ü"/>
            </a:pPr>
            <a:r>
              <a:rPr lang="en-US" sz="1200" dirty="0"/>
              <a:t>Easy to interpret. </a:t>
            </a:r>
          </a:p>
          <a:p>
            <a:pPr marL="171450" indent="-171450">
              <a:buFont typeface="Wingdings" panose="05000000000000000000" pitchFamily="2" charset="2"/>
              <a:buChar char="ü"/>
            </a:pPr>
            <a:r>
              <a:rPr lang="en-US" sz="1200" dirty="0"/>
              <a:t>Works well for linearly separable data. </a:t>
            </a:r>
          </a:p>
          <a:p>
            <a:r>
              <a:rPr lang="en-US" sz="1200" b="1" dirty="0">
                <a:solidFill>
                  <a:schemeClr val="accent1">
                    <a:lumMod val="75000"/>
                  </a:schemeClr>
                </a:solidFill>
              </a:rPr>
              <a:t>Diagram to Insert</a:t>
            </a:r>
          </a:p>
          <a:p>
            <a:pPr marL="171450" indent="-171450">
              <a:buFont typeface="Arial" panose="020B0604020202020204" pitchFamily="34" charset="0"/>
              <a:buChar char="•"/>
            </a:pPr>
            <a:r>
              <a:rPr lang="en-US" sz="1200" dirty="0"/>
              <a:t>Sigmoid curve. </a:t>
            </a:r>
          </a:p>
          <a:p>
            <a:pPr marL="171450" indent="-171450">
              <a:buFont typeface="Arial" panose="020B0604020202020204" pitchFamily="34" charset="0"/>
              <a:buChar char="•"/>
            </a:pPr>
            <a:r>
              <a:rPr lang="en-US" sz="1200" dirty="0"/>
              <a:t>Scatter plot showing two classes separated by a decision boundary.</a:t>
            </a:r>
          </a:p>
        </p:txBody>
      </p:sp>
      <p:sp>
        <p:nvSpPr>
          <p:cNvPr id="12" name="TextBox 11">
            <a:extLst>
              <a:ext uri="{FF2B5EF4-FFF2-40B4-BE49-F238E27FC236}">
                <a16:creationId xmlns:a16="http://schemas.microsoft.com/office/drawing/2014/main" id="{4527998C-D550-4353-9AC3-40EA2372359D}"/>
              </a:ext>
            </a:extLst>
          </p:cNvPr>
          <p:cNvSpPr txBox="1"/>
          <p:nvPr/>
        </p:nvSpPr>
        <p:spPr>
          <a:xfrm>
            <a:off x="11721625" y="6584434"/>
            <a:ext cx="242047" cy="369332"/>
          </a:xfrm>
          <a:prstGeom prst="rect">
            <a:avLst/>
          </a:prstGeom>
          <a:noFill/>
        </p:spPr>
        <p:txBody>
          <a:bodyPr wrap="square" rtlCol="0">
            <a:spAutoFit/>
          </a:bodyPr>
          <a:lstStyle/>
          <a:p>
            <a:r>
              <a:rPr lang="en-US" dirty="0">
                <a:solidFill>
                  <a:schemeClr val="bg1"/>
                </a:solidFill>
              </a:rPr>
              <a:t>9</a:t>
            </a:r>
            <a:endParaRPr lang="en-IN" dirty="0">
              <a:solidFill>
                <a:schemeClr val="bg1"/>
              </a:solidFill>
            </a:endParaRPr>
          </a:p>
        </p:txBody>
      </p:sp>
      <p:sp>
        <p:nvSpPr>
          <p:cNvPr id="13" name="Rectangle 12">
            <a:extLst>
              <a:ext uri="{FF2B5EF4-FFF2-40B4-BE49-F238E27FC236}">
                <a16:creationId xmlns:a16="http://schemas.microsoft.com/office/drawing/2014/main" id="{3BC93AB6-2C49-43E0-BC34-CE8E661E8DAC}"/>
              </a:ext>
            </a:extLst>
          </p:cNvPr>
          <p:cNvSpPr/>
          <p:nvPr/>
        </p:nvSpPr>
        <p:spPr>
          <a:xfrm>
            <a:off x="417754" y="82642"/>
            <a:ext cx="10994317" cy="523220"/>
          </a:xfrm>
          <a:prstGeom prst="rect">
            <a:avLst/>
          </a:prstGeom>
        </p:spPr>
        <p:txBody>
          <a:bodyPr wrap="square">
            <a:spAutoFit/>
          </a:bodyPr>
          <a:lstStyle/>
          <a:p>
            <a:r>
              <a:rPr lang="en-US" sz="2800" b="1" dirty="0">
                <a:solidFill>
                  <a:schemeClr val="accent1">
                    <a:lumMod val="50000"/>
                  </a:schemeClr>
                </a:solidFill>
              </a:rPr>
              <a:t>Logistic regression , Decision Boundary &amp; sigmoid function</a:t>
            </a:r>
            <a:endParaRPr lang="en-IN" sz="2800" b="1" dirty="0">
              <a:solidFill>
                <a:schemeClr val="accent1">
                  <a:lumMod val="50000"/>
                </a:schemeClr>
              </a:solidFill>
            </a:endParaRPr>
          </a:p>
        </p:txBody>
      </p:sp>
    </p:spTree>
    <p:extLst>
      <p:ext uri="{BB962C8B-B14F-4D97-AF65-F5344CB8AC3E}">
        <p14:creationId xmlns:p14="http://schemas.microsoft.com/office/powerpoint/2010/main" val="57525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1082664" y="35113"/>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7A81C147-8058-41F3-A080-65C08DBAA273}"/>
              </a:ext>
            </a:extLst>
          </p:cNvPr>
          <p:cNvSpPr txBox="1"/>
          <p:nvPr/>
        </p:nvSpPr>
        <p:spPr>
          <a:xfrm>
            <a:off x="435685" y="933544"/>
            <a:ext cx="11057613" cy="646331"/>
          </a:xfrm>
          <a:prstGeom prst="rect">
            <a:avLst/>
          </a:prstGeom>
          <a:noFill/>
        </p:spPr>
        <p:txBody>
          <a:bodyPr wrap="square" rtlCol="0">
            <a:spAutoFit/>
          </a:bodyPr>
          <a:lstStyle/>
          <a:p>
            <a:r>
              <a:rPr lang="en-US" b="1" dirty="0">
                <a:solidFill>
                  <a:srgbClr val="C00000"/>
                </a:solidFill>
              </a:rPr>
              <a:t>Evaluation Metrics (Regression &amp; Classification)</a:t>
            </a:r>
          </a:p>
          <a:p>
            <a:r>
              <a:rPr lang="en-US" sz="1600" dirty="0"/>
              <a:t>Machine learning models are evaluated using different metrics depending on the problem type</a:t>
            </a:r>
            <a:r>
              <a:rPr lang="en-US" dirty="0"/>
              <a:t>.</a:t>
            </a:r>
          </a:p>
        </p:txBody>
      </p:sp>
      <p:sp>
        <p:nvSpPr>
          <p:cNvPr id="8" name="TextBox 7">
            <a:extLst>
              <a:ext uri="{FF2B5EF4-FFF2-40B4-BE49-F238E27FC236}">
                <a16:creationId xmlns:a16="http://schemas.microsoft.com/office/drawing/2014/main" id="{A8AE0586-043C-4FDC-8576-9CAD00AFAB2F}"/>
              </a:ext>
            </a:extLst>
          </p:cNvPr>
          <p:cNvSpPr txBox="1"/>
          <p:nvPr/>
        </p:nvSpPr>
        <p:spPr>
          <a:xfrm>
            <a:off x="435686" y="1579875"/>
            <a:ext cx="3895166" cy="2308324"/>
          </a:xfrm>
          <a:prstGeom prst="rect">
            <a:avLst/>
          </a:prstGeom>
          <a:solidFill>
            <a:schemeClr val="accent1">
              <a:lumMod val="20000"/>
              <a:lumOff val="80000"/>
            </a:schemeClr>
          </a:solidFill>
        </p:spPr>
        <p:txBody>
          <a:bodyPr wrap="square" rtlCol="0">
            <a:spAutoFit/>
          </a:bodyPr>
          <a:lstStyle/>
          <a:p>
            <a:r>
              <a:rPr lang="en-IN" sz="1400" b="1" dirty="0">
                <a:solidFill>
                  <a:schemeClr val="accent1">
                    <a:lumMod val="75000"/>
                  </a:schemeClr>
                </a:solidFill>
              </a:rPr>
              <a:t>Mean Squared Error (MSE)</a:t>
            </a:r>
          </a:p>
          <a:p>
            <a:r>
              <a:rPr lang="en-IN" sz="1400" dirty="0"/>
              <a:t>Measures the average squared difference between actual and predicted values.</a:t>
            </a:r>
          </a:p>
          <a:p>
            <a:r>
              <a:rPr lang="en-IN" sz="1400" b="1" dirty="0">
                <a:solidFill>
                  <a:schemeClr val="accent6">
                    <a:lumMod val="75000"/>
                  </a:schemeClr>
                </a:solidFill>
              </a:rPr>
              <a:t>Formula:</a:t>
            </a:r>
          </a:p>
          <a:p>
            <a:endParaRPr lang="en-IN" sz="1400" b="1" dirty="0"/>
          </a:p>
          <a:p>
            <a:r>
              <a:rPr lang="en-IN" sz="1400" b="1" dirty="0"/>
              <a:t>Interpretation:</a:t>
            </a:r>
          </a:p>
          <a:p>
            <a:pPr marL="285750" indent="-285750">
              <a:buFont typeface="Arial" panose="020B0604020202020204" pitchFamily="34" charset="0"/>
              <a:buChar char="•"/>
            </a:pPr>
            <a:r>
              <a:rPr lang="en-IN" sz="1400" dirty="0"/>
              <a:t>Lower MSE indicates better performance. </a:t>
            </a:r>
          </a:p>
          <a:p>
            <a:pPr marL="285750" indent="-285750">
              <a:buFont typeface="Arial" panose="020B0604020202020204" pitchFamily="34" charset="0"/>
              <a:buChar char="•"/>
            </a:pPr>
            <a:r>
              <a:rPr lang="en-IN" sz="1400" dirty="0"/>
              <a:t>Highly sensitive to large prediction errors</a:t>
            </a:r>
          </a:p>
          <a:p>
            <a:endParaRPr lang="en-IN" sz="1400" dirty="0"/>
          </a:p>
          <a:p>
            <a:endParaRPr lang="en-IN" dirty="0"/>
          </a:p>
        </p:txBody>
      </p:sp>
      <p:sp>
        <p:nvSpPr>
          <p:cNvPr id="10" name="TextBox 9">
            <a:extLst>
              <a:ext uri="{FF2B5EF4-FFF2-40B4-BE49-F238E27FC236}">
                <a16:creationId xmlns:a16="http://schemas.microsoft.com/office/drawing/2014/main" id="{E911BFF9-BCD1-4C56-97BB-90D448316644}"/>
              </a:ext>
            </a:extLst>
          </p:cNvPr>
          <p:cNvSpPr txBox="1"/>
          <p:nvPr/>
        </p:nvSpPr>
        <p:spPr>
          <a:xfrm>
            <a:off x="4469354" y="1588888"/>
            <a:ext cx="3895166" cy="2246769"/>
          </a:xfrm>
          <a:prstGeom prst="rect">
            <a:avLst/>
          </a:prstGeom>
          <a:solidFill>
            <a:schemeClr val="accent1">
              <a:lumMod val="20000"/>
              <a:lumOff val="80000"/>
            </a:schemeClr>
          </a:solidFill>
        </p:spPr>
        <p:txBody>
          <a:bodyPr wrap="square" rtlCol="0">
            <a:spAutoFit/>
          </a:bodyPr>
          <a:lstStyle/>
          <a:p>
            <a:r>
              <a:rPr lang="en-US" sz="1400" b="1" dirty="0">
                <a:solidFill>
                  <a:schemeClr val="accent1">
                    <a:lumMod val="75000"/>
                  </a:schemeClr>
                </a:solidFill>
              </a:rPr>
              <a:t>Root Mean Squared Error (RMSE) </a:t>
            </a:r>
          </a:p>
          <a:p>
            <a:r>
              <a:rPr lang="en-US" sz="1400" dirty="0"/>
              <a:t>RMSE is the square root of MSE.</a:t>
            </a:r>
          </a:p>
          <a:p>
            <a:r>
              <a:rPr lang="en-US" sz="1400" b="1" dirty="0">
                <a:solidFill>
                  <a:schemeClr val="accent6">
                    <a:lumMod val="75000"/>
                  </a:schemeClr>
                </a:solidFill>
              </a:rPr>
              <a:t>Formula:</a:t>
            </a:r>
          </a:p>
          <a:p>
            <a:endParaRPr lang="en-US" sz="1400" b="1" dirty="0"/>
          </a:p>
          <a:p>
            <a:r>
              <a:rPr lang="en-US" sz="1400" b="1" dirty="0"/>
              <a:t>Advantages:</a:t>
            </a:r>
          </a:p>
          <a:p>
            <a:pPr marL="285750" indent="-285750">
              <a:buFont typeface="Wingdings" panose="05000000000000000000" pitchFamily="2" charset="2"/>
              <a:buChar char="ü"/>
            </a:pPr>
            <a:r>
              <a:rPr lang="en-US" sz="1400" dirty="0"/>
              <a:t>Easier to interpret because it has the same units as the target variable. </a:t>
            </a:r>
          </a:p>
          <a:p>
            <a:pPr marL="285750" indent="-285750">
              <a:buFont typeface="Wingdings" panose="05000000000000000000" pitchFamily="2" charset="2"/>
              <a:buChar char="ü"/>
            </a:pPr>
            <a:r>
              <a:rPr lang="en-US" sz="1400" dirty="0"/>
              <a:t>Lower RMSE indicates better predictions. </a:t>
            </a:r>
          </a:p>
          <a:p>
            <a:pPr marL="285750" indent="-285750">
              <a:buFont typeface="Wingdings" panose="05000000000000000000" pitchFamily="2" charset="2"/>
              <a:buChar char="ü"/>
            </a:pPr>
            <a:endParaRPr lang="en-US" sz="1400" dirty="0"/>
          </a:p>
          <a:p>
            <a:pPr marL="285750" indent="-285750">
              <a:buFont typeface="Wingdings" panose="05000000000000000000" pitchFamily="2" charset="2"/>
              <a:buChar char="ü"/>
            </a:pPr>
            <a:endParaRPr lang="en-US" sz="1400" dirty="0"/>
          </a:p>
        </p:txBody>
      </p:sp>
      <p:sp>
        <p:nvSpPr>
          <p:cNvPr id="11" name="TextBox 10">
            <a:extLst>
              <a:ext uri="{FF2B5EF4-FFF2-40B4-BE49-F238E27FC236}">
                <a16:creationId xmlns:a16="http://schemas.microsoft.com/office/drawing/2014/main" id="{D5501A42-360F-4801-9EE3-F7963A20A671}"/>
              </a:ext>
            </a:extLst>
          </p:cNvPr>
          <p:cNvSpPr txBox="1"/>
          <p:nvPr/>
        </p:nvSpPr>
        <p:spPr>
          <a:xfrm>
            <a:off x="8503022" y="1579875"/>
            <a:ext cx="3563471" cy="2246769"/>
          </a:xfrm>
          <a:prstGeom prst="rect">
            <a:avLst/>
          </a:prstGeom>
          <a:solidFill>
            <a:schemeClr val="accent1">
              <a:lumMod val="20000"/>
              <a:lumOff val="80000"/>
            </a:schemeClr>
          </a:solidFill>
        </p:spPr>
        <p:txBody>
          <a:bodyPr wrap="square" rtlCol="0">
            <a:spAutoFit/>
          </a:bodyPr>
          <a:lstStyle/>
          <a:p>
            <a:r>
              <a:rPr lang="en-IN" sz="1400" b="1" dirty="0">
                <a:solidFill>
                  <a:schemeClr val="accent1">
                    <a:lumMod val="75000"/>
                  </a:schemeClr>
                </a:solidFill>
              </a:rPr>
              <a:t>R² Score (Coefficient of Determination)</a:t>
            </a:r>
          </a:p>
          <a:p>
            <a:r>
              <a:rPr lang="en-IN" sz="1400" dirty="0"/>
              <a:t>Measures how much variation in the dependent variable is explained by the model.</a:t>
            </a:r>
          </a:p>
          <a:p>
            <a:r>
              <a:rPr lang="en-IN" sz="1400" b="1" dirty="0">
                <a:solidFill>
                  <a:schemeClr val="accent6">
                    <a:lumMod val="75000"/>
                  </a:schemeClr>
                </a:solidFill>
              </a:rPr>
              <a:t>Formula:</a:t>
            </a:r>
          </a:p>
          <a:p>
            <a:endParaRPr lang="en-IN" sz="1400" b="1" dirty="0"/>
          </a:p>
          <a:p>
            <a:r>
              <a:rPr lang="en-IN" sz="1400" b="1" dirty="0"/>
              <a:t>Interpretation:</a:t>
            </a:r>
          </a:p>
          <a:p>
            <a:pPr marL="285750" indent="-285750">
              <a:buFont typeface="Arial" panose="020B0604020202020204" pitchFamily="34" charset="0"/>
              <a:buChar char="•"/>
            </a:pPr>
            <a:r>
              <a:rPr lang="en-IN" sz="1400" b="1" dirty="0"/>
              <a:t>R² = 1</a:t>
            </a:r>
            <a:r>
              <a:rPr lang="en-IN" sz="1400" dirty="0"/>
              <a:t> → Perfect prediction. </a:t>
            </a:r>
          </a:p>
          <a:p>
            <a:pPr marL="285750" indent="-285750">
              <a:buFont typeface="Arial" panose="020B0604020202020204" pitchFamily="34" charset="0"/>
              <a:buChar char="•"/>
            </a:pPr>
            <a:r>
              <a:rPr lang="en-IN" sz="1400" b="1" dirty="0"/>
              <a:t>R² = 0</a:t>
            </a:r>
            <a:r>
              <a:rPr lang="en-IN" sz="1400" dirty="0"/>
              <a:t> → Model performs no better than predicting the mean. </a:t>
            </a:r>
          </a:p>
          <a:p>
            <a:pPr marL="285750" indent="-285750">
              <a:buFont typeface="Arial" panose="020B0604020202020204" pitchFamily="34" charset="0"/>
              <a:buChar char="•"/>
            </a:pPr>
            <a:r>
              <a:rPr lang="en-IN" sz="1400" dirty="0"/>
              <a:t>Higher R² values indicate a better fit.</a:t>
            </a:r>
          </a:p>
        </p:txBody>
      </p:sp>
      <p:pic>
        <p:nvPicPr>
          <p:cNvPr id="12" name="Picture 11">
            <a:extLst>
              <a:ext uri="{FF2B5EF4-FFF2-40B4-BE49-F238E27FC236}">
                <a16:creationId xmlns:a16="http://schemas.microsoft.com/office/drawing/2014/main" id="{FC2B3C85-BB57-4DD6-9C89-DB0C1BF7C3B3}"/>
              </a:ext>
            </a:extLst>
          </p:cNvPr>
          <p:cNvPicPr>
            <a:picLocks noChangeAspect="1"/>
          </p:cNvPicPr>
          <p:nvPr/>
        </p:nvPicPr>
        <p:blipFill>
          <a:blip r:embed="rId4"/>
          <a:stretch>
            <a:fillRect/>
          </a:stretch>
        </p:blipFill>
        <p:spPr>
          <a:xfrm>
            <a:off x="1236169" y="2316146"/>
            <a:ext cx="1483008" cy="414248"/>
          </a:xfrm>
          <a:prstGeom prst="rect">
            <a:avLst/>
          </a:prstGeom>
        </p:spPr>
      </p:pic>
      <p:pic>
        <p:nvPicPr>
          <p:cNvPr id="13" name="Picture 12">
            <a:extLst>
              <a:ext uri="{FF2B5EF4-FFF2-40B4-BE49-F238E27FC236}">
                <a16:creationId xmlns:a16="http://schemas.microsoft.com/office/drawing/2014/main" id="{5E1D2CA9-A634-4299-BFC2-A9941371E0AA}"/>
              </a:ext>
            </a:extLst>
          </p:cNvPr>
          <p:cNvPicPr>
            <a:picLocks noChangeAspect="1"/>
          </p:cNvPicPr>
          <p:nvPr/>
        </p:nvPicPr>
        <p:blipFill>
          <a:blip r:embed="rId5"/>
          <a:stretch>
            <a:fillRect/>
          </a:stretch>
        </p:blipFill>
        <p:spPr>
          <a:xfrm>
            <a:off x="5291997" y="2107318"/>
            <a:ext cx="1628923" cy="375906"/>
          </a:xfrm>
          <a:prstGeom prst="rect">
            <a:avLst/>
          </a:prstGeom>
        </p:spPr>
      </p:pic>
      <p:pic>
        <p:nvPicPr>
          <p:cNvPr id="14" name="Picture 13">
            <a:extLst>
              <a:ext uri="{FF2B5EF4-FFF2-40B4-BE49-F238E27FC236}">
                <a16:creationId xmlns:a16="http://schemas.microsoft.com/office/drawing/2014/main" id="{7D8ED595-B508-42A0-A75B-F6A32DEFDEF5}"/>
              </a:ext>
            </a:extLst>
          </p:cNvPr>
          <p:cNvPicPr>
            <a:picLocks noChangeAspect="1"/>
          </p:cNvPicPr>
          <p:nvPr/>
        </p:nvPicPr>
        <p:blipFill>
          <a:blip r:embed="rId6"/>
          <a:stretch>
            <a:fillRect/>
          </a:stretch>
        </p:blipFill>
        <p:spPr>
          <a:xfrm>
            <a:off x="9327015" y="2265721"/>
            <a:ext cx="1018256" cy="410460"/>
          </a:xfrm>
          <a:prstGeom prst="rect">
            <a:avLst/>
          </a:prstGeom>
        </p:spPr>
      </p:pic>
      <p:sp>
        <p:nvSpPr>
          <p:cNvPr id="16" name="TextBox 15">
            <a:extLst>
              <a:ext uri="{FF2B5EF4-FFF2-40B4-BE49-F238E27FC236}">
                <a16:creationId xmlns:a16="http://schemas.microsoft.com/office/drawing/2014/main" id="{3C900E2A-AEFD-41EE-A17E-98AF2907C2E5}"/>
              </a:ext>
            </a:extLst>
          </p:cNvPr>
          <p:cNvSpPr txBox="1"/>
          <p:nvPr/>
        </p:nvSpPr>
        <p:spPr>
          <a:xfrm>
            <a:off x="435685" y="4144686"/>
            <a:ext cx="3895167" cy="2031325"/>
          </a:xfrm>
          <a:prstGeom prst="rect">
            <a:avLst/>
          </a:prstGeom>
          <a:solidFill>
            <a:schemeClr val="accent1">
              <a:lumMod val="20000"/>
              <a:lumOff val="80000"/>
            </a:schemeClr>
          </a:solidFill>
        </p:spPr>
        <p:txBody>
          <a:bodyPr wrap="square" rtlCol="0">
            <a:spAutoFit/>
          </a:bodyPr>
          <a:lstStyle/>
          <a:p>
            <a:r>
              <a:rPr lang="en-IN" sz="1400" b="1" dirty="0">
                <a:solidFill>
                  <a:schemeClr val="accent1">
                    <a:lumMod val="75000"/>
                  </a:schemeClr>
                </a:solidFill>
              </a:rPr>
              <a:t>Accuracy</a:t>
            </a:r>
          </a:p>
          <a:p>
            <a:r>
              <a:rPr lang="en-IN" sz="1400" dirty="0"/>
              <a:t>Used for classification models.</a:t>
            </a:r>
          </a:p>
          <a:p>
            <a:r>
              <a:rPr lang="en-IN" sz="1400" b="1" dirty="0">
                <a:solidFill>
                  <a:schemeClr val="accent6">
                    <a:lumMod val="75000"/>
                  </a:schemeClr>
                </a:solidFill>
              </a:rPr>
              <a:t>Formula:</a:t>
            </a:r>
          </a:p>
          <a:p>
            <a:endParaRPr lang="en-IN" sz="1400" b="1" dirty="0"/>
          </a:p>
          <a:p>
            <a:r>
              <a:rPr lang="en-IN" sz="1400" dirty="0"/>
              <a:t>​ Accuracy represents the percentage of correctly classified instances.</a:t>
            </a:r>
          </a:p>
          <a:p>
            <a:endParaRPr lang="en-US" sz="1400" dirty="0"/>
          </a:p>
          <a:p>
            <a:endParaRPr lang="en-US" sz="1400" dirty="0"/>
          </a:p>
          <a:p>
            <a:endParaRPr lang="en-IN" sz="1400" dirty="0"/>
          </a:p>
        </p:txBody>
      </p:sp>
      <p:sp>
        <p:nvSpPr>
          <p:cNvPr id="17" name="TextBox 16">
            <a:extLst>
              <a:ext uri="{FF2B5EF4-FFF2-40B4-BE49-F238E27FC236}">
                <a16:creationId xmlns:a16="http://schemas.microsoft.com/office/drawing/2014/main" id="{490EFD4F-DE57-4F42-9A48-70621FF1E6ED}"/>
              </a:ext>
            </a:extLst>
          </p:cNvPr>
          <p:cNvSpPr txBox="1"/>
          <p:nvPr/>
        </p:nvSpPr>
        <p:spPr>
          <a:xfrm>
            <a:off x="4469354" y="4110438"/>
            <a:ext cx="7597139" cy="2031325"/>
          </a:xfrm>
          <a:prstGeom prst="rect">
            <a:avLst/>
          </a:prstGeom>
          <a:solidFill>
            <a:schemeClr val="accent1">
              <a:lumMod val="20000"/>
              <a:lumOff val="80000"/>
            </a:schemeClr>
          </a:solidFill>
        </p:spPr>
        <p:txBody>
          <a:bodyPr wrap="square" rtlCol="0">
            <a:spAutoFit/>
          </a:bodyPr>
          <a:lstStyle/>
          <a:p>
            <a:r>
              <a:rPr lang="en-IN" sz="1400" b="1" dirty="0">
                <a:solidFill>
                  <a:schemeClr val="accent1">
                    <a:lumMod val="75000"/>
                  </a:schemeClr>
                </a:solidFill>
              </a:rPr>
              <a:t>Confusion Matrix</a:t>
            </a:r>
            <a:endParaRPr lang="en-US" sz="1400" b="1" dirty="0">
              <a:solidFill>
                <a:schemeClr val="accent1">
                  <a:lumMod val="75000"/>
                </a:schemeClr>
              </a:solidFill>
            </a:endParaRPr>
          </a:p>
          <a:p>
            <a:endParaRPr lang="en-US" sz="1400" b="1" dirty="0"/>
          </a:p>
          <a:p>
            <a:r>
              <a:rPr lang="en-US" sz="1400" b="1" dirty="0">
                <a:solidFill>
                  <a:schemeClr val="accent6">
                    <a:lumMod val="75000"/>
                  </a:schemeClr>
                </a:solidFill>
              </a:rPr>
              <a:t>Interpretation:</a:t>
            </a:r>
          </a:p>
          <a:p>
            <a:r>
              <a:rPr lang="en-US" sz="1400" b="1" dirty="0"/>
              <a:t>TP:</a:t>
            </a:r>
            <a:r>
              <a:rPr lang="en-US" sz="1400" dirty="0"/>
              <a:t> Correctly predicted positive cases. </a:t>
            </a:r>
          </a:p>
          <a:p>
            <a:r>
              <a:rPr lang="en-US" sz="1400" b="1" dirty="0"/>
              <a:t>TN:</a:t>
            </a:r>
            <a:r>
              <a:rPr lang="en-US" sz="1400" dirty="0"/>
              <a:t> Correctly predicted negative cases. </a:t>
            </a:r>
          </a:p>
          <a:p>
            <a:r>
              <a:rPr lang="en-US" sz="1400" b="1" dirty="0"/>
              <a:t>FP:</a:t>
            </a:r>
            <a:r>
              <a:rPr lang="en-US" sz="1400" dirty="0"/>
              <a:t> Incorrectly predicted positive cases. </a:t>
            </a:r>
          </a:p>
          <a:p>
            <a:r>
              <a:rPr lang="en-US" sz="1400" b="1" dirty="0"/>
              <a:t>FN:</a:t>
            </a:r>
            <a:r>
              <a:rPr lang="en-US" sz="1400" dirty="0"/>
              <a:t> Incorrectly predicted negative cases. </a:t>
            </a:r>
          </a:p>
          <a:p>
            <a:r>
              <a:rPr lang="en-US" sz="1400" dirty="0"/>
              <a:t>The confusion matrix helps identify the types of classification errors and is used to compute additional metrics such as precision, recall, and F1-score.</a:t>
            </a:r>
          </a:p>
        </p:txBody>
      </p:sp>
      <p:graphicFrame>
        <p:nvGraphicFramePr>
          <p:cNvPr id="18" name="Table 17">
            <a:extLst>
              <a:ext uri="{FF2B5EF4-FFF2-40B4-BE49-F238E27FC236}">
                <a16:creationId xmlns:a16="http://schemas.microsoft.com/office/drawing/2014/main" id="{067A11DE-0C8E-477C-BCF3-F52A0C2104F1}"/>
              </a:ext>
            </a:extLst>
          </p:cNvPr>
          <p:cNvGraphicFramePr>
            <a:graphicFrameLocks noGrp="1"/>
          </p:cNvGraphicFramePr>
          <p:nvPr>
            <p:extLst>
              <p:ext uri="{D42A27DB-BD31-4B8C-83A1-F6EECF244321}">
                <p14:modId xmlns:p14="http://schemas.microsoft.com/office/powerpoint/2010/main" val="2988953800"/>
              </p:ext>
            </p:extLst>
          </p:nvPr>
        </p:nvGraphicFramePr>
        <p:xfrm>
          <a:off x="7637929" y="4119451"/>
          <a:ext cx="4136315" cy="1474048"/>
        </p:xfrm>
        <a:graphic>
          <a:graphicData uri="http://schemas.openxmlformats.org/drawingml/2006/table">
            <a:tbl>
              <a:tblPr firstRow="1" bandRow="1">
                <a:tableStyleId>{5C22544A-7EE6-4342-B048-85BDC9FD1C3A}</a:tableStyleId>
              </a:tblPr>
              <a:tblGrid>
                <a:gridCol w="1602985">
                  <a:extLst>
                    <a:ext uri="{9D8B030D-6E8A-4147-A177-3AD203B41FA5}">
                      <a16:colId xmlns:a16="http://schemas.microsoft.com/office/drawing/2014/main" val="2555087425"/>
                    </a:ext>
                  </a:extLst>
                </a:gridCol>
                <a:gridCol w="1266665">
                  <a:extLst>
                    <a:ext uri="{9D8B030D-6E8A-4147-A177-3AD203B41FA5}">
                      <a16:colId xmlns:a16="http://schemas.microsoft.com/office/drawing/2014/main" val="298263426"/>
                    </a:ext>
                  </a:extLst>
                </a:gridCol>
                <a:gridCol w="1266665">
                  <a:extLst>
                    <a:ext uri="{9D8B030D-6E8A-4147-A177-3AD203B41FA5}">
                      <a16:colId xmlns:a16="http://schemas.microsoft.com/office/drawing/2014/main" val="4183991917"/>
                    </a:ext>
                  </a:extLst>
                </a:gridCol>
              </a:tblGrid>
              <a:tr h="508424">
                <a:tc>
                  <a:txBody>
                    <a:bodyPr/>
                    <a:lstStyle/>
                    <a:p>
                      <a:r>
                        <a:rPr lang="en-IN" sz="1200" dirty="0"/>
                        <a:t>Actual / Predicted</a:t>
                      </a:r>
                    </a:p>
                  </a:txBody>
                  <a:tcPr anchor="ctr"/>
                </a:tc>
                <a:tc>
                  <a:txBody>
                    <a:bodyPr/>
                    <a:lstStyle/>
                    <a:p>
                      <a:r>
                        <a:rPr lang="en-IN" sz="1200" dirty="0"/>
                        <a:t>Positive</a:t>
                      </a:r>
                    </a:p>
                  </a:txBody>
                  <a:tcPr anchor="ctr"/>
                </a:tc>
                <a:tc>
                  <a:txBody>
                    <a:bodyPr/>
                    <a:lstStyle/>
                    <a:p>
                      <a:r>
                        <a:rPr lang="en-IN" sz="1200" dirty="0"/>
                        <a:t>Negative</a:t>
                      </a:r>
                    </a:p>
                  </a:txBody>
                  <a:tcPr anchor="ctr"/>
                </a:tc>
                <a:extLst>
                  <a:ext uri="{0D108BD9-81ED-4DB2-BD59-A6C34878D82A}">
                    <a16:rowId xmlns:a16="http://schemas.microsoft.com/office/drawing/2014/main" val="3968126735"/>
                  </a:ext>
                </a:extLst>
              </a:tr>
              <a:tr h="508424">
                <a:tc>
                  <a:txBody>
                    <a:bodyPr/>
                    <a:lstStyle/>
                    <a:p>
                      <a:r>
                        <a:rPr lang="en-IN" sz="1200" dirty="0"/>
                        <a:t>Positive</a:t>
                      </a:r>
                    </a:p>
                  </a:txBody>
                  <a:tcPr anchor="ctr"/>
                </a:tc>
                <a:tc>
                  <a:txBody>
                    <a:bodyPr/>
                    <a:lstStyle/>
                    <a:p>
                      <a:r>
                        <a:rPr lang="en-IN" sz="1200" dirty="0"/>
                        <a:t>True Positive (TP)</a:t>
                      </a:r>
                    </a:p>
                  </a:txBody>
                  <a:tcPr anchor="ctr"/>
                </a:tc>
                <a:tc>
                  <a:txBody>
                    <a:bodyPr/>
                    <a:lstStyle/>
                    <a:p>
                      <a:r>
                        <a:rPr lang="en-IN" sz="1200" dirty="0"/>
                        <a:t>False Negative (FN)</a:t>
                      </a:r>
                    </a:p>
                  </a:txBody>
                  <a:tcPr anchor="ctr"/>
                </a:tc>
                <a:extLst>
                  <a:ext uri="{0D108BD9-81ED-4DB2-BD59-A6C34878D82A}">
                    <a16:rowId xmlns:a16="http://schemas.microsoft.com/office/drawing/2014/main" val="1356538990"/>
                  </a:ext>
                </a:extLst>
              </a:tr>
              <a:tr h="323207">
                <a:tc>
                  <a:txBody>
                    <a:bodyPr/>
                    <a:lstStyle/>
                    <a:p>
                      <a:r>
                        <a:rPr lang="en-IN" sz="1200"/>
                        <a:t>Negative</a:t>
                      </a:r>
                    </a:p>
                  </a:txBody>
                  <a:tcPr anchor="ctr"/>
                </a:tc>
                <a:tc>
                  <a:txBody>
                    <a:bodyPr/>
                    <a:lstStyle/>
                    <a:p>
                      <a:r>
                        <a:rPr lang="en-IN" sz="1200" dirty="0"/>
                        <a:t>False Positive (FP)</a:t>
                      </a:r>
                    </a:p>
                  </a:txBody>
                  <a:tcPr anchor="ctr"/>
                </a:tc>
                <a:tc>
                  <a:txBody>
                    <a:bodyPr/>
                    <a:lstStyle/>
                    <a:p>
                      <a:r>
                        <a:rPr lang="en-IN" sz="1200" dirty="0"/>
                        <a:t>True Negative (TN)</a:t>
                      </a:r>
                    </a:p>
                  </a:txBody>
                  <a:tcPr anchor="ctr"/>
                </a:tc>
                <a:extLst>
                  <a:ext uri="{0D108BD9-81ED-4DB2-BD59-A6C34878D82A}">
                    <a16:rowId xmlns:a16="http://schemas.microsoft.com/office/drawing/2014/main" val="2588996670"/>
                  </a:ext>
                </a:extLst>
              </a:tr>
            </a:tbl>
          </a:graphicData>
        </a:graphic>
      </p:graphicFrame>
      <p:pic>
        <p:nvPicPr>
          <p:cNvPr id="19" name="Picture 18">
            <a:extLst>
              <a:ext uri="{FF2B5EF4-FFF2-40B4-BE49-F238E27FC236}">
                <a16:creationId xmlns:a16="http://schemas.microsoft.com/office/drawing/2014/main" id="{FF91AD67-5B6F-4D54-8512-941780E87897}"/>
              </a:ext>
            </a:extLst>
          </p:cNvPr>
          <p:cNvPicPr>
            <a:picLocks noChangeAspect="1"/>
          </p:cNvPicPr>
          <p:nvPr/>
        </p:nvPicPr>
        <p:blipFill>
          <a:blip r:embed="rId7"/>
          <a:stretch>
            <a:fillRect/>
          </a:stretch>
        </p:blipFill>
        <p:spPr>
          <a:xfrm>
            <a:off x="1236169" y="4612248"/>
            <a:ext cx="1802866" cy="431574"/>
          </a:xfrm>
          <a:prstGeom prst="rect">
            <a:avLst/>
          </a:prstGeom>
        </p:spPr>
      </p:pic>
      <p:sp>
        <p:nvSpPr>
          <p:cNvPr id="20" name="TextBox 19">
            <a:extLst>
              <a:ext uri="{FF2B5EF4-FFF2-40B4-BE49-F238E27FC236}">
                <a16:creationId xmlns:a16="http://schemas.microsoft.com/office/drawing/2014/main" id="{845F53B9-8DDF-4087-B139-03BB8A973037}"/>
              </a:ext>
            </a:extLst>
          </p:cNvPr>
          <p:cNvSpPr txBox="1"/>
          <p:nvPr/>
        </p:nvSpPr>
        <p:spPr>
          <a:xfrm>
            <a:off x="11493298" y="6584434"/>
            <a:ext cx="470375" cy="369332"/>
          </a:xfrm>
          <a:prstGeom prst="rect">
            <a:avLst/>
          </a:prstGeom>
          <a:noFill/>
        </p:spPr>
        <p:txBody>
          <a:bodyPr wrap="square" rtlCol="0">
            <a:spAutoFit/>
          </a:bodyPr>
          <a:lstStyle/>
          <a:p>
            <a:r>
              <a:rPr lang="en-US" dirty="0">
                <a:solidFill>
                  <a:schemeClr val="bg1"/>
                </a:solidFill>
              </a:rPr>
              <a:t>10</a:t>
            </a:r>
            <a:endParaRPr lang="en-IN" dirty="0">
              <a:solidFill>
                <a:schemeClr val="bg1"/>
              </a:solidFill>
            </a:endParaRPr>
          </a:p>
        </p:txBody>
      </p:sp>
      <p:sp>
        <p:nvSpPr>
          <p:cNvPr id="21" name="Rectangle 20">
            <a:extLst>
              <a:ext uri="{FF2B5EF4-FFF2-40B4-BE49-F238E27FC236}">
                <a16:creationId xmlns:a16="http://schemas.microsoft.com/office/drawing/2014/main" id="{B53AC954-45AB-4117-9371-9B1D82F8F3D1}"/>
              </a:ext>
            </a:extLst>
          </p:cNvPr>
          <p:cNvSpPr/>
          <p:nvPr/>
        </p:nvSpPr>
        <p:spPr>
          <a:xfrm>
            <a:off x="417755" y="106189"/>
            <a:ext cx="6096000" cy="523220"/>
          </a:xfrm>
          <a:prstGeom prst="rect">
            <a:avLst/>
          </a:prstGeom>
        </p:spPr>
        <p:txBody>
          <a:bodyPr>
            <a:spAutoFit/>
          </a:bodyPr>
          <a:lstStyle/>
          <a:p>
            <a:r>
              <a:rPr lang="en-US" sz="2800" b="1" dirty="0">
                <a:solidFill>
                  <a:schemeClr val="accent1">
                    <a:lumMod val="50000"/>
                  </a:schemeClr>
                </a:solidFill>
              </a:rPr>
              <a:t>E</a:t>
            </a:r>
            <a:r>
              <a:rPr lang="en-IN" sz="2800" b="1" dirty="0">
                <a:solidFill>
                  <a:schemeClr val="accent1">
                    <a:lumMod val="50000"/>
                  </a:schemeClr>
                </a:solidFill>
              </a:rPr>
              <a:t>valuation Metrices</a:t>
            </a:r>
          </a:p>
        </p:txBody>
      </p:sp>
    </p:spTree>
    <p:extLst>
      <p:ext uri="{BB962C8B-B14F-4D97-AF65-F5344CB8AC3E}">
        <p14:creationId xmlns:p14="http://schemas.microsoft.com/office/powerpoint/2010/main" val="2358334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A400C842-16B0-491A-9B93-908D87DA235F}"/>
              </a:ext>
            </a:extLst>
          </p:cNvPr>
          <p:cNvSpPr txBox="1"/>
          <p:nvPr/>
        </p:nvSpPr>
        <p:spPr>
          <a:xfrm>
            <a:off x="435685" y="888468"/>
            <a:ext cx="11057613" cy="1200329"/>
          </a:xfrm>
          <a:prstGeom prst="rect">
            <a:avLst/>
          </a:prstGeom>
          <a:noFill/>
        </p:spPr>
        <p:txBody>
          <a:bodyPr wrap="square" rtlCol="0">
            <a:spAutoFit/>
          </a:bodyPr>
          <a:lstStyle/>
          <a:p>
            <a:r>
              <a:rPr lang="en-IN" sz="1600" b="1" dirty="0">
                <a:solidFill>
                  <a:srgbClr val="C00000"/>
                </a:solidFill>
              </a:rPr>
              <a:t>Decision Tree – Gini Impurity, Entropy, Information Gain &amp; Overfitting</a:t>
            </a:r>
          </a:p>
          <a:p>
            <a:r>
              <a:rPr lang="en-US" sz="1400" b="1" dirty="0">
                <a:solidFill>
                  <a:schemeClr val="accent1">
                    <a:lumMod val="75000"/>
                  </a:schemeClr>
                </a:solidFill>
              </a:rPr>
              <a:t>Decision Tree</a:t>
            </a:r>
          </a:p>
          <a:p>
            <a:r>
              <a:rPr lang="en-US" sz="1400" dirty="0"/>
              <a:t>A </a:t>
            </a:r>
            <a:r>
              <a:rPr lang="en-US" sz="1400" b="1" dirty="0"/>
              <a:t>Decision Tree</a:t>
            </a:r>
            <a:r>
              <a:rPr lang="en-US" sz="1400" dirty="0"/>
              <a:t> is a supervised machine learning algorithm used for both </a:t>
            </a:r>
            <a:r>
              <a:rPr lang="en-US" sz="1400" b="1" dirty="0"/>
              <a:t>classification</a:t>
            </a:r>
            <a:r>
              <a:rPr lang="en-US" sz="1400" dirty="0"/>
              <a:t> and </a:t>
            </a:r>
            <a:r>
              <a:rPr lang="en-US" sz="1400" b="1" dirty="0"/>
              <a:t>regression</a:t>
            </a:r>
            <a:r>
              <a:rPr lang="en-US" sz="1400" dirty="0"/>
              <a:t> tasks. It makes predictions by recursively splitting the dataset into smaller subsets based on feature values. Each internal node represents a decision, each branch represents an outcome, and each leaf node represents the final prediction.</a:t>
            </a:r>
          </a:p>
        </p:txBody>
      </p:sp>
      <p:sp>
        <p:nvSpPr>
          <p:cNvPr id="8" name="TextBox 7">
            <a:extLst>
              <a:ext uri="{FF2B5EF4-FFF2-40B4-BE49-F238E27FC236}">
                <a16:creationId xmlns:a16="http://schemas.microsoft.com/office/drawing/2014/main" id="{33AE064D-C647-40CA-B711-99ED06ADB1B5}"/>
              </a:ext>
            </a:extLst>
          </p:cNvPr>
          <p:cNvSpPr txBox="1"/>
          <p:nvPr/>
        </p:nvSpPr>
        <p:spPr>
          <a:xfrm>
            <a:off x="481951" y="2051069"/>
            <a:ext cx="4315609" cy="4185761"/>
          </a:xfrm>
          <a:prstGeom prst="rect">
            <a:avLst/>
          </a:prstGeom>
          <a:solidFill>
            <a:schemeClr val="bg1">
              <a:lumMod val="95000"/>
            </a:schemeClr>
          </a:solidFill>
        </p:spPr>
        <p:txBody>
          <a:bodyPr wrap="square" rtlCol="0">
            <a:spAutoFit/>
          </a:bodyPr>
          <a:lstStyle/>
          <a:p>
            <a:r>
              <a:rPr lang="en-IN" sz="1400" b="1" dirty="0">
                <a:solidFill>
                  <a:schemeClr val="accent1">
                    <a:lumMod val="75000"/>
                  </a:schemeClr>
                </a:solidFill>
              </a:rPr>
              <a:t>Gini Impurity</a:t>
            </a:r>
          </a:p>
          <a:p>
            <a:r>
              <a:rPr lang="en-IN" sz="1400" dirty="0"/>
              <a:t>Gini Impurity measures the probability of incorrectly classifying a randomly selected sample if it were </a:t>
            </a:r>
            <a:r>
              <a:rPr lang="en-IN" sz="1400" dirty="0" err="1"/>
              <a:t>labeled</a:t>
            </a:r>
            <a:r>
              <a:rPr lang="en-IN" sz="1400" dirty="0"/>
              <a:t> according to the class distribution in a node.</a:t>
            </a:r>
          </a:p>
          <a:p>
            <a:r>
              <a:rPr lang="en-IN" sz="1400" b="1" dirty="0">
                <a:solidFill>
                  <a:schemeClr val="accent6">
                    <a:lumMod val="75000"/>
                  </a:schemeClr>
                </a:solidFill>
              </a:rPr>
              <a:t>Formula:</a:t>
            </a:r>
          </a:p>
          <a:p>
            <a:endParaRPr lang="en-US" sz="1400" dirty="0"/>
          </a:p>
          <a:p>
            <a:r>
              <a:rPr lang="en-US" sz="1400" dirty="0"/>
              <a:t>Where:- pi= Probability of class </a:t>
            </a:r>
            <a:r>
              <a:rPr lang="en-US" sz="1400" dirty="0" err="1"/>
              <a:t>i</a:t>
            </a:r>
            <a:r>
              <a:rPr lang="en-US" sz="1400" dirty="0"/>
              <a:t>.</a:t>
            </a:r>
          </a:p>
          <a:p>
            <a:r>
              <a:rPr lang="en-IN" sz="1400" dirty="0"/>
              <a:t>              -Lower Gini value indicates a </a:t>
            </a:r>
            <a:r>
              <a:rPr lang="en-IN" sz="1400" b="1" dirty="0"/>
              <a:t>purer node</a:t>
            </a:r>
            <a:r>
              <a:rPr lang="en-IN" sz="1400" dirty="0"/>
              <a:t>. </a:t>
            </a:r>
          </a:p>
          <a:p>
            <a:r>
              <a:rPr lang="en-IN" sz="1400" b="1" dirty="0"/>
              <a:t>              -Gini = 0</a:t>
            </a:r>
            <a:r>
              <a:rPr lang="en-IN" sz="1400" dirty="0"/>
              <a:t> means all samples belong to one class          (perfect purity). </a:t>
            </a:r>
          </a:p>
          <a:p>
            <a:endParaRPr lang="en-IN" sz="1400" b="1" dirty="0">
              <a:solidFill>
                <a:schemeClr val="accent6">
                  <a:lumMod val="75000"/>
                </a:schemeClr>
              </a:solidFill>
            </a:endParaRPr>
          </a:p>
          <a:p>
            <a:r>
              <a:rPr lang="en-IN" sz="1400" b="1" dirty="0">
                <a:solidFill>
                  <a:schemeClr val="accent6">
                    <a:lumMod val="75000"/>
                  </a:schemeClr>
                </a:solidFill>
              </a:rPr>
              <a:t>Example:</a:t>
            </a:r>
          </a:p>
          <a:p>
            <a:r>
              <a:rPr lang="en-IN" sz="1400" dirty="0"/>
              <a:t>If a node contains:</a:t>
            </a:r>
          </a:p>
          <a:p>
            <a:pPr marL="285750" indent="-285750">
              <a:buFont typeface="Arial" panose="020B0604020202020204" pitchFamily="34" charset="0"/>
              <a:buChar char="•"/>
            </a:pPr>
            <a:r>
              <a:rPr lang="en-IN" sz="1400" dirty="0"/>
              <a:t>80% Positive </a:t>
            </a:r>
          </a:p>
          <a:p>
            <a:pPr marL="285750" indent="-285750">
              <a:buFont typeface="Arial" panose="020B0604020202020204" pitchFamily="34" charset="0"/>
              <a:buChar char="•"/>
            </a:pPr>
            <a:r>
              <a:rPr lang="en-IN" sz="1400" dirty="0"/>
              <a:t>20% Negative </a:t>
            </a:r>
          </a:p>
          <a:p>
            <a:endParaRPr lang="en-IN" sz="1400" dirty="0"/>
          </a:p>
          <a:p>
            <a:endParaRPr lang="en-US" sz="1400" i="1" dirty="0"/>
          </a:p>
          <a:p>
            <a:r>
              <a:rPr lang="en-US" sz="1400" i="1" dirty="0"/>
              <a:t>A lower impurity means a better split.</a:t>
            </a:r>
          </a:p>
          <a:p>
            <a:endParaRPr lang="en-IN" sz="1400" dirty="0"/>
          </a:p>
        </p:txBody>
      </p:sp>
      <p:sp>
        <p:nvSpPr>
          <p:cNvPr id="18" name="TextBox 17">
            <a:extLst>
              <a:ext uri="{FF2B5EF4-FFF2-40B4-BE49-F238E27FC236}">
                <a16:creationId xmlns:a16="http://schemas.microsoft.com/office/drawing/2014/main" id="{A9AB8DF1-D34D-4838-9E8B-332ABAADAFA4}"/>
              </a:ext>
            </a:extLst>
          </p:cNvPr>
          <p:cNvSpPr txBox="1"/>
          <p:nvPr/>
        </p:nvSpPr>
        <p:spPr>
          <a:xfrm>
            <a:off x="4939554" y="1993724"/>
            <a:ext cx="3379694" cy="2677656"/>
          </a:xfrm>
          <a:prstGeom prst="rect">
            <a:avLst/>
          </a:prstGeom>
          <a:solidFill>
            <a:schemeClr val="bg1">
              <a:lumMod val="95000"/>
            </a:schemeClr>
          </a:solidFill>
        </p:spPr>
        <p:txBody>
          <a:bodyPr wrap="square" rtlCol="0">
            <a:spAutoFit/>
          </a:bodyPr>
          <a:lstStyle/>
          <a:p>
            <a:r>
              <a:rPr lang="en-IN" sz="1400" b="1" dirty="0">
                <a:solidFill>
                  <a:schemeClr val="accent1">
                    <a:lumMod val="75000"/>
                  </a:schemeClr>
                </a:solidFill>
              </a:rPr>
              <a:t>Entropy</a:t>
            </a:r>
          </a:p>
          <a:p>
            <a:r>
              <a:rPr lang="en-IN" sz="1400" dirty="0"/>
              <a:t>Entropy measures the uncertainty or disorder in a dataset. It is based on Information Theory.</a:t>
            </a:r>
          </a:p>
          <a:p>
            <a:r>
              <a:rPr lang="en-IN" sz="1400" b="1" dirty="0">
                <a:solidFill>
                  <a:schemeClr val="accent6">
                    <a:lumMod val="75000"/>
                  </a:schemeClr>
                </a:solidFill>
              </a:rPr>
              <a:t>Formula:</a:t>
            </a:r>
          </a:p>
          <a:p>
            <a:r>
              <a:rPr lang="en-IN" sz="1400" b="1" dirty="0">
                <a:solidFill>
                  <a:schemeClr val="accent6">
                    <a:lumMod val="75000"/>
                  </a:schemeClr>
                </a:solidFill>
              </a:rPr>
              <a:t>Interpretation:</a:t>
            </a:r>
          </a:p>
          <a:p>
            <a:pPr marL="285750" indent="-285750">
              <a:buFont typeface="Arial" panose="020B0604020202020204" pitchFamily="34" charset="0"/>
              <a:buChar char="•"/>
            </a:pPr>
            <a:r>
              <a:rPr lang="en-IN" sz="1400" b="1" dirty="0"/>
              <a:t>Entropy = 0</a:t>
            </a:r>
            <a:r>
              <a:rPr lang="en-IN" sz="1400" dirty="0"/>
              <a:t> → Pure node (all samples belong to one class). </a:t>
            </a:r>
          </a:p>
          <a:p>
            <a:pPr marL="285750" indent="-285750">
              <a:buFont typeface="Arial" panose="020B0604020202020204" pitchFamily="34" charset="0"/>
              <a:buChar char="•"/>
            </a:pPr>
            <a:r>
              <a:rPr lang="en-IN" sz="1400" dirty="0"/>
              <a:t>Higher entropy → Greater randomness and uncertainty. </a:t>
            </a:r>
          </a:p>
          <a:p>
            <a:pPr marL="285750" indent="-285750">
              <a:buFont typeface="Arial" panose="020B0604020202020204" pitchFamily="34" charset="0"/>
              <a:buChar char="•"/>
            </a:pPr>
            <a:r>
              <a:rPr lang="en-IN" sz="1400" dirty="0"/>
              <a:t>Decision Trees aim to reduce entropy after each split.</a:t>
            </a:r>
          </a:p>
        </p:txBody>
      </p:sp>
      <p:sp>
        <p:nvSpPr>
          <p:cNvPr id="19" name="TextBox 18">
            <a:extLst>
              <a:ext uri="{FF2B5EF4-FFF2-40B4-BE49-F238E27FC236}">
                <a16:creationId xmlns:a16="http://schemas.microsoft.com/office/drawing/2014/main" id="{29A601F6-EE32-4E76-AF66-26A62161C0C6}"/>
              </a:ext>
            </a:extLst>
          </p:cNvPr>
          <p:cNvSpPr txBox="1"/>
          <p:nvPr/>
        </p:nvSpPr>
        <p:spPr>
          <a:xfrm>
            <a:off x="8451300" y="1993724"/>
            <a:ext cx="3182471" cy="4185761"/>
          </a:xfrm>
          <a:prstGeom prst="rect">
            <a:avLst/>
          </a:prstGeom>
          <a:solidFill>
            <a:schemeClr val="bg1">
              <a:lumMod val="95000"/>
            </a:schemeClr>
          </a:solidFill>
        </p:spPr>
        <p:txBody>
          <a:bodyPr wrap="square" rtlCol="0">
            <a:spAutoFit/>
          </a:bodyPr>
          <a:lstStyle/>
          <a:p>
            <a:r>
              <a:rPr lang="en-US" sz="1400" b="1" dirty="0">
                <a:solidFill>
                  <a:schemeClr val="accent1">
                    <a:lumMod val="75000"/>
                  </a:schemeClr>
                </a:solidFill>
              </a:rPr>
              <a:t>Information Gain</a:t>
            </a:r>
          </a:p>
          <a:p>
            <a:r>
              <a:rPr lang="en-US" sz="1400" dirty="0"/>
              <a:t>Information Gain measures how much uncertainty is reduced after splitting the dataset using a particular feature.</a:t>
            </a:r>
          </a:p>
          <a:p>
            <a:r>
              <a:rPr lang="en-US" sz="1400" b="1" dirty="0">
                <a:solidFill>
                  <a:schemeClr val="accent6">
                    <a:lumMod val="75000"/>
                  </a:schemeClr>
                </a:solidFill>
              </a:rPr>
              <a:t>Formula:</a:t>
            </a:r>
          </a:p>
          <a:p>
            <a:endParaRPr lang="en-US" sz="1400" b="1" dirty="0"/>
          </a:p>
          <a:p>
            <a:r>
              <a:rPr lang="en-US" sz="1400" b="1" dirty="0">
                <a:solidFill>
                  <a:schemeClr val="accent6">
                    <a:lumMod val="75000"/>
                  </a:schemeClr>
                </a:solidFill>
              </a:rPr>
              <a:t>Key Points:</a:t>
            </a:r>
          </a:p>
          <a:p>
            <a:r>
              <a:rPr lang="en-US" sz="1400" dirty="0"/>
              <a:t>Higher Information Gain indicates a better feature for splitting. </a:t>
            </a:r>
          </a:p>
          <a:p>
            <a:r>
              <a:rPr lang="en-US" sz="1400" dirty="0"/>
              <a:t>The feature with the highest Information Gain is selected as the splitting criterion. </a:t>
            </a:r>
          </a:p>
          <a:p>
            <a:endParaRPr lang="en-US" sz="1400" b="1" dirty="0">
              <a:solidFill>
                <a:schemeClr val="accent4">
                  <a:lumMod val="75000"/>
                </a:schemeClr>
              </a:solidFill>
            </a:endParaRPr>
          </a:p>
          <a:p>
            <a:r>
              <a:rPr lang="en-US" sz="1400" b="1" dirty="0">
                <a:solidFill>
                  <a:schemeClr val="accent4">
                    <a:lumMod val="75000"/>
                  </a:schemeClr>
                </a:solidFill>
              </a:rPr>
              <a:t>Diagram to Insert:</a:t>
            </a:r>
          </a:p>
          <a:p>
            <a:pPr marL="285750" indent="-285750">
              <a:buFont typeface="Arial" panose="020B0604020202020204" pitchFamily="34" charset="0"/>
              <a:buChar char="•"/>
            </a:pPr>
            <a:r>
              <a:rPr lang="en-US" sz="1400" dirty="0"/>
              <a:t>A Decision Tree illustrating root node, internal nodes, branches, and leaf nodes. </a:t>
            </a:r>
          </a:p>
          <a:p>
            <a:pPr marL="285750" indent="-285750">
              <a:buFont typeface="Arial" panose="020B0604020202020204" pitchFamily="34" charset="0"/>
              <a:buChar char="•"/>
            </a:pPr>
            <a:r>
              <a:rPr lang="en-US" sz="1400" dirty="0"/>
              <a:t>A comparison chart showing </a:t>
            </a:r>
            <a:r>
              <a:rPr lang="en-US" sz="1400" b="1" dirty="0"/>
              <a:t>High Gini vs Low Gini</a:t>
            </a:r>
            <a:r>
              <a:rPr lang="en-US" sz="1400" dirty="0"/>
              <a:t> and </a:t>
            </a:r>
            <a:r>
              <a:rPr lang="en-US" sz="1400" b="1" dirty="0"/>
              <a:t>High Entropy vs Low Entropy</a:t>
            </a:r>
            <a:r>
              <a:rPr lang="en-US" sz="1400" dirty="0"/>
              <a:t>.</a:t>
            </a:r>
          </a:p>
        </p:txBody>
      </p:sp>
      <p:sp>
        <p:nvSpPr>
          <p:cNvPr id="22" name="TextBox 21">
            <a:extLst>
              <a:ext uri="{FF2B5EF4-FFF2-40B4-BE49-F238E27FC236}">
                <a16:creationId xmlns:a16="http://schemas.microsoft.com/office/drawing/2014/main" id="{0AE1C7D0-FA3A-4156-9D97-CF1E90431B6B}"/>
              </a:ext>
            </a:extLst>
          </p:cNvPr>
          <p:cNvSpPr txBox="1"/>
          <p:nvPr/>
        </p:nvSpPr>
        <p:spPr>
          <a:xfrm>
            <a:off x="4939554" y="4715715"/>
            <a:ext cx="3379694" cy="1600438"/>
          </a:xfrm>
          <a:prstGeom prst="rect">
            <a:avLst/>
          </a:prstGeom>
          <a:solidFill>
            <a:schemeClr val="bg1">
              <a:lumMod val="95000"/>
            </a:schemeClr>
          </a:solidFill>
        </p:spPr>
        <p:txBody>
          <a:bodyPr wrap="square" rtlCol="0">
            <a:spAutoFit/>
          </a:bodyPr>
          <a:lstStyle/>
          <a:p>
            <a:r>
              <a:rPr lang="en-US" sz="1400" b="1" dirty="0">
                <a:solidFill>
                  <a:schemeClr val="accent1">
                    <a:lumMod val="75000"/>
                  </a:schemeClr>
                </a:solidFill>
              </a:rPr>
              <a:t>Overfitting in Decision Trees</a:t>
            </a:r>
          </a:p>
          <a:p>
            <a:r>
              <a:rPr lang="en-US" sz="1400" dirty="0"/>
              <a:t>Overfitting occurs when a Decision Tree learns not only the underlying patterns but also the noise in the training data. As a result, it performs exceptionally well on training data but poorly on unseen test data.</a:t>
            </a:r>
          </a:p>
        </p:txBody>
      </p:sp>
      <p:pic>
        <p:nvPicPr>
          <p:cNvPr id="23" name="Picture 22">
            <a:extLst>
              <a:ext uri="{FF2B5EF4-FFF2-40B4-BE49-F238E27FC236}">
                <a16:creationId xmlns:a16="http://schemas.microsoft.com/office/drawing/2014/main" id="{096897B8-3AE8-435C-A8DB-3A510232AD0F}"/>
              </a:ext>
            </a:extLst>
          </p:cNvPr>
          <p:cNvPicPr>
            <a:picLocks noChangeAspect="1"/>
          </p:cNvPicPr>
          <p:nvPr/>
        </p:nvPicPr>
        <p:blipFill>
          <a:blip r:embed="rId4"/>
          <a:stretch>
            <a:fillRect/>
          </a:stretch>
        </p:blipFill>
        <p:spPr>
          <a:xfrm>
            <a:off x="1295304" y="2940290"/>
            <a:ext cx="1098272" cy="457614"/>
          </a:xfrm>
          <a:prstGeom prst="rect">
            <a:avLst/>
          </a:prstGeom>
        </p:spPr>
      </p:pic>
      <p:pic>
        <p:nvPicPr>
          <p:cNvPr id="24" name="Picture 23">
            <a:extLst>
              <a:ext uri="{FF2B5EF4-FFF2-40B4-BE49-F238E27FC236}">
                <a16:creationId xmlns:a16="http://schemas.microsoft.com/office/drawing/2014/main" id="{A3595D97-9800-4156-B7A5-3FDDA59EB382}"/>
              </a:ext>
            </a:extLst>
          </p:cNvPr>
          <p:cNvPicPr>
            <a:picLocks noChangeAspect="1"/>
          </p:cNvPicPr>
          <p:nvPr/>
        </p:nvPicPr>
        <p:blipFill>
          <a:blip r:embed="rId5"/>
          <a:stretch>
            <a:fillRect/>
          </a:stretch>
        </p:blipFill>
        <p:spPr>
          <a:xfrm>
            <a:off x="1198021" y="5327449"/>
            <a:ext cx="2391109" cy="304843"/>
          </a:xfrm>
          <a:prstGeom prst="rect">
            <a:avLst/>
          </a:prstGeom>
        </p:spPr>
      </p:pic>
      <p:sp>
        <p:nvSpPr>
          <p:cNvPr id="25" name="Text 1">
            <a:extLst>
              <a:ext uri="{FF2B5EF4-FFF2-40B4-BE49-F238E27FC236}">
                <a16:creationId xmlns:a16="http://schemas.microsoft.com/office/drawing/2014/main" id="{0DC21BC7-B0C6-4F0F-BADB-84927222E35B}"/>
              </a:ext>
            </a:extLst>
          </p:cNvPr>
          <p:cNvSpPr/>
          <p:nvPr/>
        </p:nvSpPr>
        <p:spPr>
          <a:xfrm>
            <a:off x="481951" y="-70267"/>
            <a:ext cx="11338560" cy="914400"/>
          </a:xfrm>
          <a:prstGeom prst="rect">
            <a:avLst/>
          </a:prstGeom>
          <a:noFill/>
          <a:ln/>
        </p:spPr>
        <p:txBody>
          <a:bodyPr wrap="square" rtlCol="0" anchor="ctr"/>
          <a:lstStyle/>
          <a:p>
            <a:endParaRPr lang="en-US" sz="2800" dirty="0">
              <a:solidFill>
                <a:srgbClr val="002060"/>
              </a:solidFill>
            </a:endParaRPr>
          </a:p>
        </p:txBody>
      </p:sp>
      <p:sp>
        <p:nvSpPr>
          <p:cNvPr id="26" name="Rectangle 25">
            <a:extLst>
              <a:ext uri="{FF2B5EF4-FFF2-40B4-BE49-F238E27FC236}">
                <a16:creationId xmlns:a16="http://schemas.microsoft.com/office/drawing/2014/main" id="{EA501F95-204B-46DE-8C57-059861357F2E}"/>
              </a:ext>
            </a:extLst>
          </p:cNvPr>
          <p:cNvSpPr/>
          <p:nvPr/>
        </p:nvSpPr>
        <p:spPr>
          <a:xfrm>
            <a:off x="481951" y="166005"/>
            <a:ext cx="10639857" cy="461665"/>
          </a:xfrm>
          <a:prstGeom prst="rect">
            <a:avLst/>
          </a:prstGeom>
        </p:spPr>
        <p:txBody>
          <a:bodyPr wrap="square">
            <a:spAutoFit/>
          </a:bodyPr>
          <a:lstStyle/>
          <a:p>
            <a:r>
              <a:rPr lang="en-IN" sz="2400" b="1" dirty="0">
                <a:solidFill>
                  <a:schemeClr val="accent1">
                    <a:lumMod val="50000"/>
                  </a:schemeClr>
                </a:solidFill>
              </a:rPr>
              <a:t>Decision Tree – Gini Impurity, Entropy, Information Gain &amp; Overfitting</a:t>
            </a:r>
          </a:p>
        </p:txBody>
      </p:sp>
    </p:spTree>
    <p:extLst>
      <p:ext uri="{BB962C8B-B14F-4D97-AF65-F5344CB8AC3E}">
        <p14:creationId xmlns:p14="http://schemas.microsoft.com/office/powerpoint/2010/main" val="2437599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a:solidFill>
                  <a:schemeClr val="bg1"/>
                </a:solidFill>
              </a:rPr>
              <a:t>10</a:t>
            </a:r>
            <a:endParaRPr lang="en-IN" sz="2400" dirty="0">
              <a:solidFill>
                <a:schemeClr val="bg1"/>
              </a:solidFill>
            </a:endParaRPr>
          </a:p>
        </p:txBody>
      </p:sp>
      <p:sp>
        <p:nvSpPr>
          <p:cNvPr id="6" name="Text 1">
            <a:extLst>
              <a:ext uri="{FF2B5EF4-FFF2-40B4-BE49-F238E27FC236}">
                <a16:creationId xmlns:a16="http://schemas.microsoft.com/office/drawing/2014/main" id="{4BEB3655-4959-4283-BBCE-3F68CEC4998C}"/>
              </a:ext>
            </a:extLst>
          </p:cNvPr>
          <p:cNvSpPr/>
          <p:nvPr/>
        </p:nvSpPr>
        <p:spPr>
          <a:xfrm>
            <a:off x="314164" y="150507"/>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F1C8E6AA-DFF0-4608-A5E9-2017162008E2}"/>
              </a:ext>
            </a:extLst>
          </p:cNvPr>
          <p:cNvSpPr txBox="1"/>
          <p:nvPr/>
        </p:nvSpPr>
        <p:spPr>
          <a:xfrm>
            <a:off x="435685" y="996748"/>
            <a:ext cx="11095519" cy="584775"/>
          </a:xfrm>
          <a:prstGeom prst="rect">
            <a:avLst/>
          </a:prstGeom>
          <a:noFill/>
        </p:spPr>
        <p:txBody>
          <a:bodyPr wrap="square" rtlCol="0">
            <a:spAutoFit/>
          </a:bodyPr>
          <a:lstStyle/>
          <a:p>
            <a:r>
              <a:rPr lang="en-US" sz="1600" b="1" dirty="0">
                <a:solidFill>
                  <a:schemeClr val="accent1">
                    <a:lumMod val="75000"/>
                  </a:schemeClr>
                </a:solidFill>
              </a:rPr>
              <a:t>Tree Pruning</a:t>
            </a:r>
          </a:p>
          <a:p>
            <a:r>
              <a:rPr lang="en-US" sz="1600" dirty="0"/>
              <a:t>Tree pruning removes unnecessary branches to simplify the model and improve its ability to generalize.</a:t>
            </a:r>
          </a:p>
        </p:txBody>
      </p:sp>
      <p:sp>
        <p:nvSpPr>
          <p:cNvPr id="11" name="Rectangle 2">
            <a:extLst>
              <a:ext uri="{FF2B5EF4-FFF2-40B4-BE49-F238E27FC236}">
                <a16:creationId xmlns:a16="http://schemas.microsoft.com/office/drawing/2014/main" id="{BE7A28A3-1F91-47EF-BBEB-A3C564E97F9A}"/>
              </a:ext>
            </a:extLst>
          </p:cNvPr>
          <p:cNvSpPr>
            <a:spLocks noChangeArrowheads="1"/>
          </p:cNvSpPr>
          <p:nvPr/>
        </p:nvSpPr>
        <p:spPr bwMode="auto">
          <a:xfrm>
            <a:off x="0" y="809409"/>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3" name="TextBox 12">
            <a:extLst>
              <a:ext uri="{FF2B5EF4-FFF2-40B4-BE49-F238E27FC236}">
                <a16:creationId xmlns:a16="http://schemas.microsoft.com/office/drawing/2014/main" id="{827A6FDA-3B71-4515-8A1B-02B2E8B5EEDD}"/>
              </a:ext>
            </a:extLst>
          </p:cNvPr>
          <p:cNvSpPr txBox="1"/>
          <p:nvPr/>
        </p:nvSpPr>
        <p:spPr>
          <a:xfrm>
            <a:off x="435685" y="1581523"/>
            <a:ext cx="4028739" cy="4893647"/>
          </a:xfrm>
          <a:prstGeom prst="rect">
            <a:avLst/>
          </a:prstGeom>
          <a:solidFill>
            <a:schemeClr val="bg1">
              <a:lumMod val="95000"/>
            </a:schemeClr>
          </a:solidFill>
        </p:spPr>
        <p:txBody>
          <a:bodyPr wrap="square" rtlCol="0">
            <a:spAutoFit/>
          </a:bodyPr>
          <a:lstStyle/>
          <a:p>
            <a:r>
              <a:rPr lang="en-US" sz="1400" b="1" dirty="0">
                <a:solidFill>
                  <a:srgbClr val="C00000"/>
                </a:solidFill>
              </a:rPr>
              <a:t>Random Forest</a:t>
            </a:r>
          </a:p>
          <a:p>
            <a:r>
              <a:rPr lang="en-US" sz="1400" dirty="0"/>
              <a:t>Random Forest is an </a:t>
            </a:r>
            <a:r>
              <a:rPr lang="en-US" sz="1400" b="1" dirty="0"/>
              <a:t>ensemble learning algorithm</a:t>
            </a:r>
            <a:r>
              <a:rPr lang="en-US" sz="1400" dirty="0"/>
              <a:t> that combines multiple Decision Trees to improve prediction accuracy and reduce overfitting. Instead of relying on a single tree, it aggregates predictions from many trees.</a:t>
            </a:r>
          </a:p>
          <a:p>
            <a:r>
              <a:rPr lang="en-US" sz="1400" b="1" dirty="0">
                <a:solidFill>
                  <a:schemeClr val="accent1">
                    <a:lumMod val="75000"/>
                  </a:schemeClr>
                </a:solidFill>
              </a:rPr>
              <a:t>Bagging (Bootstrap Aggregating)</a:t>
            </a:r>
          </a:p>
          <a:p>
            <a:r>
              <a:rPr lang="en-US" sz="1400" dirty="0"/>
              <a:t>Bagging is the technique used by Random Forest to build multiple Decision Trees.</a:t>
            </a:r>
          </a:p>
          <a:p>
            <a:r>
              <a:rPr lang="en-US" sz="1400" b="1" dirty="0">
                <a:solidFill>
                  <a:schemeClr val="accent6">
                    <a:lumMod val="75000"/>
                  </a:schemeClr>
                </a:solidFill>
              </a:rPr>
              <a:t>Working Process</a:t>
            </a:r>
          </a:p>
          <a:p>
            <a:pPr marL="342900" indent="-342900">
              <a:buFont typeface="+mj-lt"/>
              <a:buAutoNum type="arabicPeriod"/>
            </a:pPr>
            <a:r>
              <a:rPr lang="en-US" sz="1400" dirty="0"/>
              <a:t>Create multiple bootstrap samples from the original dataset using random sampling with replacement. </a:t>
            </a:r>
          </a:p>
          <a:p>
            <a:pPr marL="342900" indent="-342900">
              <a:buFont typeface="+mj-lt"/>
              <a:buAutoNum type="arabicPeriod"/>
            </a:pPr>
            <a:r>
              <a:rPr lang="en-US" sz="1400" dirty="0"/>
              <a:t>Train one Decision Tree on each bootstrap sample. </a:t>
            </a:r>
          </a:p>
          <a:p>
            <a:pPr marL="342900" indent="-342900">
              <a:buFont typeface="+mj-lt"/>
              <a:buAutoNum type="arabicPeriod"/>
            </a:pPr>
            <a:r>
              <a:rPr lang="en-US" sz="1400" dirty="0"/>
              <a:t>Each tree makes its own prediction independently. </a:t>
            </a:r>
          </a:p>
          <a:p>
            <a:pPr marL="342900" indent="-342900">
              <a:buFont typeface="+mj-lt"/>
              <a:buAutoNum type="arabicPeriod"/>
            </a:pPr>
            <a:r>
              <a:rPr lang="en-US" sz="1400" dirty="0"/>
              <a:t>Combine the predictions: </a:t>
            </a:r>
          </a:p>
          <a:p>
            <a:pPr marL="742950" lvl="1" indent="-285750">
              <a:buFont typeface="Arial" panose="020B0604020202020204" pitchFamily="34" charset="0"/>
              <a:buChar char="•"/>
            </a:pPr>
            <a:r>
              <a:rPr lang="en-US" sz="1400" b="1" dirty="0"/>
              <a:t>Classification:</a:t>
            </a:r>
            <a:r>
              <a:rPr lang="en-US" sz="1400" dirty="0"/>
              <a:t> Majority voting. </a:t>
            </a:r>
          </a:p>
          <a:p>
            <a:pPr marL="742950" lvl="1" indent="-285750">
              <a:buFont typeface="Arial" panose="020B0604020202020204" pitchFamily="34" charset="0"/>
              <a:buChar char="•"/>
            </a:pPr>
            <a:r>
              <a:rPr lang="en-US" sz="1400" b="1" dirty="0"/>
              <a:t>Regression:</a:t>
            </a:r>
            <a:r>
              <a:rPr lang="en-US" sz="1400" dirty="0"/>
              <a:t> Average of all predictions.</a:t>
            </a:r>
          </a:p>
          <a:p>
            <a:endParaRPr lang="en-US" sz="1400" dirty="0"/>
          </a:p>
          <a:p>
            <a:endParaRPr lang="en-IN" dirty="0"/>
          </a:p>
        </p:txBody>
      </p:sp>
      <p:sp>
        <p:nvSpPr>
          <p:cNvPr id="14" name="TextBox 13">
            <a:extLst>
              <a:ext uri="{FF2B5EF4-FFF2-40B4-BE49-F238E27FC236}">
                <a16:creationId xmlns:a16="http://schemas.microsoft.com/office/drawing/2014/main" id="{E65C7F73-2AC4-43A4-9BD5-752FE4ACD21A}"/>
              </a:ext>
            </a:extLst>
          </p:cNvPr>
          <p:cNvSpPr txBox="1"/>
          <p:nvPr/>
        </p:nvSpPr>
        <p:spPr>
          <a:xfrm>
            <a:off x="4520996" y="1533417"/>
            <a:ext cx="3366247" cy="5047536"/>
          </a:xfrm>
          <a:prstGeom prst="rect">
            <a:avLst/>
          </a:prstGeom>
          <a:solidFill>
            <a:schemeClr val="bg1">
              <a:lumMod val="95000"/>
            </a:schemeClr>
          </a:solidFill>
        </p:spPr>
        <p:txBody>
          <a:bodyPr wrap="square" rtlCol="0">
            <a:spAutoFit/>
          </a:bodyPr>
          <a:lstStyle/>
          <a:p>
            <a:r>
              <a:rPr lang="en-US" sz="1400" b="1" dirty="0">
                <a:solidFill>
                  <a:srgbClr val="C00000"/>
                </a:solidFill>
              </a:rPr>
              <a:t>Feature Importance Scores</a:t>
            </a:r>
          </a:p>
          <a:p>
            <a:r>
              <a:rPr lang="en-US" sz="1400" dirty="0"/>
              <a:t>Feature Importance measures how much each input feature contributes to the model's predictions. In Random Forest, it is calculated based on how much each feature reduces impurity (Gini or Entropy) across all trees.</a:t>
            </a:r>
          </a:p>
          <a:p>
            <a:r>
              <a:rPr lang="en-IN" sz="1400" b="1" dirty="0">
                <a:solidFill>
                  <a:schemeClr val="accent6">
                    <a:lumMod val="75000"/>
                  </a:schemeClr>
                </a:solidFill>
              </a:rPr>
              <a:t>Example:</a:t>
            </a: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endParaRPr lang="en-US" sz="1400" b="1" dirty="0">
              <a:solidFill>
                <a:schemeClr val="accent6">
                  <a:lumMod val="75000"/>
                </a:schemeClr>
              </a:solidFill>
            </a:endParaRPr>
          </a:p>
          <a:p>
            <a:r>
              <a:rPr lang="en-US" sz="1400" b="1" dirty="0">
                <a:solidFill>
                  <a:schemeClr val="accent6">
                    <a:lumMod val="75000"/>
                  </a:schemeClr>
                </a:solidFill>
              </a:rPr>
              <a:t>Interpretation</a:t>
            </a:r>
          </a:p>
          <a:p>
            <a:r>
              <a:rPr lang="en-US" sz="1400" dirty="0"/>
              <a:t>Features with higher scores have a greater influence on predictions. </a:t>
            </a:r>
          </a:p>
          <a:p>
            <a:r>
              <a:rPr lang="en-US" sz="1400" dirty="0"/>
              <a:t>Features with very low importance may be removed during feature selection to simplify the model.</a:t>
            </a:r>
          </a:p>
        </p:txBody>
      </p:sp>
      <p:graphicFrame>
        <p:nvGraphicFramePr>
          <p:cNvPr id="15" name="Table 14">
            <a:extLst>
              <a:ext uri="{FF2B5EF4-FFF2-40B4-BE49-F238E27FC236}">
                <a16:creationId xmlns:a16="http://schemas.microsoft.com/office/drawing/2014/main" id="{38554477-CEAB-45F1-B974-5026699C0636}"/>
              </a:ext>
            </a:extLst>
          </p:cNvPr>
          <p:cNvGraphicFramePr>
            <a:graphicFrameLocks noGrp="1"/>
          </p:cNvGraphicFramePr>
          <p:nvPr>
            <p:extLst>
              <p:ext uri="{D42A27DB-BD31-4B8C-83A1-F6EECF244321}">
                <p14:modId xmlns:p14="http://schemas.microsoft.com/office/powerpoint/2010/main" val="1794702906"/>
              </p:ext>
            </p:extLst>
          </p:nvPr>
        </p:nvGraphicFramePr>
        <p:xfrm>
          <a:off x="4550335" y="3371374"/>
          <a:ext cx="3194424" cy="1835275"/>
        </p:xfrm>
        <a:graphic>
          <a:graphicData uri="http://schemas.openxmlformats.org/drawingml/2006/table">
            <a:tbl>
              <a:tblPr firstRow="1" bandRow="1">
                <a:tableStyleId>{5C22544A-7EE6-4342-B048-85BDC9FD1C3A}</a:tableStyleId>
              </a:tblPr>
              <a:tblGrid>
                <a:gridCol w="1597212">
                  <a:extLst>
                    <a:ext uri="{9D8B030D-6E8A-4147-A177-3AD203B41FA5}">
                      <a16:colId xmlns:a16="http://schemas.microsoft.com/office/drawing/2014/main" val="2290723953"/>
                    </a:ext>
                  </a:extLst>
                </a:gridCol>
                <a:gridCol w="1597212">
                  <a:extLst>
                    <a:ext uri="{9D8B030D-6E8A-4147-A177-3AD203B41FA5}">
                      <a16:colId xmlns:a16="http://schemas.microsoft.com/office/drawing/2014/main" val="2223690117"/>
                    </a:ext>
                  </a:extLst>
                </a:gridCol>
              </a:tblGrid>
              <a:tr h="367055">
                <a:tc>
                  <a:txBody>
                    <a:bodyPr/>
                    <a:lstStyle/>
                    <a:p>
                      <a:r>
                        <a:rPr lang="en-IN" sz="1400" dirty="0"/>
                        <a:t>Feature</a:t>
                      </a:r>
                    </a:p>
                  </a:txBody>
                  <a:tcPr anchor="ctr"/>
                </a:tc>
                <a:tc>
                  <a:txBody>
                    <a:bodyPr/>
                    <a:lstStyle/>
                    <a:p>
                      <a:pPr algn="r"/>
                      <a:r>
                        <a:rPr lang="en-IN" sz="1400"/>
                        <a:t>Importance Score</a:t>
                      </a:r>
                    </a:p>
                  </a:txBody>
                  <a:tcPr anchor="ctr"/>
                </a:tc>
                <a:extLst>
                  <a:ext uri="{0D108BD9-81ED-4DB2-BD59-A6C34878D82A}">
                    <a16:rowId xmlns:a16="http://schemas.microsoft.com/office/drawing/2014/main" val="855120243"/>
                  </a:ext>
                </a:extLst>
              </a:tr>
              <a:tr h="367055">
                <a:tc>
                  <a:txBody>
                    <a:bodyPr/>
                    <a:lstStyle/>
                    <a:p>
                      <a:r>
                        <a:rPr lang="en-IN" sz="1400" dirty="0"/>
                        <a:t>Age</a:t>
                      </a:r>
                    </a:p>
                  </a:txBody>
                  <a:tcPr anchor="ctr"/>
                </a:tc>
                <a:tc>
                  <a:txBody>
                    <a:bodyPr/>
                    <a:lstStyle/>
                    <a:p>
                      <a:pPr algn="r"/>
                      <a:r>
                        <a:rPr lang="en-IN" sz="1400"/>
                        <a:t>0.42</a:t>
                      </a:r>
                    </a:p>
                  </a:txBody>
                  <a:tcPr anchor="ctr"/>
                </a:tc>
                <a:extLst>
                  <a:ext uri="{0D108BD9-81ED-4DB2-BD59-A6C34878D82A}">
                    <a16:rowId xmlns:a16="http://schemas.microsoft.com/office/drawing/2014/main" val="1520166123"/>
                  </a:ext>
                </a:extLst>
              </a:tr>
              <a:tr h="367055">
                <a:tc>
                  <a:txBody>
                    <a:bodyPr/>
                    <a:lstStyle/>
                    <a:p>
                      <a:r>
                        <a:rPr lang="en-IN" sz="1400" dirty="0"/>
                        <a:t>Salary</a:t>
                      </a:r>
                    </a:p>
                  </a:txBody>
                  <a:tcPr anchor="ctr"/>
                </a:tc>
                <a:tc>
                  <a:txBody>
                    <a:bodyPr/>
                    <a:lstStyle/>
                    <a:p>
                      <a:pPr algn="r"/>
                      <a:r>
                        <a:rPr lang="en-IN" sz="1400" dirty="0"/>
                        <a:t>0.30</a:t>
                      </a:r>
                    </a:p>
                  </a:txBody>
                  <a:tcPr anchor="ctr"/>
                </a:tc>
                <a:extLst>
                  <a:ext uri="{0D108BD9-81ED-4DB2-BD59-A6C34878D82A}">
                    <a16:rowId xmlns:a16="http://schemas.microsoft.com/office/drawing/2014/main" val="382539979"/>
                  </a:ext>
                </a:extLst>
              </a:tr>
              <a:tr h="367055">
                <a:tc>
                  <a:txBody>
                    <a:bodyPr/>
                    <a:lstStyle/>
                    <a:p>
                      <a:r>
                        <a:rPr lang="en-IN" sz="1400"/>
                        <a:t>Experience</a:t>
                      </a:r>
                    </a:p>
                  </a:txBody>
                  <a:tcPr anchor="ctr"/>
                </a:tc>
                <a:tc>
                  <a:txBody>
                    <a:bodyPr/>
                    <a:lstStyle/>
                    <a:p>
                      <a:pPr algn="r"/>
                      <a:r>
                        <a:rPr lang="en-IN" sz="1400" dirty="0"/>
                        <a:t>0.18</a:t>
                      </a:r>
                    </a:p>
                  </a:txBody>
                  <a:tcPr anchor="ctr"/>
                </a:tc>
                <a:extLst>
                  <a:ext uri="{0D108BD9-81ED-4DB2-BD59-A6C34878D82A}">
                    <a16:rowId xmlns:a16="http://schemas.microsoft.com/office/drawing/2014/main" val="323147523"/>
                  </a:ext>
                </a:extLst>
              </a:tr>
              <a:tr h="367055">
                <a:tc>
                  <a:txBody>
                    <a:bodyPr/>
                    <a:lstStyle/>
                    <a:p>
                      <a:r>
                        <a:rPr lang="en-IN" sz="1400"/>
                        <a:t>Education</a:t>
                      </a:r>
                    </a:p>
                  </a:txBody>
                  <a:tcPr anchor="ctr"/>
                </a:tc>
                <a:tc>
                  <a:txBody>
                    <a:bodyPr/>
                    <a:lstStyle/>
                    <a:p>
                      <a:pPr algn="r"/>
                      <a:r>
                        <a:rPr lang="en-IN" sz="1400" dirty="0"/>
                        <a:t>0.10</a:t>
                      </a:r>
                    </a:p>
                  </a:txBody>
                  <a:tcPr anchor="ctr"/>
                </a:tc>
                <a:extLst>
                  <a:ext uri="{0D108BD9-81ED-4DB2-BD59-A6C34878D82A}">
                    <a16:rowId xmlns:a16="http://schemas.microsoft.com/office/drawing/2014/main" val="1632823480"/>
                  </a:ext>
                </a:extLst>
              </a:tr>
            </a:tbl>
          </a:graphicData>
        </a:graphic>
      </p:graphicFrame>
      <p:sp>
        <p:nvSpPr>
          <p:cNvPr id="16" name="TextBox 15">
            <a:extLst>
              <a:ext uri="{FF2B5EF4-FFF2-40B4-BE49-F238E27FC236}">
                <a16:creationId xmlns:a16="http://schemas.microsoft.com/office/drawing/2014/main" id="{23A27734-11DC-4AA6-8030-AEF143FE5C70}"/>
              </a:ext>
            </a:extLst>
          </p:cNvPr>
          <p:cNvSpPr txBox="1"/>
          <p:nvPr/>
        </p:nvSpPr>
        <p:spPr>
          <a:xfrm>
            <a:off x="7874181" y="1533417"/>
            <a:ext cx="3671593" cy="4832092"/>
          </a:xfrm>
          <a:prstGeom prst="rect">
            <a:avLst/>
          </a:prstGeom>
          <a:noFill/>
        </p:spPr>
        <p:txBody>
          <a:bodyPr wrap="square" rtlCol="0">
            <a:spAutoFit/>
          </a:bodyPr>
          <a:lstStyle/>
          <a:p>
            <a:r>
              <a:rPr lang="en-US" sz="1400" b="1" dirty="0">
                <a:solidFill>
                  <a:srgbClr val="C00000"/>
                </a:solidFill>
              </a:rPr>
              <a:t>Decision Tree vs Random Forest</a:t>
            </a:r>
          </a:p>
          <a:p>
            <a:endParaRPr lang="en-US" sz="1400" b="1" dirty="0">
              <a:solidFill>
                <a:srgbClr val="C00000"/>
              </a:solidFill>
            </a:endParaRPr>
          </a:p>
          <a:p>
            <a:endParaRPr lang="en-US" sz="1400" b="1" dirty="0">
              <a:solidFill>
                <a:srgbClr val="C00000"/>
              </a:solidFill>
            </a:endParaRPr>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IN" sz="1400" b="1" dirty="0"/>
          </a:p>
        </p:txBody>
      </p:sp>
      <p:graphicFrame>
        <p:nvGraphicFramePr>
          <p:cNvPr id="17" name="Table 16">
            <a:extLst>
              <a:ext uri="{FF2B5EF4-FFF2-40B4-BE49-F238E27FC236}">
                <a16:creationId xmlns:a16="http://schemas.microsoft.com/office/drawing/2014/main" id="{76FB7385-672E-4D20-AADB-12B88401AD3E}"/>
              </a:ext>
            </a:extLst>
          </p:cNvPr>
          <p:cNvGraphicFramePr>
            <a:graphicFrameLocks noGrp="1"/>
          </p:cNvGraphicFramePr>
          <p:nvPr>
            <p:extLst>
              <p:ext uri="{D42A27DB-BD31-4B8C-83A1-F6EECF244321}">
                <p14:modId xmlns:p14="http://schemas.microsoft.com/office/powerpoint/2010/main" val="1510769962"/>
              </p:ext>
            </p:extLst>
          </p:nvPr>
        </p:nvGraphicFramePr>
        <p:xfrm>
          <a:off x="7916383" y="2014203"/>
          <a:ext cx="3645441" cy="2642177"/>
        </p:xfrm>
        <a:graphic>
          <a:graphicData uri="http://schemas.openxmlformats.org/drawingml/2006/table">
            <a:tbl>
              <a:tblPr firstRow="1" bandRow="1">
                <a:tableStyleId>{5C22544A-7EE6-4342-B048-85BDC9FD1C3A}</a:tableStyleId>
              </a:tblPr>
              <a:tblGrid>
                <a:gridCol w="1891552">
                  <a:extLst>
                    <a:ext uri="{9D8B030D-6E8A-4147-A177-3AD203B41FA5}">
                      <a16:colId xmlns:a16="http://schemas.microsoft.com/office/drawing/2014/main" val="1640332539"/>
                    </a:ext>
                  </a:extLst>
                </a:gridCol>
                <a:gridCol w="1753889">
                  <a:extLst>
                    <a:ext uri="{9D8B030D-6E8A-4147-A177-3AD203B41FA5}">
                      <a16:colId xmlns:a16="http://schemas.microsoft.com/office/drawing/2014/main" val="6887849"/>
                    </a:ext>
                  </a:extLst>
                </a:gridCol>
              </a:tblGrid>
              <a:tr h="356177">
                <a:tc>
                  <a:txBody>
                    <a:bodyPr/>
                    <a:lstStyle/>
                    <a:p>
                      <a:r>
                        <a:rPr lang="en-IN" sz="1400" dirty="0"/>
                        <a:t>Decision Tree</a:t>
                      </a:r>
                    </a:p>
                  </a:txBody>
                  <a:tcPr anchor="ctr"/>
                </a:tc>
                <a:tc>
                  <a:txBody>
                    <a:bodyPr/>
                    <a:lstStyle/>
                    <a:p>
                      <a:r>
                        <a:rPr lang="en-IN" sz="1400" dirty="0"/>
                        <a:t>Random Forest</a:t>
                      </a:r>
                    </a:p>
                  </a:txBody>
                  <a:tcPr anchor="ctr"/>
                </a:tc>
                <a:extLst>
                  <a:ext uri="{0D108BD9-81ED-4DB2-BD59-A6C34878D82A}">
                    <a16:rowId xmlns:a16="http://schemas.microsoft.com/office/drawing/2014/main" val="458853788"/>
                  </a:ext>
                </a:extLst>
              </a:tr>
              <a:tr h="356177">
                <a:tc>
                  <a:txBody>
                    <a:bodyPr/>
                    <a:lstStyle/>
                    <a:p>
                      <a:r>
                        <a:rPr lang="en-IN" sz="1400" dirty="0"/>
                        <a:t>Single decision tree</a:t>
                      </a:r>
                    </a:p>
                  </a:txBody>
                  <a:tcPr anchor="ctr"/>
                </a:tc>
                <a:tc>
                  <a:txBody>
                    <a:bodyPr/>
                    <a:lstStyle/>
                    <a:p>
                      <a:r>
                        <a:rPr lang="en-US" sz="1400"/>
                        <a:t>Collection of multiple decision trees</a:t>
                      </a:r>
                    </a:p>
                  </a:txBody>
                  <a:tcPr anchor="ctr"/>
                </a:tc>
                <a:extLst>
                  <a:ext uri="{0D108BD9-81ED-4DB2-BD59-A6C34878D82A}">
                    <a16:rowId xmlns:a16="http://schemas.microsoft.com/office/drawing/2014/main" val="1553510418"/>
                  </a:ext>
                </a:extLst>
              </a:tr>
              <a:tr h="356177">
                <a:tc>
                  <a:txBody>
                    <a:bodyPr/>
                    <a:lstStyle/>
                    <a:p>
                      <a:r>
                        <a:rPr lang="en-IN" sz="1400" dirty="0"/>
                        <a:t>Faster and easier to interpret</a:t>
                      </a:r>
                    </a:p>
                  </a:txBody>
                  <a:tcPr anchor="ctr"/>
                </a:tc>
                <a:tc>
                  <a:txBody>
                    <a:bodyPr/>
                    <a:lstStyle/>
                    <a:p>
                      <a:r>
                        <a:rPr lang="en-IN" sz="1400" dirty="0"/>
                        <a:t>More accurate and robust</a:t>
                      </a:r>
                    </a:p>
                  </a:txBody>
                  <a:tcPr anchor="ctr"/>
                </a:tc>
                <a:extLst>
                  <a:ext uri="{0D108BD9-81ED-4DB2-BD59-A6C34878D82A}">
                    <a16:rowId xmlns:a16="http://schemas.microsoft.com/office/drawing/2014/main" val="3333809336"/>
                  </a:ext>
                </a:extLst>
              </a:tr>
              <a:tr h="356177">
                <a:tc>
                  <a:txBody>
                    <a:bodyPr/>
                    <a:lstStyle/>
                    <a:p>
                      <a:r>
                        <a:rPr lang="en-IN" sz="1400"/>
                        <a:t>Higher risk of overfitting</a:t>
                      </a:r>
                    </a:p>
                  </a:txBody>
                  <a:tcPr anchor="ctr"/>
                </a:tc>
                <a:tc>
                  <a:txBody>
                    <a:bodyPr/>
                    <a:lstStyle/>
                    <a:p>
                      <a:r>
                        <a:rPr lang="en-US" sz="1400" dirty="0"/>
                        <a:t>Lower risk of overfitting due to bagging</a:t>
                      </a:r>
                    </a:p>
                  </a:txBody>
                  <a:tcPr anchor="ctr"/>
                </a:tc>
                <a:extLst>
                  <a:ext uri="{0D108BD9-81ED-4DB2-BD59-A6C34878D82A}">
                    <a16:rowId xmlns:a16="http://schemas.microsoft.com/office/drawing/2014/main" val="372225836"/>
                  </a:ext>
                </a:extLst>
              </a:tr>
              <a:tr h="356177">
                <a:tc>
                  <a:txBody>
                    <a:bodyPr/>
                    <a:lstStyle/>
                    <a:p>
                      <a:r>
                        <a:rPr lang="en-IN" sz="1400"/>
                        <a:t>Sensitive to noise</a:t>
                      </a:r>
                    </a:p>
                  </a:txBody>
                  <a:tcPr anchor="ctr"/>
                </a:tc>
                <a:tc>
                  <a:txBody>
                    <a:bodyPr/>
                    <a:lstStyle/>
                    <a:p>
                      <a:r>
                        <a:rPr lang="en-IN" sz="1400" dirty="0"/>
                        <a:t>More stable and reliable</a:t>
                      </a:r>
                    </a:p>
                  </a:txBody>
                  <a:tcPr anchor="ctr"/>
                </a:tc>
                <a:extLst>
                  <a:ext uri="{0D108BD9-81ED-4DB2-BD59-A6C34878D82A}">
                    <a16:rowId xmlns:a16="http://schemas.microsoft.com/office/drawing/2014/main" val="1184880024"/>
                  </a:ext>
                </a:extLst>
              </a:tr>
            </a:tbl>
          </a:graphicData>
        </a:graphic>
      </p:graphicFrame>
      <p:sp>
        <p:nvSpPr>
          <p:cNvPr id="19" name="Text 1">
            <a:extLst>
              <a:ext uri="{FF2B5EF4-FFF2-40B4-BE49-F238E27FC236}">
                <a16:creationId xmlns:a16="http://schemas.microsoft.com/office/drawing/2014/main" id="{2DA2A5EA-4072-4D3E-A2BA-2BC7551EB7A7}"/>
              </a:ext>
            </a:extLst>
          </p:cNvPr>
          <p:cNvSpPr/>
          <p:nvPr/>
        </p:nvSpPr>
        <p:spPr>
          <a:xfrm>
            <a:off x="435685" y="-16563"/>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Tree pruning</a:t>
            </a:r>
            <a:endParaRPr lang="en-US" sz="2800" dirty="0">
              <a:solidFill>
                <a:srgbClr val="002060"/>
              </a:solidFill>
            </a:endParaRPr>
          </a:p>
        </p:txBody>
      </p:sp>
    </p:spTree>
    <p:extLst>
      <p:ext uri="{BB962C8B-B14F-4D97-AF65-F5344CB8AC3E}">
        <p14:creationId xmlns:p14="http://schemas.microsoft.com/office/powerpoint/2010/main" val="279222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7" name="TextBox 6">
            <a:extLst>
              <a:ext uri="{FF2B5EF4-FFF2-40B4-BE49-F238E27FC236}">
                <a16:creationId xmlns:a16="http://schemas.microsoft.com/office/drawing/2014/main" id="{BC7825F2-4315-4A0D-8CD1-E4C241596359}"/>
              </a:ext>
            </a:extLst>
          </p:cNvPr>
          <p:cNvSpPr txBox="1"/>
          <p:nvPr/>
        </p:nvSpPr>
        <p:spPr>
          <a:xfrm>
            <a:off x="301214" y="896041"/>
            <a:ext cx="4719021" cy="5755422"/>
          </a:xfrm>
          <a:prstGeom prst="rect">
            <a:avLst/>
          </a:prstGeom>
          <a:noFill/>
        </p:spPr>
        <p:txBody>
          <a:bodyPr wrap="square" rtlCol="0">
            <a:spAutoFit/>
          </a:bodyPr>
          <a:lstStyle/>
          <a:p>
            <a:r>
              <a:rPr lang="en-IN" sz="1600" b="1" dirty="0">
                <a:solidFill>
                  <a:srgbClr val="C00000"/>
                </a:solidFill>
              </a:rPr>
              <a:t>Support Vector Machine (SVM)</a:t>
            </a:r>
          </a:p>
          <a:p>
            <a:r>
              <a:rPr lang="en-IN" sz="1600" b="1" dirty="0">
                <a:solidFill>
                  <a:schemeClr val="accent6">
                    <a:lumMod val="75000"/>
                  </a:schemeClr>
                </a:solidFill>
              </a:rPr>
              <a:t>Key Concepts:</a:t>
            </a:r>
          </a:p>
          <a:p>
            <a:r>
              <a:rPr lang="en-IN" sz="1600" b="1" dirty="0">
                <a:solidFill>
                  <a:schemeClr val="accent1">
                    <a:lumMod val="75000"/>
                  </a:schemeClr>
                </a:solidFill>
              </a:rPr>
              <a:t>Hyperplane:</a:t>
            </a:r>
            <a:r>
              <a:rPr lang="en-IN" sz="1600" dirty="0"/>
              <a:t> Decision boundary separating different classes. </a:t>
            </a:r>
          </a:p>
          <a:p>
            <a:r>
              <a:rPr lang="en-IN" sz="1600" b="1" dirty="0">
                <a:solidFill>
                  <a:schemeClr val="accent1">
                    <a:lumMod val="75000"/>
                  </a:schemeClr>
                </a:solidFill>
              </a:rPr>
              <a:t>Margin:</a:t>
            </a:r>
            <a:r>
              <a:rPr lang="en-IN" sz="1600" dirty="0"/>
              <a:t> Distance between the hyperplane and nearest data points. </a:t>
            </a:r>
          </a:p>
          <a:p>
            <a:r>
              <a:rPr lang="en-IN" sz="1600" b="1" dirty="0">
                <a:solidFill>
                  <a:schemeClr val="accent1">
                    <a:lumMod val="75000"/>
                  </a:schemeClr>
                </a:solidFill>
              </a:rPr>
              <a:t>Support Vectors:</a:t>
            </a:r>
            <a:r>
              <a:rPr lang="en-IN" sz="1600" dirty="0">
                <a:solidFill>
                  <a:schemeClr val="accent1">
                    <a:lumMod val="75000"/>
                  </a:schemeClr>
                </a:solidFill>
              </a:rPr>
              <a:t> </a:t>
            </a:r>
            <a:r>
              <a:rPr lang="en-IN" sz="1600" dirty="0"/>
              <a:t>Data points closest to the hyperplane that determine its position. </a:t>
            </a:r>
          </a:p>
          <a:p>
            <a:endParaRPr lang="en-US" sz="1600" dirty="0"/>
          </a:p>
          <a:p>
            <a:endParaRPr lang="en-US" sz="1600" dirty="0"/>
          </a:p>
          <a:p>
            <a:endParaRPr lang="en-IN" sz="1600" dirty="0"/>
          </a:p>
          <a:p>
            <a:endParaRPr lang="en-IN" sz="1600" dirty="0"/>
          </a:p>
          <a:p>
            <a:endParaRPr lang="en-IN" sz="1600" b="1" dirty="0"/>
          </a:p>
          <a:p>
            <a:r>
              <a:rPr lang="en-IN" sz="1600" b="1" dirty="0">
                <a:solidFill>
                  <a:schemeClr val="accent1">
                    <a:lumMod val="75000"/>
                  </a:schemeClr>
                </a:solidFill>
              </a:rPr>
              <a:t>Kernel Trick:</a:t>
            </a:r>
            <a:r>
              <a:rPr lang="en-IN" sz="1600" dirty="0">
                <a:solidFill>
                  <a:schemeClr val="accent1">
                    <a:lumMod val="75000"/>
                  </a:schemeClr>
                </a:solidFill>
              </a:rPr>
              <a:t> </a:t>
            </a:r>
            <a:r>
              <a:rPr lang="en-IN" sz="1600" dirty="0"/>
              <a:t>Maps data into higher dimensions to solve non-linear classification problems. </a:t>
            </a:r>
          </a:p>
          <a:p>
            <a:pPr lvl="1"/>
            <a:r>
              <a:rPr lang="en-IN" sz="1600" dirty="0"/>
              <a:t>Examples: Linear, Polynomial, RBF (Gaussian)</a:t>
            </a:r>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p:txBody>
      </p:sp>
      <p:pic>
        <p:nvPicPr>
          <p:cNvPr id="3076" name="Picture 4" descr="Support Vector Machine (SVM) Explained | by Vatsal | Towards Data Science">
            <a:extLst>
              <a:ext uri="{FF2B5EF4-FFF2-40B4-BE49-F238E27FC236}">
                <a16:creationId xmlns:a16="http://schemas.microsoft.com/office/drawing/2014/main" id="{14B07E45-4301-4E61-A1E7-9B98AA852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990" y="2978396"/>
            <a:ext cx="2015656" cy="11800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upport-vector machines - SVM — machine learning note documentation">
            <a:extLst>
              <a:ext uri="{FF2B5EF4-FFF2-40B4-BE49-F238E27FC236}">
                <a16:creationId xmlns:a16="http://schemas.microsoft.com/office/drawing/2014/main" id="{045B2452-7610-49B2-A8D7-9434C58880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943" y="4984541"/>
            <a:ext cx="3282469" cy="13082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B43D1AE-DF54-4AF6-9A67-A7AD297623C2}"/>
              </a:ext>
            </a:extLst>
          </p:cNvPr>
          <p:cNvSpPr txBox="1"/>
          <p:nvPr/>
        </p:nvSpPr>
        <p:spPr>
          <a:xfrm>
            <a:off x="5643282" y="2976282"/>
            <a:ext cx="914400" cy="914400"/>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B7E9FD57-667D-4A77-AEB4-2D12CE3B872D}"/>
              </a:ext>
            </a:extLst>
          </p:cNvPr>
          <p:cNvSpPr txBox="1"/>
          <p:nvPr/>
        </p:nvSpPr>
        <p:spPr>
          <a:xfrm>
            <a:off x="5020235" y="857988"/>
            <a:ext cx="4087906" cy="2800767"/>
          </a:xfrm>
          <a:prstGeom prst="rect">
            <a:avLst/>
          </a:prstGeom>
          <a:noFill/>
        </p:spPr>
        <p:txBody>
          <a:bodyPr wrap="square" rtlCol="0">
            <a:spAutoFit/>
          </a:bodyPr>
          <a:lstStyle/>
          <a:p>
            <a:r>
              <a:rPr lang="en-IN" sz="1600" b="1" dirty="0">
                <a:solidFill>
                  <a:srgbClr val="C00000"/>
                </a:solidFill>
              </a:rPr>
              <a:t>K‑Nearest </a:t>
            </a:r>
            <a:r>
              <a:rPr lang="en-IN" sz="1600" b="1" dirty="0" err="1">
                <a:solidFill>
                  <a:srgbClr val="C00000"/>
                </a:solidFill>
              </a:rPr>
              <a:t>Neighbors</a:t>
            </a:r>
            <a:r>
              <a:rPr lang="en-IN" sz="1600" b="1" dirty="0">
                <a:solidFill>
                  <a:srgbClr val="C00000"/>
                </a:solidFill>
              </a:rPr>
              <a:t> (KNN)</a:t>
            </a:r>
          </a:p>
          <a:p>
            <a:r>
              <a:rPr lang="en-IN" sz="1600" b="1" dirty="0">
                <a:solidFill>
                  <a:schemeClr val="accent6">
                    <a:lumMod val="75000"/>
                  </a:schemeClr>
                </a:solidFill>
              </a:rPr>
              <a:t>Concept:</a:t>
            </a:r>
            <a:r>
              <a:rPr lang="en-IN" sz="1600" dirty="0">
                <a:solidFill>
                  <a:schemeClr val="accent6">
                    <a:lumMod val="75000"/>
                  </a:schemeClr>
                </a:solidFill>
              </a:rPr>
              <a:t> </a:t>
            </a:r>
            <a:r>
              <a:rPr lang="en-IN" sz="1600" dirty="0"/>
              <a:t>Classifies based on majority vote of nearest </a:t>
            </a:r>
            <a:r>
              <a:rPr lang="en-IN" sz="1600" dirty="0" err="1"/>
              <a:t>neighbors</a:t>
            </a:r>
            <a:r>
              <a:rPr lang="en-IN" sz="1600" dirty="0"/>
              <a:t>.</a:t>
            </a:r>
          </a:p>
          <a:p>
            <a:r>
              <a:rPr lang="en-IN" sz="1600" b="1" dirty="0">
                <a:solidFill>
                  <a:schemeClr val="accent6">
                    <a:lumMod val="75000"/>
                  </a:schemeClr>
                </a:solidFill>
              </a:rPr>
              <a:t>Distance Metrics:</a:t>
            </a:r>
            <a:r>
              <a:rPr lang="en-IN" sz="1600" dirty="0">
                <a:solidFill>
                  <a:schemeClr val="accent6">
                    <a:lumMod val="75000"/>
                  </a:schemeClr>
                </a:solidFill>
              </a:rPr>
              <a:t> </a:t>
            </a:r>
            <a:r>
              <a:rPr lang="en-IN" sz="1600" dirty="0"/>
              <a:t>Euclidean, Manhattan, </a:t>
            </a:r>
            <a:r>
              <a:rPr lang="en-IN" sz="1600" dirty="0" err="1"/>
              <a:t>Minkowski</a:t>
            </a:r>
            <a:r>
              <a:rPr lang="en-IN" sz="1600" dirty="0"/>
              <a:t>.</a:t>
            </a:r>
          </a:p>
          <a:p>
            <a:r>
              <a:rPr lang="en-IN" sz="1600" b="1" dirty="0">
                <a:solidFill>
                  <a:schemeClr val="accent6">
                    <a:lumMod val="75000"/>
                  </a:schemeClr>
                </a:solidFill>
              </a:rPr>
              <a:t>Choosing K:</a:t>
            </a:r>
            <a:endParaRPr lang="en-IN" sz="1600" dirty="0">
              <a:solidFill>
                <a:schemeClr val="accent6">
                  <a:lumMod val="75000"/>
                </a:schemeClr>
              </a:solidFill>
            </a:endParaRPr>
          </a:p>
          <a:p>
            <a:pPr marL="742950" lvl="1" indent="-285750">
              <a:buFont typeface="Arial" panose="020B0604020202020204" pitchFamily="34" charset="0"/>
              <a:buChar char="•"/>
            </a:pPr>
            <a:r>
              <a:rPr lang="en-IN" sz="1600" dirty="0"/>
              <a:t>Small K → sensitive to noise.</a:t>
            </a:r>
          </a:p>
          <a:p>
            <a:pPr marL="742950" lvl="1" indent="-285750">
              <a:buFont typeface="Arial" panose="020B0604020202020204" pitchFamily="34" charset="0"/>
              <a:buChar char="•"/>
            </a:pPr>
            <a:r>
              <a:rPr lang="en-IN" sz="1600" dirty="0"/>
              <a:t>Large K → smoother decision boundary but may underfit.</a:t>
            </a:r>
          </a:p>
          <a:p>
            <a:pPr lvl="1"/>
            <a:endParaRPr lang="en-IN" sz="1600" dirty="0"/>
          </a:p>
          <a:p>
            <a:pPr marL="742950" lvl="1" indent="-285750">
              <a:buFont typeface="Arial" panose="020B0604020202020204" pitchFamily="34" charset="0"/>
              <a:buChar char="•"/>
            </a:pPr>
            <a:endParaRPr lang="en-IN" sz="1600" dirty="0"/>
          </a:p>
        </p:txBody>
      </p:sp>
      <p:sp>
        <p:nvSpPr>
          <p:cNvPr id="10" name="TextBox 9">
            <a:extLst>
              <a:ext uri="{FF2B5EF4-FFF2-40B4-BE49-F238E27FC236}">
                <a16:creationId xmlns:a16="http://schemas.microsoft.com/office/drawing/2014/main" id="{D14AD2AB-AC21-4E39-9300-7A91817AFE15}"/>
              </a:ext>
            </a:extLst>
          </p:cNvPr>
          <p:cNvSpPr txBox="1"/>
          <p:nvPr/>
        </p:nvSpPr>
        <p:spPr>
          <a:xfrm>
            <a:off x="5008835" y="3130298"/>
            <a:ext cx="3422277" cy="369332"/>
          </a:xfrm>
          <a:prstGeom prst="rect">
            <a:avLst/>
          </a:prstGeom>
          <a:noFill/>
        </p:spPr>
        <p:txBody>
          <a:bodyPr wrap="square" rtlCol="0">
            <a:spAutoFit/>
          </a:bodyPr>
          <a:lstStyle/>
          <a:p>
            <a:r>
              <a:rPr lang="en-US" b="1" dirty="0">
                <a:solidFill>
                  <a:srgbClr val="C00000"/>
                </a:solidFill>
              </a:rPr>
              <a:t>SVM VS KNN</a:t>
            </a:r>
          </a:p>
        </p:txBody>
      </p:sp>
      <p:graphicFrame>
        <p:nvGraphicFramePr>
          <p:cNvPr id="11" name="Table 10">
            <a:extLst>
              <a:ext uri="{FF2B5EF4-FFF2-40B4-BE49-F238E27FC236}">
                <a16:creationId xmlns:a16="http://schemas.microsoft.com/office/drawing/2014/main" id="{C295EA38-03F6-4C1A-8C12-5B3712C42712}"/>
              </a:ext>
            </a:extLst>
          </p:cNvPr>
          <p:cNvGraphicFramePr>
            <a:graphicFrameLocks noGrp="1"/>
          </p:cNvGraphicFramePr>
          <p:nvPr>
            <p:extLst>
              <p:ext uri="{D42A27DB-BD31-4B8C-83A1-F6EECF244321}">
                <p14:modId xmlns:p14="http://schemas.microsoft.com/office/powerpoint/2010/main" val="3949995579"/>
              </p:ext>
            </p:extLst>
          </p:nvPr>
        </p:nvGraphicFramePr>
        <p:xfrm>
          <a:off x="5020235" y="3528367"/>
          <a:ext cx="3917577" cy="2844736"/>
        </p:xfrm>
        <a:graphic>
          <a:graphicData uri="http://schemas.openxmlformats.org/drawingml/2006/table">
            <a:tbl>
              <a:tblPr firstRow="1" bandRow="1">
                <a:tableStyleId>{5C22544A-7EE6-4342-B048-85BDC9FD1C3A}</a:tableStyleId>
              </a:tblPr>
              <a:tblGrid>
                <a:gridCol w="1963271">
                  <a:extLst>
                    <a:ext uri="{9D8B030D-6E8A-4147-A177-3AD203B41FA5}">
                      <a16:colId xmlns:a16="http://schemas.microsoft.com/office/drawing/2014/main" val="3793758778"/>
                    </a:ext>
                  </a:extLst>
                </a:gridCol>
                <a:gridCol w="1954306">
                  <a:extLst>
                    <a:ext uri="{9D8B030D-6E8A-4147-A177-3AD203B41FA5}">
                      <a16:colId xmlns:a16="http://schemas.microsoft.com/office/drawing/2014/main" val="4083316257"/>
                    </a:ext>
                  </a:extLst>
                </a:gridCol>
              </a:tblGrid>
              <a:tr h="399696">
                <a:tc>
                  <a:txBody>
                    <a:bodyPr/>
                    <a:lstStyle/>
                    <a:p>
                      <a:r>
                        <a:rPr lang="en-IN" sz="1400" b="1" dirty="0"/>
                        <a:t>SVM</a:t>
                      </a:r>
                      <a:endParaRPr lang="en-IN" sz="1400" dirty="0"/>
                    </a:p>
                  </a:txBody>
                  <a:tcPr anchor="ctr"/>
                </a:tc>
                <a:tc>
                  <a:txBody>
                    <a:bodyPr/>
                    <a:lstStyle/>
                    <a:p>
                      <a:r>
                        <a:rPr lang="en-IN" sz="1400" b="1" dirty="0"/>
                        <a:t>KNN</a:t>
                      </a:r>
                      <a:endParaRPr lang="en-IN" sz="1400" dirty="0"/>
                    </a:p>
                  </a:txBody>
                  <a:tcPr anchor="ctr"/>
                </a:tc>
                <a:extLst>
                  <a:ext uri="{0D108BD9-81ED-4DB2-BD59-A6C34878D82A}">
                    <a16:rowId xmlns:a16="http://schemas.microsoft.com/office/drawing/2014/main" val="731038092"/>
                  </a:ext>
                </a:extLst>
              </a:tr>
              <a:tr h="401890">
                <a:tc>
                  <a:txBody>
                    <a:bodyPr/>
                    <a:lstStyle/>
                    <a:p>
                      <a:r>
                        <a:rPr lang="en-IN" sz="1400" dirty="0"/>
                        <a:t>High-dimensional data</a:t>
                      </a:r>
                    </a:p>
                  </a:txBody>
                  <a:tcPr anchor="ctr"/>
                </a:tc>
                <a:tc>
                  <a:txBody>
                    <a:bodyPr/>
                    <a:lstStyle/>
                    <a:p>
                      <a:r>
                        <a:rPr lang="en-IN" sz="1400" dirty="0"/>
                        <a:t>Small datasets</a:t>
                      </a:r>
                    </a:p>
                  </a:txBody>
                  <a:tcPr anchor="ctr"/>
                </a:tc>
                <a:extLst>
                  <a:ext uri="{0D108BD9-81ED-4DB2-BD59-A6C34878D82A}">
                    <a16:rowId xmlns:a16="http://schemas.microsoft.com/office/drawing/2014/main" val="486619772"/>
                  </a:ext>
                </a:extLst>
              </a:tr>
              <a:tr h="542487">
                <a:tc>
                  <a:txBody>
                    <a:bodyPr/>
                    <a:lstStyle/>
                    <a:p>
                      <a:r>
                        <a:rPr lang="en-IN" sz="1400" dirty="0"/>
                        <a:t>Clear class boundaries</a:t>
                      </a:r>
                    </a:p>
                  </a:txBody>
                  <a:tcPr anchor="ctr"/>
                </a:tc>
                <a:tc>
                  <a:txBody>
                    <a:bodyPr/>
                    <a:lstStyle/>
                    <a:p>
                      <a:r>
                        <a:rPr lang="en-IN" sz="1400"/>
                        <a:t>Complex decision boundaries</a:t>
                      </a:r>
                    </a:p>
                  </a:txBody>
                  <a:tcPr anchor="ctr"/>
                </a:tc>
                <a:extLst>
                  <a:ext uri="{0D108BD9-81ED-4DB2-BD59-A6C34878D82A}">
                    <a16:rowId xmlns:a16="http://schemas.microsoft.com/office/drawing/2014/main" val="754001857"/>
                  </a:ext>
                </a:extLst>
              </a:tr>
              <a:tr h="399696">
                <a:tc>
                  <a:txBody>
                    <a:bodyPr/>
                    <a:lstStyle/>
                    <a:p>
                      <a:r>
                        <a:rPr lang="en-IN" sz="1400" dirty="0"/>
                        <a:t>Faster prediction</a:t>
                      </a:r>
                    </a:p>
                  </a:txBody>
                  <a:tcPr anchor="ctr"/>
                </a:tc>
                <a:tc>
                  <a:txBody>
                    <a:bodyPr/>
                    <a:lstStyle/>
                    <a:p>
                      <a:r>
                        <a:rPr lang="en-IN" sz="1400"/>
                        <a:t>No training phase</a:t>
                      </a:r>
                    </a:p>
                  </a:txBody>
                  <a:tcPr anchor="ctr"/>
                </a:tc>
                <a:extLst>
                  <a:ext uri="{0D108BD9-81ED-4DB2-BD59-A6C34878D82A}">
                    <a16:rowId xmlns:a16="http://schemas.microsoft.com/office/drawing/2014/main" val="2509730410"/>
                  </a:ext>
                </a:extLst>
              </a:tr>
              <a:tr h="558480">
                <a:tc>
                  <a:txBody>
                    <a:bodyPr/>
                    <a:lstStyle/>
                    <a:p>
                      <a:r>
                        <a:rPr lang="en-US" sz="1400" dirty="0"/>
                        <a:t>Good for text/image classification</a:t>
                      </a:r>
                    </a:p>
                  </a:txBody>
                  <a:tcPr anchor="ctr"/>
                </a:tc>
                <a:tc>
                  <a:txBody>
                    <a:bodyPr/>
                    <a:lstStyle/>
                    <a:p>
                      <a:r>
                        <a:rPr lang="en-US" sz="1400" dirty="0"/>
                        <a:t>Easy to understand and implement</a:t>
                      </a:r>
                    </a:p>
                  </a:txBody>
                  <a:tcPr anchor="ctr"/>
                </a:tc>
                <a:extLst>
                  <a:ext uri="{0D108BD9-81ED-4DB2-BD59-A6C34878D82A}">
                    <a16:rowId xmlns:a16="http://schemas.microsoft.com/office/drawing/2014/main" val="3917733829"/>
                  </a:ext>
                </a:extLst>
              </a:tr>
              <a:tr h="542487">
                <a:tc>
                  <a:txBody>
                    <a:bodyPr/>
                    <a:lstStyle/>
                    <a:p>
                      <a:r>
                        <a:rPr lang="en-US" sz="1400"/>
                        <a:t>Less affected by irrelevant features</a:t>
                      </a:r>
                    </a:p>
                  </a:txBody>
                  <a:tcPr anchor="ctr"/>
                </a:tc>
                <a:tc>
                  <a:txBody>
                    <a:bodyPr/>
                    <a:lstStyle/>
                    <a:p>
                      <a:r>
                        <a:rPr lang="en-IN" sz="1400" dirty="0"/>
                        <a:t>Sensitive to feature scaling</a:t>
                      </a:r>
                    </a:p>
                  </a:txBody>
                  <a:tcPr anchor="ctr"/>
                </a:tc>
                <a:extLst>
                  <a:ext uri="{0D108BD9-81ED-4DB2-BD59-A6C34878D82A}">
                    <a16:rowId xmlns:a16="http://schemas.microsoft.com/office/drawing/2014/main" val="788782897"/>
                  </a:ext>
                </a:extLst>
              </a:tr>
            </a:tbl>
          </a:graphicData>
        </a:graphic>
      </p:graphicFrame>
      <p:sp>
        <p:nvSpPr>
          <p:cNvPr id="12" name="TextBox 11">
            <a:extLst>
              <a:ext uri="{FF2B5EF4-FFF2-40B4-BE49-F238E27FC236}">
                <a16:creationId xmlns:a16="http://schemas.microsoft.com/office/drawing/2014/main" id="{3585397B-C27F-451D-94A1-F436DB760F7F}"/>
              </a:ext>
            </a:extLst>
          </p:cNvPr>
          <p:cNvSpPr txBox="1"/>
          <p:nvPr/>
        </p:nvSpPr>
        <p:spPr>
          <a:xfrm>
            <a:off x="9054159" y="953268"/>
            <a:ext cx="2913723" cy="4524315"/>
          </a:xfrm>
          <a:prstGeom prst="rect">
            <a:avLst/>
          </a:prstGeom>
          <a:noFill/>
        </p:spPr>
        <p:txBody>
          <a:bodyPr wrap="square" rtlCol="0">
            <a:spAutoFit/>
          </a:bodyPr>
          <a:lstStyle/>
          <a:p>
            <a:r>
              <a:rPr lang="en-US" sz="1600" b="1" dirty="0">
                <a:solidFill>
                  <a:srgbClr val="C00000"/>
                </a:solidFill>
              </a:rPr>
              <a:t>What is K-Fold Cross-Validation?</a:t>
            </a:r>
          </a:p>
          <a:p>
            <a:r>
              <a:rPr lang="en-US" sz="1600" dirty="0"/>
              <a:t>Dataset is divided into </a:t>
            </a:r>
            <a:r>
              <a:rPr lang="en-US" sz="1600" b="1" dirty="0"/>
              <a:t>K equal folds</a:t>
            </a:r>
            <a:r>
              <a:rPr lang="en-US" sz="1600" dirty="0"/>
              <a:t>. </a:t>
            </a:r>
          </a:p>
          <a:p>
            <a:pPr marL="285750" indent="-285750">
              <a:buFont typeface="Arial" panose="020B0604020202020204" pitchFamily="34" charset="0"/>
              <a:buChar char="•"/>
            </a:pPr>
            <a:r>
              <a:rPr lang="en-US" sz="1600" dirty="0"/>
              <a:t>Train the model on </a:t>
            </a:r>
            <a:r>
              <a:rPr lang="en-US" sz="1600" b="1" dirty="0"/>
              <a:t>K−1 folds</a:t>
            </a:r>
            <a:r>
              <a:rPr lang="en-US" sz="1600" dirty="0"/>
              <a:t>. </a:t>
            </a:r>
          </a:p>
          <a:p>
            <a:pPr marL="285750" indent="-285750">
              <a:buFont typeface="Arial" panose="020B0604020202020204" pitchFamily="34" charset="0"/>
              <a:buChar char="•"/>
            </a:pPr>
            <a:r>
              <a:rPr lang="en-US" sz="1600" dirty="0"/>
              <a:t>Test on the remaining fold. </a:t>
            </a:r>
          </a:p>
          <a:p>
            <a:pPr marL="285750" indent="-285750">
              <a:buFont typeface="Arial" panose="020B0604020202020204" pitchFamily="34" charset="0"/>
              <a:buChar char="•"/>
            </a:pPr>
            <a:r>
              <a:rPr lang="en-US" sz="1600" dirty="0"/>
              <a:t>Repeat until every fold has been used as the test set. </a:t>
            </a:r>
          </a:p>
          <a:p>
            <a:pPr marL="285750" indent="-285750">
              <a:buFont typeface="Arial" panose="020B0604020202020204" pitchFamily="34" charset="0"/>
              <a:buChar char="•"/>
            </a:pPr>
            <a:r>
              <a:rPr lang="en-US" sz="1600" dirty="0"/>
              <a:t>Average the results to estimate model performance.</a:t>
            </a:r>
          </a:p>
          <a:p>
            <a:r>
              <a:rPr lang="en-US" sz="1600" b="1" dirty="0">
                <a:solidFill>
                  <a:schemeClr val="accent6">
                    <a:lumMod val="75000"/>
                  </a:schemeClr>
                </a:solidFill>
              </a:rPr>
              <a:t>Benefits</a:t>
            </a:r>
          </a:p>
          <a:p>
            <a:pPr marL="285750" indent="-285750">
              <a:buFont typeface="Wingdings" panose="05000000000000000000" pitchFamily="2" charset="2"/>
              <a:buChar char="ü"/>
            </a:pPr>
            <a:r>
              <a:rPr lang="en-US" sz="1600" dirty="0"/>
              <a:t>Better evaluation than a single train-test split. </a:t>
            </a:r>
          </a:p>
          <a:p>
            <a:pPr marL="285750" indent="-285750">
              <a:buFont typeface="Wingdings" panose="05000000000000000000" pitchFamily="2" charset="2"/>
              <a:buChar char="ü"/>
            </a:pPr>
            <a:r>
              <a:rPr lang="en-US" sz="1600" dirty="0"/>
              <a:t>Reduces overfitting. </a:t>
            </a:r>
          </a:p>
          <a:p>
            <a:pPr marL="285750" indent="-285750">
              <a:buFont typeface="Wingdings" panose="05000000000000000000" pitchFamily="2" charset="2"/>
              <a:buChar char="ü"/>
            </a:pPr>
            <a:r>
              <a:rPr lang="en-US" sz="1600" dirty="0"/>
              <a:t>Helps select the best model and hyperparameters (e.g., choosing K in KNN).</a:t>
            </a:r>
          </a:p>
          <a:p>
            <a:endParaRPr lang="en-US" sz="1600" dirty="0"/>
          </a:p>
        </p:txBody>
      </p:sp>
      <p:sp>
        <p:nvSpPr>
          <p:cNvPr id="13" name="Rectangle 12">
            <a:extLst>
              <a:ext uri="{FF2B5EF4-FFF2-40B4-BE49-F238E27FC236}">
                <a16:creationId xmlns:a16="http://schemas.microsoft.com/office/drawing/2014/main" id="{F2CEBD47-2DF7-4E00-B118-85DE130B1B5C}"/>
              </a:ext>
            </a:extLst>
          </p:cNvPr>
          <p:cNvSpPr/>
          <p:nvPr/>
        </p:nvSpPr>
        <p:spPr>
          <a:xfrm>
            <a:off x="11493298" y="6584434"/>
            <a:ext cx="418704" cy="369332"/>
          </a:xfrm>
          <a:prstGeom prst="rect">
            <a:avLst/>
          </a:prstGeom>
        </p:spPr>
        <p:txBody>
          <a:bodyPr wrap="none">
            <a:spAutoFit/>
          </a:bodyPr>
          <a:lstStyle/>
          <a:p>
            <a:r>
              <a:rPr lang="en-US" dirty="0">
                <a:solidFill>
                  <a:schemeClr val="bg1"/>
                </a:solidFill>
              </a:rPr>
              <a:t>11</a:t>
            </a:r>
            <a:endParaRPr lang="en-IN" dirty="0">
              <a:solidFill>
                <a:schemeClr val="bg1"/>
              </a:solidFill>
            </a:endParaRPr>
          </a:p>
        </p:txBody>
      </p:sp>
      <p:sp>
        <p:nvSpPr>
          <p:cNvPr id="17" name="Text 1">
            <a:extLst>
              <a:ext uri="{FF2B5EF4-FFF2-40B4-BE49-F238E27FC236}">
                <a16:creationId xmlns:a16="http://schemas.microsoft.com/office/drawing/2014/main" id="{8FED937B-D899-4673-B650-692A7E5D845C}"/>
              </a:ext>
            </a:extLst>
          </p:cNvPr>
          <p:cNvSpPr/>
          <p:nvPr/>
        </p:nvSpPr>
        <p:spPr>
          <a:xfrm>
            <a:off x="364090" y="-88233"/>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SVM VS KNN</a:t>
            </a:r>
            <a:endParaRPr lang="en-US" sz="2800" dirty="0">
              <a:solidFill>
                <a:srgbClr val="002060"/>
              </a:solidFill>
            </a:endParaRPr>
          </a:p>
        </p:txBody>
      </p:sp>
    </p:spTree>
    <p:extLst>
      <p:ext uri="{BB962C8B-B14F-4D97-AF65-F5344CB8AC3E}">
        <p14:creationId xmlns:p14="http://schemas.microsoft.com/office/powerpoint/2010/main" val="2795185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154738" y="-25932"/>
            <a:ext cx="11338560" cy="914400"/>
          </a:xfrm>
          <a:prstGeom prst="rect">
            <a:avLst/>
          </a:prstGeom>
          <a:noFill/>
          <a:ln/>
        </p:spPr>
        <p:txBody>
          <a:bodyPr wrap="square" rtlCol="0" anchor="ctr"/>
          <a:lstStyle/>
          <a:p>
            <a:endParaRPr lang="en-US" sz="2800" b="1" dirty="0">
              <a:solidFill>
                <a:srgbClr val="C00000"/>
              </a:solidFill>
            </a:endParaRPr>
          </a:p>
          <a:p>
            <a:endParaRPr lang="en-US" sz="2800" dirty="0">
              <a:solidFill>
                <a:srgbClr val="002060"/>
              </a:solidFill>
            </a:endParaRPr>
          </a:p>
        </p:txBody>
      </p:sp>
      <p:sp>
        <p:nvSpPr>
          <p:cNvPr id="8" name="TextBox 7">
            <a:extLst>
              <a:ext uri="{FF2B5EF4-FFF2-40B4-BE49-F238E27FC236}">
                <a16:creationId xmlns:a16="http://schemas.microsoft.com/office/drawing/2014/main" id="{84650C83-B79C-4D55-8C9C-19BEA1716206}"/>
              </a:ext>
            </a:extLst>
          </p:cNvPr>
          <p:cNvSpPr txBox="1"/>
          <p:nvPr/>
        </p:nvSpPr>
        <p:spPr>
          <a:xfrm>
            <a:off x="435684" y="888468"/>
            <a:ext cx="4952103" cy="3785652"/>
          </a:xfrm>
          <a:prstGeom prst="rect">
            <a:avLst/>
          </a:prstGeom>
          <a:noFill/>
        </p:spPr>
        <p:txBody>
          <a:bodyPr wrap="square" rtlCol="0">
            <a:spAutoFit/>
          </a:bodyPr>
          <a:lstStyle/>
          <a:p>
            <a:r>
              <a:rPr lang="en-IN" sz="1600" b="1" dirty="0">
                <a:solidFill>
                  <a:srgbClr val="C00000"/>
                </a:solidFill>
              </a:rPr>
              <a:t>K‑Means Clustering</a:t>
            </a:r>
          </a:p>
          <a:p>
            <a:endParaRPr lang="en-IN" sz="1600" b="1" dirty="0">
              <a:solidFill>
                <a:srgbClr val="C00000"/>
              </a:solidFill>
            </a:endParaRPr>
          </a:p>
          <a:p>
            <a:endParaRPr lang="en-US" sz="1600" b="1" dirty="0">
              <a:solidFill>
                <a:srgbClr val="C00000"/>
              </a:solidFill>
            </a:endParaRPr>
          </a:p>
          <a:p>
            <a:endParaRPr lang="en-IN" sz="1600" b="1" dirty="0">
              <a:solidFill>
                <a:srgbClr val="C00000"/>
              </a:solidFill>
            </a:endParaRPr>
          </a:p>
          <a:p>
            <a:endParaRPr lang="en-IN" sz="1600" b="1" dirty="0">
              <a:solidFill>
                <a:srgbClr val="C00000"/>
              </a:solidFill>
            </a:endParaRPr>
          </a:p>
          <a:p>
            <a:endParaRPr lang="en-IN" sz="1600" b="1" dirty="0"/>
          </a:p>
          <a:p>
            <a:pPr marL="285750" indent="-285750">
              <a:buFont typeface="Wingdings" panose="05000000000000000000" pitchFamily="2" charset="2"/>
              <a:buChar char="v"/>
            </a:pPr>
            <a:r>
              <a:rPr lang="en-IN" sz="1600" b="1" dirty="0">
                <a:solidFill>
                  <a:schemeClr val="accent1">
                    <a:lumMod val="75000"/>
                  </a:schemeClr>
                </a:solidFill>
              </a:rPr>
              <a:t>Centroids:</a:t>
            </a:r>
            <a:r>
              <a:rPr lang="en-IN" sz="1600" dirty="0"/>
              <a:t> Central points representing each cluster.</a:t>
            </a:r>
          </a:p>
          <a:p>
            <a:pPr marL="285750" indent="-285750">
              <a:buFont typeface="Wingdings" panose="05000000000000000000" pitchFamily="2" charset="2"/>
              <a:buChar char="v"/>
            </a:pPr>
            <a:r>
              <a:rPr lang="en-IN" sz="1600" b="1" dirty="0">
                <a:solidFill>
                  <a:schemeClr val="accent1">
                    <a:lumMod val="75000"/>
                  </a:schemeClr>
                </a:solidFill>
              </a:rPr>
              <a:t>Inertia:</a:t>
            </a:r>
            <a:r>
              <a:rPr lang="en-IN" sz="1600" dirty="0">
                <a:solidFill>
                  <a:schemeClr val="accent1">
                    <a:lumMod val="75000"/>
                  </a:schemeClr>
                </a:solidFill>
              </a:rPr>
              <a:t> </a:t>
            </a:r>
            <a:r>
              <a:rPr lang="en-IN" sz="1600" dirty="0"/>
              <a:t>Sum of squared distances between samples and their assigned centroid; measures cluster compactness.</a:t>
            </a:r>
          </a:p>
          <a:p>
            <a:pPr marL="285750" indent="-285750">
              <a:buFont typeface="Wingdings" panose="05000000000000000000" pitchFamily="2" charset="2"/>
              <a:buChar char="v"/>
            </a:pPr>
            <a:r>
              <a:rPr lang="en-IN" sz="1600" b="1" dirty="0">
                <a:solidFill>
                  <a:schemeClr val="accent1">
                    <a:lumMod val="75000"/>
                  </a:schemeClr>
                </a:solidFill>
              </a:rPr>
              <a:t>Elbow Method:</a:t>
            </a:r>
            <a:r>
              <a:rPr lang="en-IN" sz="1600" dirty="0">
                <a:solidFill>
                  <a:schemeClr val="accent1">
                    <a:lumMod val="75000"/>
                  </a:schemeClr>
                </a:solidFill>
              </a:rPr>
              <a:t> </a:t>
            </a:r>
            <a:r>
              <a:rPr lang="en-IN" sz="1600" dirty="0"/>
              <a:t>Plot inertia vs. number of clusters (K). The “elbow” point indicates optimal K.</a:t>
            </a:r>
          </a:p>
          <a:p>
            <a:endParaRPr lang="en-IN" sz="1600" dirty="0"/>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endParaRPr lang="en-IN" sz="1600" dirty="0"/>
          </a:p>
        </p:txBody>
      </p:sp>
      <p:sp>
        <p:nvSpPr>
          <p:cNvPr id="10" name="Rectangle 2">
            <a:extLst>
              <a:ext uri="{FF2B5EF4-FFF2-40B4-BE49-F238E27FC236}">
                <a16:creationId xmlns:a16="http://schemas.microsoft.com/office/drawing/2014/main" id="{C7B92DB9-A426-497B-8028-4FD358766F32}"/>
              </a:ext>
            </a:extLst>
          </p:cNvPr>
          <p:cNvSpPr>
            <a:spLocks noChangeArrowheads="1"/>
          </p:cNvSpPr>
          <p:nvPr/>
        </p:nvSpPr>
        <p:spPr bwMode="auto">
          <a:xfrm>
            <a:off x="435684" y="1298301"/>
            <a:ext cx="512243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An </a:t>
            </a:r>
            <a:r>
              <a:rPr kumimoji="0" lang="en-US" altLang="en-US" sz="1400" b="1" i="0" u="none" strike="noStrike" cap="none" normalizeH="0" baseline="0" dirty="0">
                <a:ln>
                  <a:noFill/>
                </a:ln>
                <a:solidFill>
                  <a:schemeClr val="tx1"/>
                </a:solidFill>
                <a:effectLst/>
                <a:latin typeface="Arial" panose="020B0604020202020204" pitchFamily="34" charset="0"/>
              </a:rPr>
              <a:t>unsupervised learning algorithm</a:t>
            </a:r>
            <a:r>
              <a:rPr kumimoji="0" lang="en-US" altLang="en-US" sz="1400" b="0" i="0" u="none" strike="noStrike" cap="none" normalizeH="0" baseline="0" dirty="0">
                <a:ln>
                  <a:noFill/>
                </a:ln>
                <a:solidFill>
                  <a:schemeClr val="tx1"/>
                </a:solidFill>
                <a:effectLst/>
                <a:latin typeface="Arial" panose="020B0604020202020204" pitchFamily="34" charset="0"/>
              </a:rPr>
              <a:t> used to group similar data into </a:t>
            </a:r>
            <a:r>
              <a:rPr kumimoji="0" lang="en-US" altLang="en-US" sz="1400" b="1" i="0" u="none" strike="noStrike" cap="none" normalizeH="0" baseline="0" dirty="0">
                <a:ln>
                  <a:noFill/>
                </a:ln>
                <a:solidFill>
                  <a:schemeClr val="tx1"/>
                </a:solidFill>
                <a:effectLst/>
                <a:latin typeface="Arial" panose="020B0604020202020204" pitchFamily="34" charset="0"/>
              </a:rPr>
              <a:t>K clusters</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Each cluster is represented by a </a:t>
            </a:r>
            <a:r>
              <a:rPr kumimoji="0" lang="en-US" altLang="en-US" sz="1400" b="1" i="0" u="none" strike="noStrike" cap="none" normalizeH="0" baseline="0" dirty="0">
                <a:ln>
                  <a:noFill/>
                </a:ln>
                <a:solidFill>
                  <a:schemeClr val="tx1"/>
                </a:solidFill>
                <a:effectLst/>
                <a:latin typeface="Arial" panose="020B0604020202020204" pitchFamily="34" charset="0"/>
              </a:rPr>
              <a:t>Centroid</a:t>
            </a:r>
            <a:r>
              <a:rPr kumimoji="0" lang="en-US" altLang="en-US" sz="1400" b="0" i="0" u="none" strike="noStrike" cap="none" normalizeH="0" baseline="0" dirty="0">
                <a:ln>
                  <a:noFill/>
                </a:ln>
                <a:solidFill>
                  <a:schemeClr val="tx1"/>
                </a:solidFill>
                <a:effectLst/>
                <a:latin typeface="Arial" panose="020B0604020202020204" pitchFamily="34" charset="0"/>
              </a:rPr>
              <a:t>, which is the mean position of all data points in that cluster. </a:t>
            </a:r>
          </a:p>
        </p:txBody>
      </p:sp>
      <p:sp>
        <p:nvSpPr>
          <p:cNvPr id="11" name="TextBox 10">
            <a:extLst>
              <a:ext uri="{FF2B5EF4-FFF2-40B4-BE49-F238E27FC236}">
                <a16:creationId xmlns:a16="http://schemas.microsoft.com/office/drawing/2014/main" id="{0531BD61-22FD-4642-A497-706E44C3CDAA}"/>
              </a:ext>
            </a:extLst>
          </p:cNvPr>
          <p:cNvSpPr txBox="1"/>
          <p:nvPr/>
        </p:nvSpPr>
        <p:spPr>
          <a:xfrm>
            <a:off x="5712854" y="888468"/>
            <a:ext cx="5593977" cy="4031873"/>
          </a:xfrm>
          <a:prstGeom prst="rect">
            <a:avLst/>
          </a:prstGeom>
          <a:noFill/>
          <a:ln>
            <a:solidFill>
              <a:schemeClr val="bg1"/>
            </a:solidFill>
          </a:ln>
        </p:spPr>
        <p:txBody>
          <a:bodyPr wrap="square" rtlCol="0">
            <a:spAutoFit/>
          </a:bodyPr>
          <a:lstStyle/>
          <a:p>
            <a:r>
              <a:rPr lang="en-US" sz="1600" b="1" dirty="0">
                <a:solidFill>
                  <a:srgbClr val="C00000"/>
                </a:solidFill>
              </a:rPr>
              <a:t>DBSCAN Overview</a:t>
            </a:r>
          </a:p>
          <a:p>
            <a:pPr marL="285750" indent="-285750">
              <a:buFont typeface="Arial" panose="020B0604020202020204" pitchFamily="34" charset="0"/>
              <a:buChar char="•"/>
            </a:pPr>
            <a:r>
              <a:rPr lang="en-US" sz="1600" dirty="0"/>
              <a:t>Density‑based clustering algorithm.</a:t>
            </a:r>
          </a:p>
          <a:p>
            <a:pPr marL="285750" indent="-285750">
              <a:buFont typeface="Arial" panose="020B0604020202020204" pitchFamily="34" charset="0"/>
              <a:buChar char="•"/>
            </a:pPr>
            <a:r>
              <a:rPr lang="en-US" sz="1600" dirty="0"/>
              <a:t>Groups points that are closely packed together, marking outliers as noise.</a:t>
            </a:r>
          </a:p>
          <a:p>
            <a:pPr marL="285750" indent="-285750">
              <a:buFont typeface="Arial" panose="020B0604020202020204" pitchFamily="34" charset="0"/>
              <a:buChar char="•"/>
            </a:pPr>
            <a:r>
              <a:rPr lang="en-US" sz="1600" dirty="0"/>
              <a:t>Parameters:</a:t>
            </a:r>
          </a:p>
          <a:p>
            <a:pPr marL="742950" lvl="1" indent="-285750">
              <a:buFont typeface="Courier New" panose="02070309020205020404" pitchFamily="49" charset="0"/>
              <a:buChar char="o"/>
            </a:pPr>
            <a:r>
              <a:rPr lang="en-US" sz="1600" b="1" dirty="0"/>
              <a:t>eps:</a:t>
            </a:r>
            <a:r>
              <a:rPr lang="en-US" sz="1600" dirty="0"/>
              <a:t> Maximum distance between two samples to be considered neighbors.</a:t>
            </a:r>
          </a:p>
          <a:p>
            <a:pPr marL="742950" lvl="1" indent="-285750">
              <a:buFont typeface="Courier New" panose="02070309020205020404" pitchFamily="49" charset="0"/>
              <a:buChar char="o"/>
            </a:pPr>
            <a:r>
              <a:rPr lang="en-US" sz="1600" b="1" dirty="0" err="1"/>
              <a:t>minPts</a:t>
            </a:r>
            <a:r>
              <a:rPr lang="en-US" sz="1600" b="1" dirty="0"/>
              <a:t>:</a:t>
            </a:r>
            <a:r>
              <a:rPr lang="en-US" sz="1600" dirty="0"/>
              <a:t> Minimum number of points required to form a dense region.</a:t>
            </a:r>
          </a:p>
          <a:p>
            <a:r>
              <a:rPr lang="en-US" sz="1600" b="1" dirty="0">
                <a:solidFill>
                  <a:schemeClr val="accent6">
                    <a:lumMod val="75000"/>
                  </a:schemeClr>
                </a:solidFill>
              </a:rPr>
              <a:t>Advantage:</a:t>
            </a:r>
            <a:r>
              <a:rPr lang="en-US" sz="1600" dirty="0"/>
              <a:t> </a:t>
            </a:r>
          </a:p>
          <a:p>
            <a:pPr marL="285750" indent="-285750">
              <a:buFont typeface="Wingdings" panose="05000000000000000000" pitchFamily="2" charset="2"/>
              <a:buChar char="ü"/>
            </a:pPr>
            <a:r>
              <a:rPr lang="en-US" sz="1600" dirty="0"/>
              <a:t>Finds clusters of arbitrary shape, robust to noise.</a:t>
            </a:r>
          </a:p>
          <a:p>
            <a:pPr marL="285750" indent="-285750">
              <a:buFont typeface="Wingdings" panose="05000000000000000000" pitchFamily="2" charset="2"/>
              <a:buChar char="ü"/>
            </a:pPr>
            <a:r>
              <a:rPr lang="en-US" sz="1600" dirty="0"/>
              <a:t>No need to specify the number of clusters. </a:t>
            </a:r>
          </a:p>
          <a:p>
            <a:pPr marL="285750" indent="-285750">
              <a:buFont typeface="Wingdings" panose="05000000000000000000" pitchFamily="2" charset="2"/>
              <a:buChar char="ü"/>
            </a:pPr>
            <a:r>
              <a:rPr lang="en-US" sz="1600" dirty="0"/>
              <a:t>Can detect clusters of arbitrary shapes. </a:t>
            </a:r>
          </a:p>
          <a:p>
            <a:pPr marL="285750" indent="-285750">
              <a:buFont typeface="Wingdings" panose="05000000000000000000" pitchFamily="2" charset="2"/>
              <a:buChar char="ü"/>
            </a:pPr>
            <a:r>
              <a:rPr lang="en-US" sz="1600" dirty="0"/>
              <a:t>Handles noise effectively. </a:t>
            </a:r>
          </a:p>
          <a:p>
            <a:pPr marL="285750" indent="-285750">
              <a:buFont typeface="Wingdings" panose="05000000000000000000" pitchFamily="2" charset="2"/>
              <a:buChar char="ü"/>
            </a:pPr>
            <a:endParaRPr lang="en-US" sz="1600" dirty="0"/>
          </a:p>
          <a:p>
            <a:pPr marL="285750" indent="-285750">
              <a:buFont typeface="Wingdings" panose="05000000000000000000" pitchFamily="2" charset="2"/>
              <a:buChar char="ü"/>
            </a:pPr>
            <a:endParaRPr lang="en-US" sz="1600" dirty="0"/>
          </a:p>
        </p:txBody>
      </p:sp>
      <p:sp>
        <p:nvSpPr>
          <p:cNvPr id="13" name="Rectangle 4">
            <a:extLst>
              <a:ext uri="{FF2B5EF4-FFF2-40B4-BE49-F238E27FC236}">
                <a16:creationId xmlns:a16="http://schemas.microsoft.com/office/drawing/2014/main" id="{DFE576BB-2C94-4426-997C-A33FDA302349}"/>
              </a:ext>
            </a:extLst>
          </p:cNvPr>
          <p:cNvSpPr>
            <a:spLocks noChangeArrowheads="1"/>
          </p:cNvSpPr>
          <p:nvPr/>
        </p:nvSpPr>
        <p:spPr bwMode="auto">
          <a:xfrm>
            <a:off x="435684" y="4161426"/>
            <a:ext cx="5122432" cy="1877437"/>
          </a:xfrm>
          <a:prstGeom prst="rect">
            <a:avLst/>
          </a:prstGeom>
          <a:solidFill>
            <a:schemeClr val="tx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600" dirty="0">
                <a:solidFill>
                  <a:schemeClr val="accent6">
                    <a:lumMod val="75000"/>
                  </a:schemeClr>
                </a:solidFill>
                <a:latin typeface="Arial" panose="020B0604020202020204" pitchFamily="34" charset="0"/>
              </a:rPr>
              <a:t>Real life example:</a:t>
            </a:r>
            <a:endParaRPr kumimoji="0" lang="en-US" altLang="en-US" sz="1600" b="0" i="0" u="none" strike="noStrike" cap="none" normalizeH="0" baseline="0" dirty="0">
              <a:ln>
                <a:noFill/>
              </a:ln>
              <a:solidFill>
                <a:schemeClr val="accent6">
                  <a:lumMod val="75000"/>
                </a:schemeClr>
              </a:solidFill>
              <a:effectLst/>
              <a:latin typeface="Arial" panose="020B0604020202020204" pitchFamily="34" charset="0"/>
            </a:endParaRPr>
          </a:p>
          <a:p>
            <a:pPr eaLnBrk="0" fontAlgn="base" hangingPunct="0">
              <a:spcBef>
                <a:spcPct val="0"/>
              </a:spcBef>
              <a:spcAft>
                <a:spcPct val="0"/>
              </a:spcAft>
              <a:buFontTx/>
              <a:buChar char="•"/>
            </a:pPr>
            <a:r>
              <a:rPr kumimoji="0" lang="en-US" altLang="en-US" sz="1600" i="0" u="none" strike="noStrike" cap="none" normalizeH="0" baseline="0" dirty="0">
                <a:ln>
                  <a:noFill/>
                </a:ln>
                <a:solidFill>
                  <a:schemeClr val="tx1"/>
                </a:solidFill>
                <a:effectLst/>
                <a:latin typeface="Arial" panose="020B0604020202020204" pitchFamily="34" charset="0"/>
              </a:rPr>
              <a:t>Retailers use K‑Means to group customers based on purchasing behavior</a:t>
            </a:r>
          </a:p>
          <a:p>
            <a:pPr eaLnBrk="0" fontAlgn="base" hangingPunct="0">
              <a:spcBef>
                <a:spcPct val="0"/>
              </a:spcBef>
              <a:spcAft>
                <a:spcPct val="0"/>
              </a:spcAft>
              <a:buFontTx/>
              <a:buChar char="•"/>
            </a:pPr>
            <a:r>
              <a:rPr lang="en-US" sz="1600" dirty="0"/>
              <a:t>Used to group patients based on genetic markers or medical test results.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Helps in targeted marketing and personalized recommendations</a:t>
            </a:r>
          </a:p>
        </p:txBody>
      </p:sp>
      <p:sp>
        <p:nvSpPr>
          <p:cNvPr id="14" name="TextBox 13">
            <a:extLst>
              <a:ext uri="{FF2B5EF4-FFF2-40B4-BE49-F238E27FC236}">
                <a16:creationId xmlns:a16="http://schemas.microsoft.com/office/drawing/2014/main" id="{33B5C1FD-ACE3-474E-9656-58728FBC0F7D}"/>
              </a:ext>
            </a:extLst>
          </p:cNvPr>
          <p:cNvSpPr txBox="1"/>
          <p:nvPr/>
        </p:nvSpPr>
        <p:spPr>
          <a:xfrm>
            <a:off x="276111" y="216123"/>
            <a:ext cx="7191490" cy="523220"/>
          </a:xfrm>
          <a:prstGeom prst="rect">
            <a:avLst/>
          </a:prstGeom>
          <a:noFill/>
        </p:spPr>
        <p:txBody>
          <a:bodyPr wrap="square" rtlCol="0">
            <a:spAutoFit/>
          </a:bodyPr>
          <a:lstStyle/>
          <a:p>
            <a:r>
              <a:rPr lang="en-IN" sz="2800" b="1" dirty="0">
                <a:solidFill>
                  <a:schemeClr val="accent1">
                    <a:lumMod val="75000"/>
                  </a:schemeClr>
                </a:solidFill>
              </a:rPr>
              <a:t>K‑Means Clustering &amp; DBCAN Overview</a:t>
            </a:r>
          </a:p>
        </p:txBody>
      </p:sp>
      <p:sp>
        <p:nvSpPr>
          <p:cNvPr id="15" name="Rectangle 14">
            <a:extLst>
              <a:ext uri="{FF2B5EF4-FFF2-40B4-BE49-F238E27FC236}">
                <a16:creationId xmlns:a16="http://schemas.microsoft.com/office/drawing/2014/main" id="{B80C9C80-6433-4CCD-A8B1-C30F41B8918D}"/>
              </a:ext>
            </a:extLst>
          </p:cNvPr>
          <p:cNvSpPr/>
          <p:nvPr/>
        </p:nvSpPr>
        <p:spPr>
          <a:xfrm>
            <a:off x="11283946" y="6584434"/>
            <a:ext cx="418704" cy="369332"/>
          </a:xfrm>
          <a:prstGeom prst="rect">
            <a:avLst/>
          </a:prstGeom>
        </p:spPr>
        <p:txBody>
          <a:bodyPr wrap="none">
            <a:spAutoFit/>
          </a:bodyPr>
          <a:lstStyle/>
          <a:p>
            <a:r>
              <a:rPr lang="en-US" dirty="0">
                <a:solidFill>
                  <a:schemeClr val="bg1"/>
                </a:solidFill>
              </a:rPr>
              <a:t>12</a:t>
            </a:r>
            <a:endParaRPr lang="en-IN" dirty="0">
              <a:solidFill>
                <a:schemeClr val="bg1"/>
              </a:solidFill>
            </a:endParaRPr>
          </a:p>
        </p:txBody>
      </p:sp>
    </p:spTree>
    <p:extLst>
      <p:ext uri="{BB962C8B-B14F-4D97-AF65-F5344CB8AC3E}">
        <p14:creationId xmlns:p14="http://schemas.microsoft.com/office/powerpoint/2010/main" val="2154529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endParaRPr lang="en-US" sz="2800" dirty="0">
              <a:solidFill>
                <a:srgbClr val="002060"/>
              </a:solidFill>
            </a:endParaRPr>
          </a:p>
        </p:txBody>
      </p:sp>
      <p:sp>
        <p:nvSpPr>
          <p:cNvPr id="8" name="TextBox 7">
            <a:extLst>
              <a:ext uri="{FF2B5EF4-FFF2-40B4-BE49-F238E27FC236}">
                <a16:creationId xmlns:a16="http://schemas.microsoft.com/office/drawing/2014/main" id="{6E9F60DC-CA75-4938-ABFF-786DE6F1340D}"/>
              </a:ext>
            </a:extLst>
          </p:cNvPr>
          <p:cNvSpPr txBox="1"/>
          <p:nvPr/>
        </p:nvSpPr>
        <p:spPr>
          <a:xfrm>
            <a:off x="435685" y="994359"/>
            <a:ext cx="8287397" cy="2092881"/>
          </a:xfrm>
          <a:prstGeom prst="rect">
            <a:avLst/>
          </a:prstGeom>
          <a:solidFill>
            <a:schemeClr val="tx2">
              <a:lumMod val="20000"/>
              <a:lumOff val="80000"/>
            </a:schemeClr>
          </a:solidFill>
        </p:spPr>
        <p:txBody>
          <a:bodyPr wrap="none" rtlCol="0">
            <a:spAutoFit/>
          </a:bodyPr>
          <a:lstStyle/>
          <a:p>
            <a:r>
              <a:rPr lang="en-IN" sz="1600" b="1" dirty="0">
                <a:solidFill>
                  <a:srgbClr val="C00000"/>
                </a:solidFill>
              </a:rPr>
              <a:t>Principal Component Analysis (PCA)</a:t>
            </a:r>
          </a:p>
          <a:p>
            <a:pPr marL="285750" indent="-285750">
              <a:buFont typeface="Wingdings" panose="05000000000000000000" pitchFamily="2" charset="2"/>
              <a:buChar char="§"/>
            </a:pPr>
            <a:r>
              <a:rPr lang="en-IN" sz="1600" dirty="0"/>
              <a:t>A </a:t>
            </a:r>
            <a:r>
              <a:rPr lang="en-IN" sz="1600" b="1" dirty="0"/>
              <a:t>dimensionality reduction</a:t>
            </a:r>
            <a:r>
              <a:rPr lang="en-IN" sz="1600" dirty="0"/>
              <a:t> technique. </a:t>
            </a:r>
          </a:p>
          <a:p>
            <a:pPr marL="285750" indent="-285750">
              <a:buFont typeface="Wingdings" panose="05000000000000000000" pitchFamily="2" charset="2"/>
              <a:buChar char="§"/>
            </a:pPr>
            <a:r>
              <a:rPr lang="en-IN" sz="1600" dirty="0"/>
              <a:t>Converts high-dimensional data into fewer dimensions while retaining maximum information. </a:t>
            </a:r>
          </a:p>
          <a:p>
            <a:r>
              <a:rPr lang="en-IN" sz="1600" b="1" dirty="0">
                <a:solidFill>
                  <a:schemeClr val="accent6">
                    <a:lumMod val="75000"/>
                  </a:schemeClr>
                </a:solidFill>
              </a:rPr>
              <a:t>Principal Components</a:t>
            </a:r>
          </a:p>
          <a:p>
            <a:pPr marL="285750" indent="-285750">
              <a:buFont typeface="Arial" panose="020B0604020202020204" pitchFamily="34" charset="0"/>
              <a:buChar char="•"/>
            </a:pPr>
            <a:r>
              <a:rPr lang="en-IN" sz="1600" dirty="0"/>
              <a:t>New axes formed by combining original features. </a:t>
            </a:r>
          </a:p>
          <a:p>
            <a:pPr marL="285750" indent="-285750">
              <a:buFont typeface="Arial" panose="020B0604020202020204" pitchFamily="34" charset="0"/>
              <a:buChar char="•"/>
            </a:pPr>
            <a:r>
              <a:rPr lang="en-IN" sz="1600" b="1" dirty="0"/>
              <a:t>PC1</a:t>
            </a:r>
            <a:r>
              <a:rPr lang="en-IN" sz="1600" dirty="0"/>
              <a:t> captures the maximum variance. </a:t>
            </a:r>
          </a:p>
          <a:p>
            <a:pPr marL="285750" indent="-285750">
              <a:buFont typeface="Arial" panose="020B0604020202020204" pitchFamily="34" charset="0"/>
              <a:buChar char="•"/>
            </a:pPr>
            <a:r>
              <a:rPr lang="en-IN" sz="1600" b="1" dirty="0"/>
              <a:t>PC2</a:t>
            </a:r>
            <a:r>
              <a:rPr lang="en-IN" sz="1600" dirty="0"/>
              <a:t> captures the second-highest variance and is orthogonal to PC1.</a:t>
            </a:r>
          </a:p>
          <a:p>
            <a:r>
              <a:rPr lang="en-US" sz="1600" b="1" dirty="0">
                <a:solidFill>
                  <a:schemeClr val="accent4">
                    <a:lumMod val="75000"/>
                  </a:schemeClr>
                </a:solidFill>
              </a:rPr>
              <a:t>Use Case:</a:t>
            </a:r>
            <a:r>
              <a:rPr lang="en-US" sz="1600" dirty="0">
                <a:solidFill>
                  <a:schemeClr val="accent4">
                    <a:lumMod val="75000"/>
                  </a:schemeClr>
                </a:solidFill>
              </a:rPr>
              <a:t> </a:t>
            </a:r>
            <a:r>
              <a:rPr lang="en-US" sz="1600" dirty="0"/>
              <a:t>Reduces dimensionality, speeds up training, improves visualization.</a:t>
            </a:r>
            <a:endParaRPr lang="en-IN" sz="1600" dirty="0"/>
          </a:p>
        </p:txBody>
      </p:sp>
      <p:sp>
        <p:nvSpPr>
          <p:cNvPr id="9" name="TextBox 8">
            <a:extLst>
              <a:ext uri="{FF2B5EF4-FFF2-40B4-BE49-F238E27FC236}">
                <a16:creationId xmlns:a16="http://schemas.microsoft.com/office/drawing/2014/main" id="{65CC772F-67E9-4D07-839E-2F6C3140697B}"/>
              </a:ext>
            </a:extLst>
          </p:cNvPr>
          <p:cNvSpPr txBox="1"/>
          <p:nvPr/>
        </p:nvSpPr>
        <p:spPr>
          <a:xfrm>
            <a:off x="435685" y="3237115"/>
            <a:ext cx="5660315" cy="3293209"/>
          </a:xfrm>
          <a:prstGeom prst="rect">
            <a:avLst/>
          </a:prstGeom>
          <a:solidFill>
            <a:schemeClr val="accent3">
              <a:lumMod val="20000"/>
              <a:lumOff val="80000"/>
            </a:schemeClr>
          </a:solidFill>
        </p:spPr>
        <p:txBody>
          <a:bodyPr wrap="square" rtlCol="0">
            <a:spAutoFit/>
          </a:bodyPr>
          <a:lstStyle/>
          <a:p>
            <a:r>
              <a:rPr lang="en-US" sz="1600" b="1" dirty="0"/>
              <a:t>Visualizing Clusters in 2D</a:t>
            </a:r>
            <a:endParaRPr lang="en-IN" sz="1600" b="1" dirty="0"/>
          </a:p>
          <a:p>
            <a:pPr marL="285750" indent="-285750">
              <a:buFont typeface="Arial" panose="020B0604020202020204" pitchFamily="34" charset="0"/>
              <a:buChar char="•"/>
            </a:pPr>
            <a:r>
              <a:rPr lang="en-IN" sz="1600" dirty="0"/>
              <a:t>PCA reduces data to </a:t>
            </a:r>
            <a:r>
              <a:rPr lang="en-IN" sz="1600" b="1" dirty="0"/>
              <a:t>2 principal components (PC1 &amp; PC2)</a:t>
            </a:r>
            <a:r>
              <a:rPr lang="en-IN" sz="1600" dirty="0"/>
              <a:t>. </a:t>
            </a:r>
          </a:p>
          <a:p>
            <a:pPr marL="285750" indent="-285750">
              <a:buFont typeface="Arial" panose="020B0604020202020204" pitchFamily="34" charset="0"/>
              <a:buChar char="•"/>
            </a:pPr>
            <a:r>
              <a:rPr lang="en-IN" sz="1600" dirty="0"/>
              <a:t>Scatter plots display clusters clearly. </a:t>
            </a:r>
          </a:p>
          <a:p>
            <a:pPr marL="285750" indent="-285750">
              <a:buFont typeface="Arial" panose="020B0604020202020204" pitchFamily="34" charset="0"/>
              <a:buChar char="•"/>
            </a:pPr>
            <a:r>
              <a:rPr lang="en-IN" sz="1600" dirty="0"/>
              <a:t>Different colours represent different clusters. </a:t>
            </a:r>
          </a:p>
          <a:p>
            <a:pPr marL="285750" indent="-285750">
              <a:buFont typeface="Arial" panose="020B0604020202020204" pitchFamily="34" charset="0"/>
              <a:buChar char="•"/>
            </a:pPr>
            <a:r>
              <a:rPr lang="en-IN" sz="1600" dirty="0"/>
              <a:t>Helps evaluate clustering quality and identify overlapping clusters. </a:t>
            </a:r>
          </a:p>
          <a:p>
            <a:r>
              <a:rPr lang="en-IN" sz="1600" b="1" dirty="0">
                <a:solidFill>
                  <a:schemeClr val="accent4">
                    <a:lumMod val="75000"/>
                  </a:schemeClr>
                </a:solidFill>
              </a:rPr>
              <a:t>Applications:</a:t>
            </a:r>
          </a:p>
          <a:p>
            <a:pPr marL="285750" indent="-285750">
              <a:buFont typeface="Wingdings" panose="05000000000000000000" pitchFamily="2" charset="2"/>
              <a:buChar char="Ø"/>
            </a:pPr>
            <a:r>
              <a:rPr lang="en-IN" sz="1600" dirty="0"/>
              <a:t>Customer Segmentation </a:t>
            </a:r>
          </a:p>
          <a:p>
            <a:pPr marL="285750" indent="-285750">
              <a:buFont typeface="Wingdings" panose="05000000000000000000" pitchFamily="2" charset="2"/>
              <a:buChar char="Ø"/>
            </a:pPr>
            <a:r>
              <a:rPr lang="en-IN" sz="1600" dirty="0"/>
              <a:t>Market Analysis </a:t>
            </a:r>
          </a:p>
          <a:p>
            <a:pPr marL="285750" indent="-285750">
              <a:buFont typeface="Wingdings" panose="05000000000000000000" pitchFamily="2" charset="2"/>
              <a:buChar char="Ø"/>
            </a:pPr>
            <a:r>
              <a:rPr lang="en-IN" sz="1600" dirty="0"/>
              <a:t>Image Compression </a:t>
            </a:r>
          </a:p>
          <a:p>
            <a:pPr marL="285750" indent="-285750">
              <a:buFont typeface="Wingdings" panose="05000000000000000000" pitchFamily="2" charset="2"/>
              <a:buChar char="Ø"/>
            </a:pPr>
            <a:r>
              <a:rPr lang="en-IN" sz="1600" dirty="0"/>
              <a:t>Anomaly Detection </a:t>
            </a:r>
          </a:p>
          <a:p>
            <a:pPr marL="285750" indent="-285750">
              <a:buFont typeface="Wingdings" panose="05000000000000000000" pitchFamily="2" charset="2"/>
              <a:buChar char="Ø"/>
            </a:pPr>
            <a:r>
              <a:rPr lang="en-IN" sz="1600" dirty="0"/>
              <a:t>Pattern Recognition</a:t>
            </a:r>
          </a:p>
          <a:p>
            <a:endParaRPr lang="en-US" sz="1600" dirty="0"/>
          </a:p>
        </p:txBody>
      </p:sp>
      <p:sp>
        <p:nvSpPr>
          <p:cNvPr id="10" name="Rectangle 9">
            <a:extLst>
              <a:ext uri="{FF2B5EF4-FFF2-40B4-BE49-F238E27FC236}">
                <a16:creationId xmlns:a16="http://schemas.microsoft.com/office/drawing/2014/main" id="{B3CA9F8D-605C-488F-8152-0761D432AD5D}"/>
              </a:ext>
            </a:extLst>
          </p:cNvPr>
          <p:cNvSpPr/>
          <p:nvPr/>
        </p:nvSpPr>
        <p:spPr>
          <a:xfrm>
            <a:off x="11423945" y="6584434"/>
            <a:ext cx="418704" cy="369332"/>
          </a:xfrm>
          <a:prstGeom prst="rect">
            <a:avLst/>
          </a:prstGeom>
        </p:spPr>
        <p:txBody>
          <a:bodyPr wrap="none">
            <a:spAutoFit/>
          </a:bodyPr>
          <a:lstStyle/>
          <a:p>
            <a:r>
              <a:rPr lang="en-US" dirty="0">
                <a:solidFill>
                  <a:schemeClr val="bg1"/>
                </a:solidFill>
              </a:rPr>
              <a:t>13</a:t>
            </a:r>
            <a:endParaRPr lang="en-IN" dirty="0">
              <a:solidFill>
                <a:schemeClr val="bg1"/>
              </a:solidFill>
            </a:endParaRPr>
          </a:p>
        </p:txBody>
      </p:sp>
      <p:sp>
        <p:nvSpPr>
          <p:cNvPr id="11" name="Text 1">
            <a:extLst>
              <a:ext uri="{FF2B5EF4-FFF2-40B4-BE49-F238E27FC236}">
                <a16:creationId xmlns:a16="http://schemas.microsoft.com/office/drawing/2014/main" id="{47169DF4-F6C6-4296-B80A-DCCE16E371CF}"/>
              </a:ext>
            </a:extLst>
          </p:cNvPr>
          <p:cNvSpPr/>
          <p:nvPr/>
        </p:nvSpPr>
        <p:spPr>
          <a:xfrm>
            <a:off x="435685" y="-65844"/>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PCA &amp; Visualizing clusters</a:t>
            </a:r>
            <a:endParaRPr lang="en-US" sz="2800" dirty="0">
              <a:solidFill>
                <a:srgbClr val="002060"/>
              </a:solidFill>
            </a:endParaRPr>
          </a:p>
        </p:txBody>
      </p:sp>
    </p:spTree>
    <p:extLst>
      <p:ext uri="{BB962C8B-B14F-4D97-AF65-F5344CB8AC3E}">
        <p14:creationId xmlns:p14="http://schemas.microsoft.com/office/powerpoint/2010/main" val="3144364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Model evaluation &amp; Cross-validation strategies</a:t>
            </a:r>
            <a:endParaRPr lang="en-US" sz="2800" dirty="0">
              <a:solidFill>
                <a:srgbClr val="002060"/>
              </a:solidFill>
            </a:endParaRPr>
          </a:p>
        </p:txBody>
      </p:sp>
      <p:sp>
        <p:nvSpPr>
          <p:cNvPr id="7" name="TextBox 6">
            <a:extLst>
              <a:ext uri="{FF2B5EF4-FFF2-40B4-BE49-F238E27FC236}">
                <a16:creationId xmlns:a16="http://schemas.microsoft.com/office/drawing/2014/main" id="{3EE0BE1B-8D8E-4E66-983C-0A66F1C7012A}"/>
              </a:ext>
            </a:extLst>
          </p:cNvPr>
          <p:cNvSpPr txBox="1"/>
          <p:nvPr/>
        </p:nvSpPr>
        <p:spPr>
          <a:xfrm>
            <a:off x="435685" y="954018"/>
            <a:ext cx="4710056" cy="4893647"/>
          </a:xfrm>
          <a:prstGeom prst="rect">
            <a:avLst/>
          </a:prstGeom>
          <a:solidFill>
            <a:schemeClr val="tx2">
              <a:lumMod val="20000"/>
              <a:lumOff val="80000"/>
            </a:schemeClr>
          </a:solidFill>
        </p:spPr>
        <p:txBody>
          <a:bodyPr wrap="square" rtlCol="0">
            <a:spAutoFit/>
          </a:bodyPr>
          <a:lstStyle/>
          <a:p>
            <a:r>
              <a:rPr lang="en-IN" b="1" dirty="0">
                <a:solidFill>
                  <a:srgbClr val="C00000"/>
                </a:solidFill>
              </a:rPr>
              <a:t>Model Evaluation Metrics</a:t>
            </a:r>
          </a:p>
          <a:p>
            <a:pPr marL="285750" indent="-285750">
              <a:buFont typeface="Wingdings" panose="05000000000000000000" pitchFamily="2" charset="2"/>
              <a:buChar char="v"/>
            </a:pPr>
            <a:r>
              <a:rPr lang="en-IN" sz="1600" b="1" dirty="0">
                <a:solidFill>
                  <a:schemeClr val="accent1">
                    <a:lumMod val="75000"/>
                  </a:schemeClr>
                </a:solidFill>
              </a:rPr>
              <a:t> </a:t>
            </a:r>
            <a:r>
              <a:rPr lang="en-IN" b="1" dirty="0">
                <a:solidFill>
                  <a:schemeClr val="accent1">
                    <a:lumMod val="75000"/>
                  </a:schemeClr>
                </a:solidFill>
              </a:rPr>
              <a:t>Precision</a:t>
            </a:r>
          </a:p>
          <a:p>
            <a:pPr marL="285750" indent="-285750">
              <a:buFont typeface="Arial" panose="020B0604020202020204" pitchFamily="34" charset="0"/>
              <a:buChar char="•"/>
            </a:pPr>
            <a:r>
              <a:rPr lang="en-IN" sz="1600" dirty="0"/>
              <a:t>Measures the proportion of correctly predicted positive cases. </a:t>
            </a:r>
          </a:p>
          <a:p>
            <a:pPr marL="285750" indent="-285750">
              <a:buFont typeface="Arial" panose="020B0604020202020204" pitchFamily="34" charset="0"/>
              <a:buChar char="•"/>
            </a:pPr>
            <a:r>
              <a:rPr lang="en-IN" sz="1600" b="1" dirty="0"/>
              <a:t>Formula:</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High precision means </a:t>
            </a:r>
            <a:r>
              <a:rPr lang="en-IN" sz="1600" b="1" dirty="0"/>
              <a:t>fewer false positives</a:t>
            </a:r>
            <a:r>
              <a:rPr lang="en-IN" sz="1600" dirty="0"/>
              <a:t>.</a:t>
            </a:r>
          </a:p>
          <a:p>
            <a:pPr marL="285750" indent="-285750">
              <a:buFont typeface="Wingdings" panose="05000000000000000000" pitchFamily="2" charset="2"/>
              <a:buChar char="v"/>
            </a:pPr>
            <a:r>
              <a:rPr lang="en-IN" b="1" dirty="0">
                <a:solidFill>
                  <a:schemeClr val="accent1">
                    <a:lumMod val="75000"/>
                  </a:schemeClr>
                </a:solidFill>
              </a:rPr>
              <a:t>Recall (Sensitivity)</a:t>
            </a:r>
          </a:p>
          <a:p>
            <a:pPr marL="285750" indent="-285750">
              <a:buFont typeface="Arial" panose="020B0604020202020204" pitchFamily="34" charset="0"/>
              <a:buChar char="•"/>
            </a:pPr>
            <a:r>
              <a:rPr lang="en-IN" sz="1600" dirty="0"/>
              <a:t>Measures how many actual positive cases are correctly identified. </a:t>
            </a:r>
          </a:p>
          <a:p>
            <a:pPr marL="285750" indent="-285750">
              <a:buFont typeface="Arial" panose="020B0604020202020204" pitchFamily="34" charset="0"/>
              <a:buChar char="•"/>
            </a:pPr>
            <a:r>
              <a:rPr lang="en-IN" sz="1600" b="1" dirty="0"/>
              <a:t>Formula:</a:t>
            </a:r>
            <a:endParaRPr lang="en-IN" sz="1600" dirty="0"/>
          </a:p>
          <a:p>
            <a:r>
              <a:rPr lang="en-IN" sz="1600" dirty="0"/>
              <a:t>​ </a:t>
            </a:r>
          </a:p>
          <a:p>
            <a:pPr marL="285750" indent="-285750">
              <a:buFont typeface="Arial" panose="020B0604020202020204" pitchFamily="34" charset="0"/>
              <a:buChar char="•"/>
            </a:pPr>
            <a:r>
              <a:rPr lang="en-IN" sz="1600" dirty="0"/>
              <a:t>High recall means </a:t>
            </a:r>
            <a:r>
              <a:rPr lang="en-IN" sz="1600" b="1" dirty="0"/>
              <a:t>fewer false negatives</a:t>
            </a:r>
            <a:r>
              <a:rPr lang="en-IN" sz="1600" dirty="0"/>
              <a:t>.</a:t>
            </a:r>
          </a:p>
          <a:p>
            <a:pPr marL="285750" indent="-285750">
              <a:buFont typeface="Wingdings" panose="05000000000000000000" pitchFamily="2" charset="2"/>
              <a:buChar char="v"/>
            </a:pPr>
            <a:r>
              <a:rPr lang="en-IN" b="1" dirty="0">
                <a:solidFill>
                  <a:schemeClr val="accent1">
                    <a:lumMod val="75000"/>
                  </a:schemeClr>
                </a:solidFill>
              </a:rPr>
              <a:t>F1-Score</a:t>
            </a:r>
          </a:p>
          <a:p>
            <a:pPr marL="285750" indent="-285750">
              <a:buFont typeface="Arial" panose="020B0604020202020204" pitchFamily="34" charset="0"/>
              <a:buChar char="•"/>
            </a:pPr>
            <a:r>
              <a:rPr lang="en-IN" sz="1600" dirty="0"/>
              <a:t>Harmonic mean of Precision and Recall. </a:t>
            </a:r>
          </a:p>
          <a:p>
            <a:pPr marL="285750" indent="-285750">
              <a:buFont typeface="Arial" panose="020B0604020202020204" pitchFamily="34" charset="0"/>
              <a:buChar char="•"/>
            </a:pPr>
            <a:r>
              <a:rPr lang="en-IN" sz="1600" b="1" dirty="0"/>
              <a:t>Formula:</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Useful for </a:t>
            </a:r>
            <a:r>
              <a:rPr lang="en-IN" sz="1600" b="1" dirty="0"/>
              <a:t>imbalanced datasets</a:t>
            </a:r>
            <a:r>
              <a:rPr lang="en-IN" sz="1600" dirty="0"/>
              <a:t>.</a:t>
            </a:r>
          </a:p>
          <a:p>
            <a:pPr marL="285750" indent="-285750">
              <a:buFont typeface="Arial" panose="020B0604020202020204" pitchFamily="34" charset="0"/>
              <a:buChar char="•"/>
            </a:pPr>
            <a:endParaRPr lang="en-IN" sz="1600" dirty="0"/>
          </a:p>
        </p:txBody>
      </p:sp>
      <p:sp>
        <p:nvSpPr>
          <p:cNvPr id="8" name="TextBox 7">
            <a:extLst>
              <a:ext uri="{FF2B5EF4-FFF2-40B4-BE49-F238E27FC236}">
                <a16:creationId xmlns:a16="http://schemas.microsoft.com/office/drawing/2014/main" id="{260BAF2E-6DBF-437E-B7DB-695C87B94449}"/>
              </a:ext>
            </a:extLst>
          </p:cNvPr>
          <p:cNvSpPr txBox="1"/>
          <p:nvPr/>
        </p:nvSpPr>
        <p:spPr>
          <a:xfrm>
            <a:off x="5230905" y="954018"/>
            <a:ext cx="6333565" cy="1631216"/>
          </a:xfrm>
          <a:prstGeom prst="rect">
            <a:avLst/>
          </a:prstGeom>
          <a:solidFill>
            <a:schemeClr val="tx2">
              <a:lumMod val="20000"/>
              <a:lumOff val="80000"/>
            </a:schemeClr>
          </a:solidFill>
        </p:spPr>
        <p:txBody>
          <a:bodyPr wrap="square" rtlCol="0">
            <a:spAutoFit/>
          </a:bodyPr>
          <a:lstStyle/>
          <a:p>
            <a:pPr marL="285750" indent="-285750">
              <a:buFont typeface="Wingdings" panose="05000000000000000000" pitchFamily="2" charset="2"/>
              <a:buChar char="v"/>
            </a:pPr>
            <a:r>
              <a:rPr lang="en-IN" b="1" dirty="0">
                <a:solidFill>
                  <a:schemeClr val="accent1">
                    <a:lumMod val="75000"/>
                  </a:schemeClr>
                </a:solidFill>
              </a:rPr>
              <a:t>ROC-AUC</a:t>
            </a:r>
          </a:p>
          <a:p>
            <a:pPr marL="285750" indent="-285750">
              <a:buFont typeface="Arial" panose="020B0604020202020204" pitchFamily="34" charset="0"/>
              <a:buChar char="•"/>
            </a:pPr>
            <a:r>
              <a:rPr lang="en-IN" sz="1600" b="1" dirty="0"/>
              <a:t>ROC Curve:</a:t>
            </a:r>
            <a:r>
              <a:rPr lang="en-IN" sz="1600" dirty="0"/>
              <a:t> Plots True Positive Rate vs False Positive Rate. </a:t>
            </a:r>
          </a:p>
          <a:p>
            <a:pPr marL="285750" indent="-285750">
              <a:buFont typeface="Arial" panose="020B0604020202020204" pitchFamily="34" charset="0"/>
              <a:buChar char="•"/>
            </a:pPr>
            <a:r>
              <a:rPr lang="en-IN" sz="1600" b="1" dirty="0"/>
              <a:t>AUC (Area Under Curve):</a:t>
            </a:r>
            <a:r>
              <a:rPr lang="en-IN" sz="1600" dirty="0"/>
              <a:t> </a:t>
            </a:r>
          </a:p>
          <a:p>
            <a:pPr lvl="1"/>
            <a:r>
              <a:rPr lang="en-IN" sz="1600" b="1" dirty="0"/>
              <a:t>1.0 = Perfect model</a:t>
            </a:r>
            <a:r>
              <a:rPr lang="en-IN" sz="1600" dirty="0"/>
              <a:t> </a:t>
            </a:r>
          </a:p>
          <a:p>
            <a:pPr lvl="1"/>
            <a:r>
              <a:rPr lang="en-IN" sz="1600" b="1" dirty="0"/>
              <a:t>0.5 = Random prediction</a:t>
            </a:r>
            <a:r>
              <a:rPr lang="en-IN" sz="1600" dirty="0"/>
              <a:t> </a:t>
            </a:r>
          </a:p>
          <a:p>
            <a:pPr marL="285750" indent="-285750">
              <a:buFont typeface="Arial" panose="020B0604020202020204" pitchFamily="34" charset="0"/>
              <a:buChar char="•"/>
            </a:pPr>
            <a:r>
              <a:rPr lang="en-IN" sz="1600" dirty="0"/>
              <a:t>Higher AUC indicates better classification performance</a:t>
            </a:r>
            <a:r>
              <a:rPr lang="en-IN" dirty="0"/>
              <a:t>. </a:t>
            </a:r>
          </a:p>
        </p:txBody>
      </p:sp>
      <p:sp>
        <p:nvSpPr>
          <p:cNvPr id="11" name="TextBox 10">
            <a:extLst>
              <a:ext uri="{FF2B5EF4-FFF2-40B4-BE49-F238E27FC236}">
                <a16:creationId xmlns:a16="http://schemas.microsoft.com/office/drawing/2014/main" id="{A938DBAA-C5D2-4057-83A4-A04E96BA28A4}"/>
              </a:ext>
            </a:extLst>
          </p:cNvPr>
          <p:cNvSpPr txBox="1"/>
          <p:nvPr/>
        </p:nvSpPr>
        <p:spPr>
          <a:xfrm>
            <a:off x="5230906" y="2680117"/>
            <a:ext cx="6333564" cy="3077766"/>
          </a:xfrm>
          <a:prstGeom prst="rect">
            <a:avLst/>
          </a:prstGeom>
          <a:solidFill>
            <a:schemeClr val="bg2">
              <a:lumMod val="90000"/>
            </a:schemeClr>
          </a:solidFill>
        </p:spPr>
        <p:txBody>
          <a:bodyPr wrap="square" rtlCol="0">
            <a:spAutoFit/>
          </a:bodyPr>
          <a:lstStyle/>
          <a:p>
            <a:r>
              <a:rPr lang="en-IN" b="1" dirty="0">
                <a:solidFill>
                  <a:srgbClr val="C00000"/>
                </a:solidFill>
              </a:rPr>
              <a:t>Cross-Validation Strategies</a:t>
            </a:r>
          </a:p>
          <a:p>
            <a:pPr marL="285750" indent="-285750">
              <a:buFont typeface="Arial" panose="020B0604020202020204" pitchFamily="34" charset="0"/>
              <a:buChar char="•"/>
            </a:pPr>
            <a:r>
              <a:rPr lang="en-IN" sz="1600" dirty="0"/>
              <a:t>Used to evaluate model performance on unseen data. </a:t>
            </a:r>
          </a:p>
          <a:p>
            <a:pPr marL="285750" indent="-285750">
              <a:buFont typeface="Arial" panose="020B0604020202020204" pitchFamily="34" charset="0"/>
              <a:buChar char="•"/>
            </a:pPr>
            <a:r>
              <a:rPr lang="en-IN" sz="1600" dirty="0"/>
              <a:t>Common methods: </a:t>
            </a:r>
          </a:p>
          <a:p>
            <a:pPr marL="742950" lvl="1" indent="-285750">
              <a:buFont typeface="Wingdings" panose="05000000000000000000" pitchFamily="2" charset="2"/>
              <a:buChar char="§"/>
            </a:pPr>
            <a:r>
              <a:rPr lang="en-IN" sz="1600" b="1" dirty="0"/>
              <a:t>Train-Test Split</a:t>
            </a:r>
            <a:r>
              <a:rPr lang="en-IN" sz="1600" dirty="0"/>
              <a:t> </a:t>
            </a:r>
          </a:p>
          <a:p>
            <a:pPr marL="742950" lvl="1" indent="-285750">
              <a:buFont typeface="Wingdings" panose="05000000000000000000" pitchFamily="2" charset="2"/>
              <a:buChar char="§"/>
            </a:pPr>
            <a:r>
              <a:rPr lang="en-IN" sz="1600" b="1" dirty="0"/>
              <a:t>K-Fold Cross-Validation</a:t>
            </a:r>
            <a:r>
              <a:rPr lang="en-IN" sz="1600" dirty="0"/>
              <a:t> </a:t>
            </a:r>
          </a:p>
          <a:p>
            <a:pPr marL="742950" lvl="1" indent="-285750">
              <a:buFont typeface="Wingdings" panose="05000000000000000000" pitchFamily="2" charset="2"/>
              <a:buChar char="§"/>
            </a:pPr>
            <a:r>
              <a:rPr lang="en-IN" sz="1600" b="1" dirty="0"/>
              <a:t>Stratified K-Fold</a:t>
            </a:r>
            <a:r>
              <a:rPr lang="en-IN" sz="1600" dirty="0"/>
              <a:t> </a:t>
            </a:r>
          </a:p>
          <a:p>
            <a:pPr marL="742950" lvl="1" indent="-285750">
              <a:buFont typeface="Wingdings" panose="05000000000000000000" pitchFamily="2" charset="2"/>
              <a:buChar char="§"/>
            </a:pPr>
            <a:r>
              <a:rPr lang="en-IN" sz="1600" b="1" dirty="0"/>
              <a:t>Leave-One-Out Cross-Validation (LOOCV)</a:t>
            </a:r>
            <a:r>
              <a:rPr lang="en-IN" sz="1600" dirty="0"/>
              <a:t> </a:t>
            </a:r>
          </a:p>
          <a:p>
            <a:r>
              <a:rPr lang="en-IN" sz="1600" b="1" dirty="0">
                <a:solidFill>
                  <a:schemeClr val="accent6">
                    <a:lumMod val="75000"/>
                  </a:schemeClr>
                </a:solidFill>
              </a:rPr>
              <a:t>Advantages:</a:t>
            </a:r>
            <a:endParaRPr lang="en-IN" sz="1600" dirty="0">
              <a:solidFill>
                <a:schemeClr val="accent6">
                  <a:lumMod val="75000"/>
                </a:schemeClr>
              </a:solidFill>
            </a:endParaRPr>
          </a:p>
          <a:p>
            <a:pPr marL="285750" indent="-285750">
              <a:buFont typeface="Wingdings" panose="05000000000000000000" pitchFamily="2" charset="2"/>
              <a:buChar char="ü"/>
            </a:pPr>
            <a:r>
              <a:rPr lang="en-IN" sz="1600" dirty="0"/>
              <a:t>Reduces overfitting. </a:t>
            </a:r>
          </a:p>
          <a:p>
            <a:pPr marL="285750" indent="-285750">
              <a:buFont typeface="Wingdings" panose="05000000000000000000" pitchFamily="2" charset="2"/>
              <a:buChar char="ü"/>
            </a:pPr>
            <a:r>
              <a:rPr lang="en-IN" sz="1600" dirty="0"/>
              <a:t>Provides a more reliable estimate of model accuracy. </a:t>
            </a:r>
          </a:p>
          <a:p>
            <a:pPr marL="285750" indent="-285750">
              <a:buFont typeface="Wingdings" panose="05000000000000000000" pitchFamily="2" charset="2"/>
              <a:buChar char="ü"/>
            </a:pPr>
            <a:r>
              <a:rPr lang="en-IN" sz="1600" dirty="0"/>
              <a:t>Makes better use of available data. </a:t>
            </a:r>
          </a:p>
          <a:p>
            <a:endParaRPr lang="en-IN" sz="1600" dirty="0"/>
          </a:p>
        </p:txBody>
      </p:sp>
      <p:pic>
        <p:nvPicPr>
          <p:cNvPr id="12" name="Picture 11">
            <a:extLst>
              <a:ext uri="{FF2B5EF4-FFF2-40B4-BE49-F238E27FC236}">
                <a16:creationId xmlns:a16="http://schemas.microsoft.com/office/drawing/2014/main" id="{6CB629E2-BFB9-4B0A-9FBD-22C4B890109B}"/>
              </a:ext>
            </a:extLst>
          </p:cNvPr>
          <p:cNvPicPr>
            <a:picLocks noChangeAspect="1"/>
          </p:cNvPicPr>
          <p:nvPr/>
        </p:nvPicPr>
        <p:blipFill>
          <a:blip r:embed="rId4"/>
          <a:stretch>
            <a:fillRect/>
          </a:stretch>
        </p:blipFill>
        <p:spPr>
          <a:xfrm>
            <a:off x="1605095" y="2057007"/>
            <a:ext cx="1667023" cy="450547"/>
          </a:xfrm>
          <a:prstGeom prst="rect">
            <a:avLst/>
          </a:prstGeom>
        </p:spPr>
      </p:pic>
      <p:pic>
        <p:nvPicPr>
          <p:cNvPr id="13" name="Picture 12">
            <a:extLst>
              <a:ext uri="{FF2B5EF4-FFF2-40B4-BE49-F238E27FC236}">
                <a16:creationId xmlns:a16="http://schemas.microsoft.com/office/drawing/2014/main" id="{1175B51A-03F1-424C-B1BD-98D39EF6C62F}"/>
              </a:ext>
            </a:extLst>
          </p:cNvPr>
          <p:cNvPicPr>
            <a:picLocks noChangeAspect="1"/>
          </p:cNvPicPr>
          <p:nvPr/>
        </p:nvPicPr>
        <p:blipFill>
          <a:blip r:embed="rId5"/>
          <a:stretch>
            <a:fillRect/>
          </a:stretch>
        </p:blipFill>
        <p:spPr>
          <a:xfrm>
            <a:off x="1605095" y="3583260"/>
            <a:ext cx="1419423" cy="438211"/>
          </a:xfrm>
          <a:prstGeom prst="rect">
            <a:avLst/>
          </a:prstGeom>
        </p:spPr>
      </p:pic>
      <p:pic>
        <p:nvPicPr>
          <p:cNvPr id="14" name="Picture 13">
            <a:extLst>
              <a:ext uri="{FF2B5EF4-FFF2-40B4-BE49-F238E27FC236}">
                <a16:creationId xmlns:a16="http://schemas.microsoft.com/office/drawing/2014/main" id="{0E0FBD8D-8BAB-411E-A9E6-A6CE06D08AB8}"/>
              </a:ext>
            </a:extLst>
          </p:cNvPr>
          <p:cNvPicPr>
            <a:picLocks noChangeAspect="1"/>
          </p:cNvPicPr>
          <p:nvPr/>
        </p:nvPicPr>
        <p:blipFill>
          <a:blip r:embed="rId6"/>
          <a:stretch>
            <a:fillRect/>
          </a:stretch>
        </p:blipFill>
        <p:spPr>
          <a:xfrm>
            <a:off x="1605095" y="4762635"/>
            <a:ext cx="2082917" cy="513724"/>
          </a:xfrm>
          <a:prstGeom prst="rect">
            <a:avLst/>
          </a:prstGeom>
        </p:spPr>
      </p:pic>
      <p:sp>
        <p:nvSpPr>
          <p:cNvPr id="15" name="Rectangle 14">
            <a:extLst>
              <a:ext uri="{FF2B5EF4-FFF2-40B4-BE49-F238E27FC236}">
                <a16:creationId xmlns:a16="http://schemas.microsoft.com/office/drawing/2014/main" id="{E1B4E02D-CE29-4667-AF95-949087E64A4C}"/>
              </a:ext>
            </a:extLst>
          </p:cNvPr>
          <p:cNvSpPr/>
          <p:nvPr/>
        </p:nvSpPr>
        <p:spPr>
          <a:xfrm>
            <a:off x="11283946" y="6584434"/>
            <a:ext cx="418704" cy="369332"/>
          </a:xfrm>
          <a:prstGeom prst="rect">
            <a:avLst/>
          </a:prstGeom>
        </p:spPr>
        <p:txBody>
          <a:bodyPr wrap="none">
            <a:spAutoFit/>
          </a:bodyPr>
          <a:lstStyle/>
          <a:p>
            <a:r>
              <a:rPr lang="en-US" dirty="0">
                <a:solidFill>
                  <a:schemeClr val="bg1"/>
                </a:solidFill>
              </a:rPr>
              <a:t>14</a:t>
            </a:r>
            <a:endParaRPr lang="en-IN" dirty="0">
              <a:solidFill>
                <a:schemeClr val="bg1"/>
              </a:solidFill>
            </a:endParaRPr>
          </a:p>
        </p:txBody>
      </p:sp>
    </p:spTree>
    <p:extLst>
      <p:ext uri="{BB962C8B-B14F-4D97-AF65-F5344CB8AC3E}">
        <p14:creationId xmlns:p14="http://schemas.microsoft.com/office/powerpoint/2010/main" val="2431261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IN" sz="2800" b="1" dirty="0">
                <a:solidFill>
                  <a:schemeClr val="accent1">
                    <a:lumMod val="75000"/>
                  </a:schemeClr>
                </a:solidFill>
              </a:rPr>
              <a:t>Hyperparameter Tuning &amp; Bias-Variance </a:t>
            </a:r>
            <a:r>
              <a:rPr lang="en-IN" sz="2800" b="1" dirty="0" err="1">
                <a:solidFill>
                  <a:schemeClr val="accent1">
                    <a:lumMod val="75000"/>
                  </a:schemeClr>
                </a:solidFill>
              </a:rPr>
              <a:t>Tradeoff</a:t>
            </a:r>
            <a:endParaRPr lang="en-US" sz="2800" b="1" dirty="0">
              <a:solidFill>
                <a:schemeClr val="accent1">
                  <a:lumMod val="75000"/>
                </a:schemeClr>
              </a:solidFill>
            </a:endParaRPr>
          </a:p>
        </p:txBody>
      </p:sp>
      <p:sp>
        <p:nvSpPr>
          <p:cNvPr id="7" name="TextBox 6">
            <a:extLst>
              <a:ext uri="{FF2B5EF4-FFF2-40B4-BE49-F238E27FC236}">
                <a16:creationId xmlns:a16="http://schemas.microsoft.com/office/drawing/2014/main" id="{0767DB70-A661-4E00-9BB8-E653A09B12A1}"/>
              </a:ext>
            </a:extLst>
          </p:cNvPr>
          <p:cNvSpPr txBox="1"/>
          <p:nvPr/>
        </p:nvSpPr>
        <p:spPr>
          <a:xfrm>
            <a:off x="435685" y="924531"/>
            <a:ext cx="5248836" cy="5078313"/>
          </a:xfrm>
          <a:prstGeom prst="rect">
            <a:avLst/>
          </a:prstGeom>
          <a:noFill/>
        </p:spPr>
        <p:txBody>
          <a:bodyPr wrap="square" rtlCol="0">
            <a:spAutoFit/>
          </a:bodyPr>
          <a:lstStyle/>
          <a:p>
            <a:r>
              <a:rPr lang="en-IN" b="1" dirty="0">
                <a:solidFill>
                  <a:srgbClr val="C00000"/>
                </a:solidFill>
              </a:rPr>
              <a:t>Hyperparameter Tuning &amp; Bias-Variance </a:t>
            </a:r>
            <a:r>
              <a:rPr lang="en-IN" b="1" dirty="0" err="1">
                <a:solidFill>
                  <a:srgbClr val="C00000"/>
                </a:solidFill>
              </a:rPr>
              <a:t>Tradeoff</a:t>
            </a:r>
            <a:endParaRPr lang="en-US" b="1" dirty="0">
              <a:solidFill>
                <a:srgbClr val="C00000"/>
              </a:solidFill>
            </a:endParaRPr>
          </a:p>
          <a:p>
            <a:r>
              <a:rPr lang="en-US" b="1" dirty="0" err="1">
                <a:solidFill>
                  <a:schemeClr val="accent1">
                    <a:lumMod val="60000"/>
                    <a:lumOff val="40000"/>
                  </a:schemeClr>
                </a:solidFill>
              </a:rPr>
              <a:t>GridSearchCV</a:t>
            </a:r>
            <a:r>
              <a:rPr lang="en-US" b="1" dirty="0">
                <a:solidFill>
                  <a:schemeClr val="accent1">
                    <a:lumMod val="60000"/>
                    <a:lumOff val="40000"/>
                  </a:schemeClr>
                </a:solidFill>
              </a:rPr>
              <a:t>:</a:t>
            </a:r>
          </a:p>
          <a:p>
            <a:pPr marL="342900" indent="-342900">
              <a:buFont typeface="Wingdings" panose="05000000000000000000" pitchFamily="2" charset="2"/>
              <a:buChar char="§"/>
            </a:pPr>
            <a:r>
              <a:rPr lang="en-US" dirty="0"/>
              <a:t>Tests </a:t>
            </a:r>
            <a:r>
              <a:rPr lang="en-US" b="1" dirty="0"/>
              <a:t>all possible combinations</a:t>
            </a:r>
            <a:r>
              <a:rPr lang="en-US" dirty="0"/>
              <a:t> of hyperparameters. </a:t>
            </a:r>
          </a:p>
          <a:p>
            <a:pPr marL="342900" indent="-342900">
              <a:buFont typeface="Wingdings" panose="05000000000000000000" pitchFamily="2" charset="2"/>
              <a:buChar char="§"/>
            </a:pPr>
            <a:r>
              <a:rPr lang="en-US" dirty="0"/>
              <a:t>Finds the best parameter set using cross-validation. </a:t>
            </a:r>
          </a:p>
          <a:p>
            <a:pPr marL="342900" indent="-342900">
              <a:buFont typeface="Wingdings" panose="05000000000000000000" pitchFamily="2" charset="2"/>
              <a:buChar char="§"/>
            </a:pPr>
            <a:r>
              <a:rPr lang="en-US" b="1" dirty="0"/>
              <a:t>Advantage:</a:t>
            </a:r>
            <a:r>
              <a:rPr lang="en-US" dirty="0"/>
              <a:t> Highly accurate. </a:t>
            </a:r>
          </a:p>
          <a:p>
            <a:pPr marL="342900" indent="-342900">
              <a:buFont typeface="Wingdings" panose="05000000000000000000" pitchFamily="2" charset="2"/>
              <a:buChar char="§"/>
            </a:pPr>
            <a:r>
              <a:rPr lang="en-US" b="1" dirty="0"/>
              <a:t>Disadvantage:</a:t>
            </a:r>
            <a:r>
              <a:rPr lang="en-US" dirty="0"/>
              <a:t> Computationally expensive.</a:t>
            </a:r>
          </a:p>
          <a:p>
            <a:r>
              <a:rPr lang="en-US" b="1" dirty="0" err="1">
                <a:solidFill>
                  <a:schemeClr val="accent1">
                    <a:lumMod val="60000"/>
                    <a:lumOff val="40000"/>
                  </a:schemeClr>
                </a:solidFill>
              </a:rPr>
              <a:t>RandomizedSearchCV</a:t>
            </a:r>
            <a:r>
              <a:rPr lang="en-US" b="1" dirty="0">
                <a:solidFill>
                  <a:schemeClr val="accent1">
                    <a:lumMod val="60000"/>
                    <a:lumOff val="40000"/>
                  </a:schemeClr>
                </a:solidFill>
              </a:rPr>
              <a:t>:</a:t>
            </a:r>
          </a:p>
          <a:p>
            <a:pPr marL="285750" indent="-285750">
              <a:buFont typeface="Wingdings" panose="05000000000000000000" pitchFamily="2" charset="2"/>
              <a:buChar char="§"/>
            </a:pPr>
            <a:r>
              <a:rPr lang="en-US" dirty="0"/>
              <a:t>Tests </a:t>
            </a:r>
            <a:r>
              <a:rPr lang="en-US" b="1" dirty="0"/>
              <a:t>random combinations</a:t>
            </a:r>
            <a:r>
              <a:rPr lang="en-US" dirty="0"/>
              <a:t> of hyperparameters. </a:t>
            </a:r>
          </a:p>
          <a:p>
            <a:pPr marL="285750" indent="-285750">
              <a:buFont typeface="Wingdings" panose="05000000000000000000" pitchFamily="2" charset="2"/>
              <a:buChar char="§"/>
            </a:pPr>
            <a:r>
              <a:rPr lang="en-US" dirty="0"/>
              <a:t>Faster than </a:t>
            </a:r>
            <a:r>
              <a:rPr lang="en-US" dirty="0" err="1"/>
              <a:t>GridSearchCV</a:t>
            </a:r>
            <a:r>
              <a:rPr lang="en-US" dirty="0"/>
              <a:t>. </a:t>
            </a:r>
          </a:p>
          <a:p>
            <a:pPr marL="285750" indent="-285750">
              <a:buFont typeface="Wingdings" panose="05000000000000000000" pitchFamily="2" charset="2"/>
              <a:buChar char="§"/>
            </a:pPr>
            <a:r>
              <a:rPr lang="en-US" dirty="0"/>
              <a:t>Suitable for large parameter spaces.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endParaRPr lang="en-US" dirty="0"/>
          </a:p>
        </p:txBody>
      </p:sp>
      <p:graphicFrame>
        <p:nvGraphicFramePr>
          <p:cNvPr id="8" name="Table 7">
            <a:extLst>
              <a:ext uri="{FF2B5EF4-FFF2-40B4-BE49-F238E27FC236}">
                <a16:creationId xmlns:a16="http://schemas.microsoft.com/office/drawing/2014/main" id="{BB11580C-E72B-4C7B-8D7A-8579E2091AD9}"/>
              </a:ext>
            </a:extLst>
          </p:cNvPr>
          <p:cNvGraphicFramePr>
            <a:graphicFrameLocks noGrp="1"/>
          </p:cNvGraphicFramePr>
          <p:nvPr>
            <p:extLst>
              <p:ext uri="{D42A27DB-BD31-4B8C-83A1-F6EECF244321}">
                <p14:modId xmlns:p14="http://schemas.microsoft.com/office/powerpoint/2010/main" val="3614415526"/>
              </p:ext>
            </p:extLst>
          </p:nvPr>
        </p:nvGraphicFramePr>
        <p:xfrm>
          <a:off x="561190" y="4450109"/>
          <a:ext cx="4880385" cy="1483360"/>
        </p:xfrm>
        <a:graphic>
          <a:graphicData uri="http://schemas.openxmlformats.org/drawingml/2006/table">
            <a:tbl>
              <a:tblPr firstRow="1" bandRow="1">
                <a:tableStyleId>{5C22544A-7EE6-4342-B048-85BDC9FD1C3A}</a:tableStyleId>
              </a:tblPr>
              <a:tblGrid>
                <a:gridCol w="2420724">
                  <a:extLst>
                    <a:ext uri="{9D8B030D-6E8A-4147-A177-3AD203B41FA5}">
                      <a16:colId xmlns:a16="http://schemas.microsoft.com/office/drawing/2014/main" val="163087338"/>
                    </a:ext>
                  </a:extLst>
                </a:gridCol>
                <a:gridCol w="2459661">
                  <a:extLst>
                    <a:ext uri="{9D8B030D-6E8A-4147-A177-3AD203B41FA5}">
                      <a16:colId xmlns:a16="http://schemas.microsoft.com/office/drawing/2014/main" val="2802997414"/>
                    </a:ext>
                  </a:extLst>
                </a:gridCol>
              </a:tblGrid>
              <a:tr h="370840">
                <a:tc>
                  <a:txBody>
                    <a:bodyPr/>
                    <a:lstStyle/>
                    <a:p>
                      <a:r>
                        <a:rPr lang="en-IN" sz="1600" dirty="0" err="1"/>
                        <a:t>GridSearchCV</a:t>
                      </a:r>
                      <a:endParaRPr lang="en-IN" sz="1600" dirty="0"/>
                    </a:p>
                  </a:txBody>
                  <a:tcPr anchor="ctr"/>
                </a:tc>
                <a:tc>
                  <a:txBody>
                    <a:bodyPr/>
                    <a:lstStyle/>
                    <a:p>
                      <a:r>
                        <a:rPr lang="en-IN" sz="1600"/>
                        <a:t>RandomizedSearchCV</a:t>
                      </a:r>
                    </a:p>
                  </a:txBody>
                  <a:tcPr anchor="ctr"/>
                </a:tc>
                <a:extLst>
                  <a:ext uri="{0D108BD9-81ED-4DB2-BD59-A6C34878D82A}">
                    <a16:rowId xmlns:a16="http://schemas.microsoft.com/office/drawing/2014/main" val="3026231265"/>
                  </a:ext>
                </a:extLst>
              </a:tr>
              <a:tr h="370840">
                <a:tc>
                  <a:txBody>
                    <a:bodyPr/>
                    <a:lstStyle/>
                    <a:p>
                      <a:r>
                        <a:rPr lang="en-IN" sz="1600" dirty="0"/>
                        <a:t>Exhaustive Search</a:t>
                      </a:r>
                    </a:p>
                  </a:txBody>
                  <a:tcPr anchor="ctr"/>
                </a:tc>
                <a:tc>
                  <a:txBody>
                    <a:bodyPr/>
                    <a:lstStyle/>
                    <a:p>
                      <a:r>
                        <a:rPr lang="en-IN" sz="1600"/>
                        <a:t>Random Search</a:t>
                      </a:r>
                    </a:p>
                  </a:txBody>
                  <a:tcPr anchor="ctr"/>
                </a:tc>
                <a:extLst>
                  <a:ext uri="{0D108BD9-81ED-4DB2-BD59-A6C34878D82A}">
                    <a16:rowId xmlns:a16="http://schemas.microsoft.com/office/drawing/2014/main" val="2966565907"/>
                  </a:ext>
                </a:extLst>
              </a:tr>
              <a:tr h="370840">
                <a:tc>
                  <a:txBody>
                    <a:bodyPr/>
                    <a:lstStyle/>
                    <a:p>
                      <a:r>
                        <a:rPr lang="en-IN" sz="1600" dirty="0"/>
                        <a:t>Higher Accuracy</a:t>
                      </a:r>
                    </a:p>
                  </a:txBody>
                  <a:tcPr anchor="ctr"/>
                </a:tc>
                <a:tc>
                  <a:txBody>
                    <a:bodyPr/>
                    <a:lstStyle/>
                    <a:p>
                      <a:r>
                        <a:rPr lang="en-IN" sz="1600" dirty="0"/>
                        <a:t>Faster Execution</a:t>
                      </a:r>
                    </a:p>
                  </a:txBody>
                  <a:tcPr anchor="ctr"/>
                </a:tc>
                <a:extLst>
                  <a:ext uri="{0D108BD9-81ED-4DB2-BD59-A6C34878D82A}">
                    <a16:rowId xmlns:a16="http://schemas.microsoft.com/office/drawing/2014/main" val="1110831691"/>
                  </a:ext>
                </a:extLst>
              </a:tr>
              <a:tr h="370840">
                <a:tc>
                  <a:txBody>
                    <a:bodyPr/>
                    <a:lstStyle/>
                    <a:p>
                      <a:r>
                        <a:rPr lang="en-IN" sz="1600"/>
                        <a:t>More Computation</a:t>
                      </a:r>
                    </a:p>
                  </a:txBody>
                  <a:tcPr anchor="ctr"/>
                </a:tc>
                <a:tc>
                  <a:txBody>
                    <a:bodyPr/>
                    <a:lstStyle/>
                    <a:p>
                      <a:r>
                        <a:rPr lang="en-IN" sz="1600" dirty="0"/>
                        <a:t>Less Computation</a:t>
                      </a:r>
                    </a:p>
                  </a:txBody>
                  <a:tcPr anchor="ctr"/>
                </a:tc>
                <a:extLst>
                  <a:ext uri="{0D108BD9-81ED-4DB2-BD59-A6C34878D82A}">
                    <a16:rowId xmlns:a16="http://schemas.microsoft.com/office/drawing/2014/main" val="412810513"/>
                  </a:ext>
                </a:extLst>
              </a:tr>
            </a:tbl>
          </a:graphicData>
        </a:graphic>
      </p:graphicFrame>
      <p:sp>
        <p:nvSpPr>
          <p:cNvPr id="9" name="TextBox 8">
            <a:extLst>
              <a:ext uri="{FF2B5EF4-FFF2-40B4-BE49-F238E27FC236}">
                <a16:creationId xmlns:a16="http://schemas.microsoft.com/office/drawing/2014/main" id="{124A0324-A684-4A53-A7D3-14665F9DBF59}"/>
              </a:ext>
            </a:extLst>
          </p:cNvPr>
          <p:cNvSpPr txBox="1"/>
          <p:nvPr/>
        </p:nvSpPr>
        <p:spPr>
          <a:xfrm>
            <a:off x="5684520" y="977077"/>
            <a:ext cx="5808777" cy="5201424"/>
          </a:xfrm>
          <a:prstGeom prst="rect">
            <a:avLst/>
          </a:prstGeom>
          <a:noFill/>
        </p:spPr>
        <p:txBody>
          <a:bodyPr wrap="square" rtlCol="0">
            <a:spAutoFit/>
          </a:bodyPr>
          <a:lstStyle/>
          <a:p>
            <a:r>
              <a:rPr lang="en-US" sz="1600" b="1" dirty="0">
                <a:solidFill>
                  <a:srgbClr val="C00000"/>
                </a:solidFill>
              </a:rPr>
              <a:t>Bias-Variance Tradeoff</a:t>
            </a:r>
          </a:p>
          <a:p>
            <a:r>
              <a:rPr lang="en-US" sz="1600" b="1" dirty="0">
                <a:solidFill>
                  <a:schemeClr val="accent1">
                    <a:lumMod val="60000"/>
                    <a:lumOff val="40000"/>
                  </a:schemeClr>
                </a:solidFill>
              </a:rPr>
              <a:t>Bias</a:t>
            </a:r>
            <a:endParaRPr lang="en-US" sz="1600" dirty="0">
              <a:solidFill>
                <a:schemeClr val="accent1">
                  <a:lumMod val="60000"/>
                  <a:lumOff val="40000"/>
                </a:schemeClr>
              </a:solidFill>
            </a:endParaRPr>
          </a:p>
          <a:p>
            <a:pPr marL="285750" indent="-285750">
              <a:buFont typeface="Wingdings" panose="05000000000000000000" pitchFamily="2" charset="2"/>
              <a:buChar char="§"/>
            </a:pPr>
            <a:r>
              <a:rPr lang="en-US" sz="1600" dirty="0"/>
              <a:t>Error caused by overly simple models. </a:t>
            </a:r>
          </a:p>
          <a:p>
            <a:pPr marL="285750" indent="-285750">
              <a:buFont typeface="Wingdings" panose="05000000000000000000" pitchFamily="2" charset="2"/>
              <a:buChar char="§"/>
            </a:pPr>
            <a:r>
              <a:rPr lang="en-US" sz="1600" dirty="0"/>
              <a:t>Leads to </a:t>
            </a:r>
            <a:r>
              <a:rPr lang="en-US" sz="1600" b="1" dirty="0"/>
              <a:t>Underfitting</a:t>
            </a:r>
            <a:r>
              <a:rPr lang="en-US" sz="1600" dirty="0"/>
              <a:t>. </a:t>
            </a:r>
          </a:p>
          <a:p>
            <a:r>
              <a:rPr lang="en-US" sz="1600" b="1" dirty="0">
                <a:solidFill>
                  <a:schemeClr val="accent1">
                    <a:lumMod val="60000"/>
                    <a:lumOff val="40000"/>
                  </a:schemeClr>
                </a:solidFill>
              </a:rPr>
              <a:t>Variance</a:t>
            </a:r>
            <a:endParaRPr lang="en-US" sz="1600" dirty="0">
              <a:solidFill>
                <a:schemeClr val="accent1">
                  <a:lumMod val="60000"/>
                  <a:lumOff val="40000"/>
                </a:schemeClr>
              </a:solidFill>
            </a:endParaRPr>
          </a:p>
          <a:p>
            <a:pPr marL="285750" indent="-285750">
              <a:buFont typeface="Wingdings" panose="05000000000000000000" pitchFamily="2" charset="2"/>
              <a:buChar char="§"/>
            </a:pPr>
            <a:r>
              <a:rPr lang="en-US" sz="1600" dirty="0"/>
              <a:t>Error caused by overly complex models. </a:t>
            </a:r>
          </a:p>
          <a:p>
            <a:pPr marL="285750" indent="-285750">
              <a:buFont typeface="Wingdings" panose="05000000000000000000" pitchFamily="2" charset="2"/>
              <a:buChar char="§"/>
            </a:pPr>
            <a:r>
              <a:rPr lang="en-US" sz="1600" dirty="0"/>
              <a:t>Leads to </a:t>
            </a:r>
            <a:r>
              <a:rPr lang="en-US" sz="1600" b="1" dirty="0"/>
              <a:t>Overfitting</a:t>
            </a:r>
            <a:r>
              <a:rPr lang="en-US" dirty="0"/>
              <a:t>.</a:t>
            </a:r>
          </a:p>
          <a:p>
            <a:pPr marL="285750" indent="-285750">
              <a:buFont typeface="Wingdings" panose="05000000000000000000" pitchFamily="2" charset="2"/>
              <a:buChar char="§"/>
            </a:pPr>
            <a:r>
              <a:rPr lang="en-US" sz="1600" b="1" dirty="0"/>
              <a:t>Goal</a:t>
            </a:r>
          </a:p>
          <a:p>
            <a:pPr marL="285750" indent="-285750">
              <a:buFont typeface="Wingdings" panose="05000000000000000000" pitchFamily="2" charset="2"/>
              <a:buChar char="§"/>
            </a:pPr>
            <a:r>
              <a:rPr lang="en-US" sz="1600" dirty="0"/>
              <a:t>Find the balance between bias and variance to achieve the best model performance</a:t>
            </a:r>
            <a:r>
              <a:rPr lang="en-US" dirty="0"/>
              <a: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r>
              <a:rPr lang="en-US" sz="1600" b="1" dirty="0">
                <a:solidFill>
                  <a:schemeClr val="accent6">
                    <a:lumMod val="75000"/>
                  </a:schemeClr>
                </a:solidFill>
              </a:rPr>
              <a:t>Applications</a:t>
            </a:r>
          </a:p>
          <a:p>
            <a:pPr marL="285750" indent="-285750">
              <a:buFont typeface="Arial" panose="020B0604020202020204" pitchFamily="34" charset="0"/>
              <a:buChar char="•"/>
            </a:pPr>
            <a:r>
              <a:rPr lang="en-US" sz="1600" dirty="0"/>
              <a:t>Fraud Detection </a:t>
            </a:r>
          </a:p>
          <a:p>
            <a:pPr marL="285750" indent="-285750">
              <a:buFont typeface="Arial" panose="020B0604020202020204" pitchFamily="34" charset="0"/>
              <a:buChar char="•"/>
            </a:pPr>
            <a:r>
              <a:rPr lang="en-US" sz="1600" dirty="0"/>
              <a:t>Medical Diagnosis </a:t>
            </a:r>
          </a:p>
          <a:p>
            <a:pPr marL="285750" indent="-285750">
              <a:buFont typeface="Arial" panose="020B0604020202020204" pitchFamily="34" charset="0"/>
              <a:buChar char="•"/>
            </a:pPr>
            <a:r>
              <a:rPr lang="en-US" sz="1600" dirty="0"/>
              <a:t>Spam Email Classification </a:t>
            </a:r>
          </a:p>
          <a:p>
            <a:pPr marL="285750" indent="-285750">
              <a:buFont typeface="Arial" panose="020B0604020202020204" pitchFamily="34" charset="0"/>
              <a:buChar char="•"/>
            </a:pPr>
            <a:r>
              <a:rPr lang="en-US" sz="1600" dirty="0"/>
              <a:t>Credit Risk Prediction </a:t>
            </a:r>
          </a:p>
          <a:p>
            <a:pPr marL="285750" indent="-285750">
              <a:buFont typeface="Arial" panose="020B0604020202020204" pitchFamily="34" charset="0"/>
              <a:buChar char="•"/>
            </a:pPr>
            <a:r>
              <a:rPr lang="en-US" sz="1600" dirty="0"/>
              <a:t>Customer Churn Prediction</a:t>
            </a:r>
          </a:p>
        </p:txBody>
      </p:sp>
      <p:graphicFrame>
        <p:nvGraphicFramePr>
          <p:cNvPr id="10" name="Table 9">
            <a:extLst>
              <a:ext uri="{FF2B5EF4-FFF2-40B4-BE49-F238E27FC236}">
                <a16:creationId xmlns:a16="http://schemas.microsoft.com/office/drawing/2014/main" id="{BD2DC394-CF65-408F-B0D4-33AC47B56ABE}"/>
              </a:ext>
            </a:extLst>
          </p:cNvPr>
          <p:cNvGraphicFramePr>
            <a:graphicFrameLocks noGrp="1"/>
          </p:cNvGraphicFramePr>
          <p:nvPr>
            <p:extLst>
              <p:ext uri="{D42A27DB-BD31-4B8C-83A1-F6EECF244321}">
                <p14:modId xmlns:p14="http://schemas.microsoft.com/office/powerpoint/2010/main" val="1737694816"/>
              </p:ext>
            </p:extLst>
          </p:nvPr>
        </p:nvGraphicFramePr>
        <p:xfrm>
          <a:off x="5684519" y="3529563"/>
          <a:ext cx="5799267" cy="1112520"/>
        </p:xfrm>
        <a:graphic>
          <a:graphicData uri="http://schemas.openxmlformats.org/drawingml/2006/table">
            <a:tbl>
              <a:tblPr firstRow="1" bandRow="1">
                <a:tableStyleId>{5C22544A-7EE6-4342-B048-85BDC9FD1C3A}</a:tableStyleId>
              </a:tblPr>
              <a:tblGrid>
                <a:gridCol w="2831950">
                  <a:extLst>
                    <a:ext uri="{9D8B030D-6E8A-4147-A177-3AD203B41FA5}">
                      <a16:colId xmlns:a16="http://schemas.microsoft.com/office/drawing/2014/main" val="976672298"/>
                    </a:ext>
                  </a:extLst>
                </a:gridCol>
                <a:gridCol w="2967317">
                  <a:extLst>
                    <a:ext uri="{9D8B030D-6E8A-4147-A177-3AD203B41FA5}">
                      <a16:colId xmlns:a16="http://schemas.microsoft.com/office/drawing/2014/main" val="1291971940"/>
                    </a:ext>
                  </a:extLst>
                </a:gridCol>
              </a:tblGrid>
              <a:tr h="370840">
                <a:tc>
                  <a:txBody>
                    <a:bodyPr/>
                    <a:lstStyle/>
                    <a:p>
                      <a:r>
                        <a:rPr lang="en-IN" sz="1600" dirty="0"/>
                        <a:t>High Bias</a:t>
                      </a:r>
                    </a:p>
                  </a:txBody>
                  <a:tcPr anchor="ctr"/>
                </a:tc>
                <a:tc>
                  <a:txBody>
                    <a:bodyPr/>
                    <a:lstStyle/>
                    <a:p>
                      <a:r>
                        <a:rPr lang="en-IN" sz="1600" dirty="0"/>
                        <a:t>High Variance</a:t>
                      </a:r>
                    </a:p>
                  </a:txBody>
                  <a:tcPr anchor="ctr"/>
                </a:tc>
                <a:extLst>
                  <a:ext uri="{0D108BD9-81ED-4DB2-BD59-A6C34878D82A}">
                    <a16:rowId xmlns:a16="http://schemas.microsoft.com/office/drawing/2014/main" val="118086048"/>
                  </a:ext>
                </a:extLst>
              </a:tr>
              <a:tr h="370840">
                <a:tc>
                  <a:txBody>
                    <a:bodyPr/>
                    <a:lstStyle/>
                    <a:p>
                      <a:r>
                        <a:rPr lang="en-IN" sz="1600" dirty="0"/>
                        <a:t>Underfitting</a:t>
                      </a:r>
                    </a:p>
                  </a:txBody>
                  <a:tcPr anchor="ctr"/>
                </a:tc>
                <a:tc>
                  <a:txBody>
                    <a:bodyPr/>
                    <a:lstStyle/>
                    <a:p>
                      <a:r>
                        <a:rPr lang="en-IN" sz="1600" dirty="0"/>
                        <a:t>Overfitting</a:t>
                      </a:r>
                    </a:p>
                  </a:txBody>
                  <a:tcPr anchor="ctr"/>
                </a:tc>
                <a:extLst>
                  <a:ext uri="{0D108BD9-81ED-4DB2-BD59-A6C34878D82A}">
                    <a16:rowId xmlns:a16="http://schemas.microsoft.com/office/drawing/2014/main" val="1984265397"/>
                  </a:ext>
                </a:extLst>
              </a:tr>
              <a:tr h="370840">
                <a:tc>
                  <a:txBody>
                    <a:bodyPr/>
                    <a:lstStyle/>
                    <a:p>
                      <a:r>
                        <a:rPr lang="en-IN" sz="1600" dirty="0"/>
                        <a:t>Low Accuracy</a:t>
                      </a:r>
                    </a:p>
                  </a:txBody>
                  <a:tcPr anchor="ctr"/>
                </a:tc>
                <a:tc>
                  <a:txBody>
                    <a:bodyPr/>
                    <a:lstStyle/>
                    <a:p>
                      <a:r>
                        <a:rPr lang="en-IN" sz="1600" dirty="0"/>
                        <a:t>Poor Generalization</a:t>
                      </a:r>
                    </a:p>
                  </a:txBody>
                  <a:tcPr anchor="ctr"/>
                </a:tc>
                <a:extLst>
                  <a:ext uri="{0D108BD9-81ED-4DB2-BD59-A6C34878D82A}">
                    <a16:rowId xmlns:a16="http://schemas.microsoft.com/office/drawing/2014/main" val="1059557878"/>
                  </a:ext>
                </a:extLst>
              </a:tr>
            </a:tbl>
          </a:graphicData>
        </a:graphic>
      </p:graphicFrame>
      <p:sp>
        <p:nvSpPr>
          <p:cNvPr id="11" name="Rectangle 10">
            <a:extLst>
              <a:ext uri="{FF2B5EF4-FFF2-40B4-BE49-F238E27FC236}">
                <a16:creationId xmlns:a16="http://schemas.microsoft.com/office/drawing/2014/main" id="{C6C207A7-D18B-44CC-8209-0AEFF7353873}"/>
              </a:ext>
            </a:extLst>
          </p:cNvPr>
          <p:cNvSpPr/>
          <p:nvPr/>
        </p:nvSpPr>
        <p:spPr>
          <a:xfrm>
            <a:off x="11633297" y="6584434"/>
            <a:ext cx="418704" cy="369332"/>
          </a:xfrm>
          <a:prstGeom prst="rect">
            <a:avLst/>
          </a:prstGeom>
        </p:spPr>
        <p:txBody>
          <a:bodyPr wrap="none">
            <a:spAutoFit/>
          </a:bodyPr>
          <a:lstStyle/>
          <a:p>
            <a:r>
              <a:rPr lang="en-US" dirty="0">
                <a:solidFill>
                  <a:schemeClr val="bg1"/>
                </a:solidFill>
              </a:rPr>
              <a:t>15</a:t>
            </a:r>
            <a:endParaRPr lang="en-IN" dirty="0">
              <a:solidFill>
                <a:schemeClr val="bg1"/>
              </a:solidFill>
            </a:endParaRPr>
          </a:p>
        </p:txBody>
      </p:sp>
    </p:spTree>
    <p:extLst>
      <p:ext uri="{BB962C8B-B14F-4D97-AF65-F5344CB8AC3E}">
        <p14:creationId xmlns:p14="http://schemas.microsoft.com/office/powerpoint/2010/main" val="321223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Feature selection</a:t>
            </a:r>
            <a:endParaRPr lang="en-US" sz="2800" dirty="0">
              <a:solidFill>
                <a:srgbClr val="002060"/>
              </a:solidFill>
            </a:endParaRPr>
          </a:p>
        </p:txBody>
      </p:sp>
      <p:sp>
        <p:nvSpPr>
          <p:cNvPr id="7" name="TextBox 6">
            <a:extLst>
              <a:ext uri="{FF2B5EF4-FFF2-40B4-BE49-F238E27FC236}">
                <a16:creationId xmlns:a16="http://schemas.microsoft.com/office/drawing/2014/main" id="{5B89C84D-C279-4B2F-BAE9-5C29A626EAB3}"/>
              </a:ext>
            </a:extLst>
          </p:cNvPr>
          <p:cNvSpPr txBox="1"/>
          <p:nvPr/>
        </p:nvSpPr>
        <p:spPr>
          <a:xfrm>
            <a:off x="435685" y="933544"/>
            <a:ext cx="5534809" cy="5016758"/>
          </a:xfrm>
          <a:prstGeom prst="rect">
            <a:avLst/>
          </a:prstGeom>
          <a:solidFill>
            <a:schemeClr val="tx2">
              <a:lumMod val="20000"/>
              <a:lumOff val="80000"/>
            </a:schemeClr>
          </a:solidFill>
        </p:spPr>
        <p:txBody>
          <a:bodyPr wrap="square" rtlCol="0">
            <a:spAutoFit/>
          </a:bodyPr>
          <a:lstStyle/>
          <a:p>
            <a:r>
              <a:rPr lang="en-US" b="1" dirty="0">
                <a:solidFill>
                  <a:srgbClr val="C00000"/>
                </a:solidFill>
              </a:rPr>
              <a:t>Feature Selection</a:t>
            </a:r>
          </a:p>
          <a:p>
            <a:r>
              <a:rPr lang="en-US" sz="1600" dirty="0"/>
              <a:t>Feature selection improves model performance by selecting the most relevant features and removing unnecessary ones.</a:t>
            </a:r>
          </a:p>
          <a:p>
            <a:r>
              <a:rPr lang="en-US" sz="1600" b="1" dirty="0">
                <a:solidFill>
                  <a:schemeClr val="accent1">
                    <a:lumMod val="75000"/>
                  </a:schemeClr>
                </a:solidFill>
              </a:rPr>
              <a:t>1. </a:t>
            </a:r>
            <a:r>
              <a:rPr lang="en-US" sz="1600" b="1" dirty="0" err="1">
                <a:solidFill>
                  <a:schemeClr val="accent1">
                    <a:lumMod val="75000"/>
                  </a:schemeClr>
                </a:solidFill>
              </a:rPr>
              <a:t>SelectKBest</a:t>
            </a:r>
            <a:endParaRPr lang="en-US" sz="1600" b="1" dirty="0">
              <a:solidFill>
                <a:schemeClr val="accent1">
                  <a:lumMod val="75000"/>
                </a:schemeClr>
              </a:solidFill>
            </a:endParaRPr>
          </a:p>
          <a:p>
            <a:pPr marL="285750" indent="-285750">
              <a:buFont typeface="Wingdings" panose="05000000000000000000" pitchFamily="2" charset="2"/>
              <a:buChar char="§"/>
            </a:pPr>
            <a:r>
              <a:rPr lang="en-US" sz="1600" dirty="0"/>
              <a:t>Selects the </a:t>
            </a:r>
            <a:r>
              <a:rPr lang="en-US" sz="1600" b="1" dirty="0"/>
              <a:t>top K features</a:t>
            </a:r>
            <a:r>
              <a:rPr lang="en-US" sz="1600" dirty="0"/>
              <a:t> based on statistical tests. </a:t>
            </a:r>
          </a:p>
          <a:p>
            <a:pPr marL="285750" indent="-285750">
              <a:buFont typeface="Wingdings" panose="05000000000000000000" pitchFamily="2" charset="2"/>
              <a:buChar char="§"/>
            </a:pPr>
            <a:r>
              <a:rPr lang="en-US" sz="1600" dirty="0"/>
              <a:t>Reduces dimensionality and training time. </a:t>
            </a:r>
          </a:p>
          <a:p>
            <a:pPr marL="285750" indent="-285750">
              <a:buFont typeface="Wingdings" panose="05000000000000000000" pitchFamily="2" charset="2"/>
              <a:buChar char="§"/>
            </a:pPr>
            <a:r>
              <a:rPr lang="en-US" sz="1600" dirty="0"/>
              <a:t>Common scoring methods: </a:t>
            </a:r>
          </a:p>
          <a:p>
            <a:pPr marL="742950" lvl="1" indent="-285750">
              <a:buFont typeface="Arial" panose="020B0604020202020204" pitchFamily="34" charset="0"/>
              <a:buChar char="•"/>
            </a:pPr>
            <a:r>
              <a:rPr lang="en-US" sz="1600" b="1" dirty="0"/>
              <a:t>Chi-Square (χ²)</a:t>
            </a:r>
            <a:r>
              <a:rPr lang="en-US" sz="1600" dirty="0"/>
              <a:t> – for categorical data. </a:t>
            </a:r>
          </a:p>
          <a:p>
            <a:pPr marL="742950" lvl="1" indent="-285750">
              <a:buFont typeface="Arial" panose="020B0604020202020204" pitchFamily="34" charset="0"/>
              <a:buChar char="•"/>
            </a:pPr>
            <a:r>
              <a:rPr lang="en-US" sz="1600" b="1" dirty="0"/>
              <a:t>ANOVA F-test</a:t>
            </a:r>
            <a:r>
              <a:rPr lang="en-US" sz="1600" dirty="0"/>
              <a:t> – for numerical data. </a:t>
            </a:r>
          </a:p>
          <a:p>
            <a:r>
              <a:rPr lang="en-US" sz="1600" b="1" dirty="0">
                <a:solidFill>
                  <a:schemeClr val="accent1">
                    <a:lumMod val="75000"/>
                  </a:schemeClr>
                </a:solidFill>
              </a:rPr>
              <a:t>2. Recursive Feature Elimination (RFE)</a:t>
            </a:r>
          </a:p>
          <a:p>
            <a:pPr marL="285750" indent="-285750">
              <a:buFont typeface="Wingdings" panose="05000000000000000000" pitchFamily="2" charset="2"/>
              <a:buChar char="§"/>
            </a:pPr>
            <a:r>
              <a:rPr lang="en-US" sz="1600" dirty="0"/>
              <a:t>Recursively removes the least important features. </a:t>
            </a:r>
          </a:p>
          <a:p>
            <a:pPr marL="285750" indent="-285750">
              <a:buFont typeface="Wingdings" panose="05000000000000000000" pitchFamily="2" charset="2"/>
              <a:buChar char="§"/>
            </a:pPr>
            <a:r>
              <a:rPr lang="en-US" sz="1600" dirty="0"/>
              <a:t>Builds a model multiple times until the desired number of features remains. </a:t>
            </a:r>
          </a:p>
          <a:p>
            <a:pPr marL="285750" indent="-285750">
              <a:buFont typeface="Wingdings" panose="05000000000000000000" pitchFamily="2" charset="2"/>
              <a:buChar char="§"/>
            </a:pPr>
            <a:r>
              <a:rPr lang="en-US" sz="1600" dirty="0"/>
              <a:t>Works well with algorithms like </a:t>
            </a:r>
            <a:r>
              <a:rPr lang="en-US" sz="1600" b="1" dirty="0"/>
              <a:t>Linear Regression</a:t>
            </a:r>
            <a:r>
              <a:rPr lang="en-US" sz="1600" dirty="0"/>
              <a:t> and </a:t>
            </a:r>
            <a:r>
              <a:rPr lang="en-US" sz="1600" b="1" dirty="0"/>
              <a:t>Random Forest</a:t>
            </a:r>
            <a:r>
              <a:rPr lang="en-US" sz="1600" dirty="0"/>
              <a:t>. </a:t>
            </a:r>
          </a:p>
          <a:p>
            <a:r>
              <a:rPr lang="en-US" sz="1600" b="1" dirty="0">
                <a:solidFill>
                  <a:schemeClr val="accent1">
                    <a:lumMod val="75000"/>
                  </a:schemeClr>
                </a:solidFill>
              </a:rPr>
              <a:t>3. Correlation-Based Selection</a:t>
            </a:r>
          </a:p>
          <a:p>
            <a:pPr marL="285750" indent="-285750">
              <a:buFont typeface="Wingdings" panose="05000000000000000000" pitchFamily="2" charset="2"/>
              <a:buChar char="§"/>
            </a:pPr>
            <a:r>
              <a:rPr lang="en-US" sz="1600" dirty="0"/>
              <a:t>Uses a </a:t>
            </a:r>
            <a:r>
              <a:rPr lang="en-US" sz="1600" b="1" dirty="0"/>
              <a:t>correlation matrix</a:t>
            </a:r>
            <a:r>
              <a:rPr lang="en-US" sz="1600" dirty="0"/>
              <a:t> to identify relationships between features. </a:t>
            </a:r>
          </a:p>
          <a:p>
            <a:pPr marL="285750" indent="-285750">
              <a:buFont typeface="Wingdings" panose="05000000000000000000" pitchFamily="2" charset="2"/>
              <a:buChar char="§"/>
            </a:pPr>
            <a:r>
              <a:rPr lang="en-US" sz="1600" dirty="0"/>
              <a:t>Removes highly correlated (redundant) features. </a:t>
            </a:r>
          </a:p>
          <a:p>
            <a:pPr marL="285750" indent="-285750">
              <a:buFont typeface="Wingdings" panose="05000000000000000000" pitchFamily="2" charset="2"/>
              <a:buChar char="§"/>
            </a:pPr>
            <a:r>
              <a:rPr lang="en-US" sz="1600" dirty="0"/>
              <a:t>Helps reduce </a:t>
            </a:r>
            <a:r>
              <a:rPr lang="en-US" sz="1600" b="1" dirty="0"/>
              <a:t>multicollinearity</a:t>
            </a:r>
            <a:r>
              <a:rPr lang="en-US" sz="1600" dirty="0"/>
              <a:t>.</a:t>
            </a:r>
          </a:p>
        </p:txBody>
      </p:sp>
      <p:sp>
        <p:nvSpPr>
          <p:cNvPr id="8" name="TextBox 7">
            <a:extLst>
              <a:ext uri="{FF2B5EF4-FFF2-40B4-BE49-F238E27FC236}">
                <a16:creationId xmlns:a16="http://schemas.microsoft.com/office/drawing/2014/main" id="{F0BADF05-F438-467D-981F-84C4D22B1374}"/>
              </a:ext>
            </a:extLst>
          </p:cNvPr>
          <p:cNvSpPr txBox="1"/>
          <p:nvPr/>
        </p:nvSpPr>
        <p:spPr>
          <a:xfrm>
            <a:off x="6104964" y="924531"/>
            <a:ext cx="5388333" cy="3293209"/>
          </a:xfrm>
          <a:prstGeom prst="rect">
            <a:avLst/>
          </a:prstGeom>
          <a:solidFill>
            <a:schemeClr val="tx2">
              <a:lumMod val="20000"/>
              <a:lumOff val="80000"/>
            </a:schemeClr>
          </a:solidFill>
        </p:spPr>
        <p:txBody>
          <a:bodyPr wrap="square" rtlCol="0">
            <a:spAutoFit/>
          </a:bodyPr>
          <a:lstStyle/>
          <a:p>
            <a:r>
              <a:rPr lang="en-US" sz="1600" b="1" dirty="0">
                <a:solidFill>
                  <a:srgbClr val="C00000"/>
                </a:solidFill>
              </a:rPr>
              <a:t>Feature Engineering</a:t>
            </a:r>
          </a:p>
          <a:p>
            <a:r>
              <a:rPr lang="en-US" sz="1600" dirty="0"/>
              <a:t>Creating new features helps improve model accuracy.</a:t>
            </a:r>
          </a:p>
          <a:p>
            <a:r>
              <a:rPr lang="en-US" sz="1600" b="1" dirty="0">
                <a:solidFill>
                  <a:schemeClr val="accent1">
                    <a:lumMod val="75000"/>
                  </a:schemeClr>
                </a:solidFill>
              </a:rPr>
              <a:t>Polynomial Features</a:t>
            </a:r>
          </a:p>
          <a:p>
            <a:r>
              <a:rPr lang="en-US" sz="1600" dirty="0"/>
              <a:t>Creates higher-degree features. </a:t>
            </a:r>
          </a:p>
          <a:p>
            <a:r>
              <a:rPr lang="en-US" sz="1600" b="1" dirty="0">
                <a:solidFill>
                  <a:schemeClr val="accent6">
                    <a:lumMod val="75000"/>
                  </a:schemeClr>
                </a:solidFill>
              </a:rPr>
              <a:t>Example: </a:t>
            </a:r>
          </a:p>
          <a:p>
            <a:pPr lvl="1"/>
            <a:r>
              <a:rPr lang="en-US" sz="1600" dirty="0"/>
              <a:t>Original: </a:t>
            </a:r>
            <a:r>
              <a:rPr lang="en-US" sz="1600" b="1" dirty="0"/>
              <a:t>x</a:t>
            </a:r>
            <a:r>
              <a:rPr lang="en-US" sz="1600" dirty="0"/>
              <a:t> </a:t>
            </a:r>
          </a:p>
          <a:p>
            <a:pPr lvl="1"/>
            <a:r>
              <a:rPr lang="en-US" sz="1600" dirty="0"/>
              <a:t>Polynomial: </a:t>
            </a:r>
            <a:r>
              <a:rPr lang="en-US" sz="1600" b="1" dirty="0"/>
              <a:t>x², x³</a:t>
            </a:r>
            <a:r>
              <a:rPr lang="en-US" sz="1600" dirty="0"/>
              <a:t> </a:t>
            </a:r>
          </a:p>
          <a:p>
            <a:r>
              <a:rPr lang="en-US" sz="1600" b="1" dirty="0">
                <a:solidFill>
                  <a:schemeClr val="accent1">
                    <a:lumMod val="75000"/>
                  </a:schemeClr>
                </a:solidFill>
              </a:rPr>
              <a:t>Interaction Features</a:t>
            </a:r>
          </a:p>
          <a:p>
            <a:r>
              <a:rPr lang="en-US" sz="1600" dirty="0"/>
              <a:t>Combines two or more features. </a:t>
            </a:r>
          </a:p>
          <a:p>
            <a:r>
              <a:rPr lang="en-US" sz="1600" b="1" dirty="0">
                <a:solidFill>
                  <a:schemeClr val="accent6">
                    <a:lumMod val="75000"/>
                  </a:schemeClr>
                </a:solidFill>
              </a:rPr>
              <a:t>Example:</a:t>
            </a:r>
            <a:r>
              <a:rPr lang="en-US" sz="1600" dirty="0"/>
              <a:t> </a:t>
            </a:r>
          </a:p>
          <a:p>
            <a:pPr lvl="1"/>
            <a:r>
              <a:rPr lang="en-US" sz="1600" b="1" dirty="0"/>
              <a:t>Age × Income</a:t>
            </a:r>
            <a:r>
              <a:rPr lang="en-US" sz="1600" dirty="0"/>
              <a:t> </a:t>
            </a:r>
          </a:p>
          <a:p>
            <a:pPr lvl="1"/>
            <a:r>
              <a:rPr lang="en-US" sz="1600" b="1" dirty="0"/>
              <a:t>Height × Weight</a:t>
            </a:r>
            <a:r>
              <a:rPr lang="en-US" sz="1600" dirty="0"/>
              <a:t> </a:t>
            </a:r>
          </a:p>
          <a:p>
            <a:r>
              <a:rPr lang="en-US" sz="1600" dirty="0"/>
              <a:t>Captures relationships between variables.</a:t>
            </a:r>
          </a:p>
        </p:txBody>
      </p:sp>
      <p:sp>
        <p:nvSpPr>
          <p:cNvPr id="9" name="Rectangle 8">
            <a:extLst>
              <a:ext uri="{FF2B5EF4-FFF2-40B4-BE49-F238E27FC236}">
                <a16:creationId xmlns:a16="http://schemas.microsoft.com/office/drawing/2014/main" id="{6BFD2A56-C614-4093-A429-EE3666C12961}"/>
              </a:ext>
            </a:extLst>
          </p:cNvPr>
          <p:cNvSpPr/>
          <p:nvPr/>
        </p:nvSpPr>
        <p:spPr>
          <a:xfrm>
            <a:off x="6104963" y="4498305"/>
            <a:ext cx="5388333" cy="1477328"/>
          </a:xfrm>
          <a:prstGeom prst="rect">
            <a:avLst/>
          </a:prstGeom>
          <a:solidFill>
            <a:schemeClr val="tx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IN" b="1" dirty="0">
                <a:solidFill>
                  <a:schemeClr val="accent1">
                    <a:lumMod val="75000"/>
                  </a:schemeClr>
                </a:solidFill>
              </a:rPr>
              <a:t>Feature Selection workflow:</a:t>
            </a:r>
          </a:p>
          <a:p>
            <a:r>
              <a:rPr lang="en-IN" dirty="0"/>
              <a:t>Dataset → Feature Selection → Best Features → ML  Model</a:t>
            </a:r>
          </a:p>
          <a:p>
            <a:endParaRPr lang="en-US" dirty="0"/>
          </a:p>
          <a:p>
            <a:endParaRPr lang="en-IN" dirty="0"/>
          </a:p>
        </p:txBody>
      </p:sp>
      <p:sp>
        <p:nvSpPr>
          <p:cNvPr id="10" name="Rectangle 9">
            <a:extLst>
              <a:ext uri="{FF2B5EF4-FFF2-40B4-BE49-F238E27FC236}">
                <a16:creationId xmlns:a16="http://schemas.microsoft.com/office/drawing/2014/main" id="{064717B1-C612-4705-9EED-DC508FD3D4C6}"/>
              </a:ext>
            </a:extLst>
          </p:cNvPr>
          <p:cNvSpPr/>
          <p:nvPr/>
        </p:nvSpPr>
        <p:spPr>
          <a:xfrm>
            <a:off x="11423945" y="6584434"/>
            <a:ext cx="418704" cy="369332"/>
          </a:xfrm>
          <a:prstGeom prst="rect">
            <a:avLst/>
          </a:prstGeom>
        </p:spPr>
        <p:txBody>
          <a:bodyPr wrap="none">
            <a:spAutoFit/>
          </a:bodyPr>
          <a:lstStyle/>
          <a:p>
            <a:r>
              <a:rPr lang="en-US" dirty="0">
                <a:solidFill>
                  <a:schemeClr val="bg1"/>
                </a:solidFill>
              </a:rPr>
              <a:t>16</a:t>
            </a:r>
            <a:endParaRPr lang="en-IN" dirty="0">
              <a:solidFill>
                <a:schemeClr val="bg1"/>
              </a:solidFill>
            </a:endParaRPr>
          </a:p>
        </p:txBody>
      </p:sp>
    </p:spTree>
    <p:extLst>
      <p:ext uri="{BB962C8B-B14F-4D97-AF65-F5344CB8AC3E}">
        <p14:creationId xmlns:p14="http://schemas.microsoft.com/office/powerpoint/2010/main" val="3143328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IN" sz="2800" b="1" dirty="0">
                <a:solidFill>
                  <a:schemeClr val="accent5">
                    <a:lumMod val="50000"/>
                  </a:schemeClr>
                </a:solidFill>
              </a:rPr>
              <a:t>Pipeline &amp; </a:t>
            </a:r>
            <a:r>
              <a:rPr lang="en-IN" sz="2800" b="1" dirty="0" err="1">
                <a:solidFill>
                  <a:schemeClr val="accent5">
                    <a:lumMod val="50000"/>
                  </a:schemeClr>
                </a:solidFill>
              </a:rPr>
              <a:t>ColumnTransformer</a:t>
            </a:r>
            <a:endParaRPr lang="en-US" sz="2800" b="1" dirty="0">
              <a:solidFill>
                <a:schemeClr val="accent5">
                  <a:lumMod val="50000"/>
                </a:schemeClr>
              </a:solidFill>
            </a:endParaRPr>
          </a:p>
        </p:txBody>
      </p:sp>
      <p:sp>
        <p:nvSpPr>
          <p:cNvPr id="7" name="TextBox 6">
            <a:extLst>
              <a:ext uri="{FF2B5EF4-FFF2-40B4-BE49-F238E27FC236}">
                <a16:creationId xmlns:a16="http://schemas.microsoft.com/office/drawing/2014/main" id="{136510B0-FD09-4F43-BDEA-283DF198EA97}"/>
              </a:ext>
            </a:extLst>
          </p:cNvPr>
          <p:cNvSpPr txBox="1"/>
          <p:nvPr/>
        </p:nvSpPr>
        <p:spPr>
          <a:xfrm>
            <a:off x="435685" y="933544"/>
            <a:ext cx="3634291" cy="5693866"/>
          </a:xfrm>
          <a:prstGeom prst="rect">
            <a:avLst/>
          </a:prstGeom>
          <a:noFill/>
        </p:spPr>
        <p:txBody>
          <a:bodyPr wrap="square" rtlCol="0">
            <a:spAutoFit/>
          </a:bodyPr>
          <a:lstStyle/>
          <a:p>
            <a:r>
              <a:rPr lang="en-US" b="1" dirty="0" err="1">
                <a:solidFill>
                  <a:srgbClr val="C00000"/>
                </a:solidFill>
              </a:rPr>
              <a:t>Sklearn</a:t>
            </a:r>
            <a:r>
              <a:rPr lang="en-US" b="1" dirty="0">
                <a:solidFill>
                  <a:srgbClr val="C00000"/>
                </a:solidFill>
              </a:rPr>
              <a:t> Pipeline</a:t>
            </a:r>
          </a:p>
          <a:p>
            <a:r>
              <a:rPr lang="en-US" sz="1600" dirty="0"/>
              <a:t>A </a:t>
            </a:r>
            <a:r>
              <a:rPr lang="en-US" sz="1600" b="1" dirty="0"/>
              <a:t>Pipeline</a:t>
            </a:r>
            <a:r>
              <a:rPr lang="en-US" sz="1600" dirty="0"/>
              <a:t> chains multiple preprocessing and modeling steps into one workflow</a:t>
            </a:r>
            <a:r>
              <a:rPr lang="en-US" dirty="0"/>
              <a:t>.</a:t>
            </a:r>
          </a:p>
          <a:p>
            <a:r>
              <a:rPr lang="en-IN" b="1" dirty="0">
                <a:solidFill>
                  <a:schemeClr val="accent6">
                    <a:lumMod val="75000"/>
                  </a:schemeClr>
                </a:solidFill>
              </a:rPr>
              <a:t>Pipeline Flow:</a:t>
            </a:r>
            <a:endParaRPr lang="en-US" b="1" dirty="0">
              <a:solidFill>
                <a:schemeClr val="accent6">
                  <a:lumMod val="75000"/>
                </a:schemeClr>
              </a:solidFill>
            </a:endParaRPr>
          </a:p>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600" b="1" dirty="0">
                <a:solidFill>
                  <a:schemeClr val="accent6">
                    <a:lumMod val="75000"/>
                  </a:schemeClr>
                </a:solidFill>
              </a:rPr>
              <a:t>Advantages:</a:t>
            </a:r>
          </a:p>
          <a:p>
            <a:pPr marL="285750" indent="-285750">
              <a:buFont typeface="Wingdings" panose="05000000000000000000" pitchFamily="2" charset="2"/>
              <a:buChar char="ü"/>
            </a:pPr>
            <a:r>
              <a:rPr lang="en-US" sz="1600" dirty="0"/>
              <a:t>Simplifies workflow. </a:t>
            </a:r>
          </a:p>
          <a:p>
            <a:pPr marL="285750" indent="-285750">
              <a:buFont typeface="Wingdings" panose="05000000000000000000" pitchFamily="2" charset="2"/>
              <a:buChar char="ü"/>
            </a:pPr>
            <a:r>
              <a:rPr lang="en-US" sz="1600" dirty="0"/>
              <a:t>Prevents data leakage. </a:t>
            </a:r>
          </a:p>
          <a:p>
            <a:pPr marL="285750" indent="-285750">
              <a:buFont typeface="Wingdings" panose="05000000000000000000" pitchFamily="2" charset="2"/>
              <a:buChar char="ü"/>
            </a:pPr>
            <a:r>
              <a:rPr lang="en-US" sz="1600" dirty="0"/>
              <a:t>Makes code reusable and easier to maintain. </a:t>
            </a:r>
          </a:p>
          <a:p>
            <a:pPr marL="285750" indent="-285750">
              <a:buFont typeface="Wingdings" panose="05000000000000000000" pitchFamily="2" charset="2"/>
              <a:buChar char="ü"/>
            </a:pPr>
            <a:r>
              <a:rPr lang="en-US" sz="1600" dirty="0"/>
              <a:t>Automates preprocessing and model training</a:t>
            </a:r>
            <a:r>
              <a:rPr lang="en-US" dirty="0"/>
              <a:t>. </a:t>
            </a:r>
          </a:p>
        </p:txBody>
      </p:sp>
      <p:sp>
        <p:nvSpPr>
          <p:cNvPr id="8" name="Rectangle 7">
            <a:extLst>
              <a:ext uri="{FF2B5EF4-FFF2-40B4-BE49-F238E27FC236}">
                <a16:creationId xmlns:a16="http://schemas.microsoft.com/office/drawing/2014/main" id="{7477ADC4-C5E6-4406-BA47-061A47A44A61}"/>
              </a:ext>
            </a:extLst>
          </p:cNvPr>
          <p:cNvSpPr/>
          <p:nvPr/>
        </p:nvSpPr>
        <p:spPr>
          <a:xfrm>
            <a:off x="561191" y="2197893"/>
            <a:ext cx="2083397" cy="2462213"/>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IN" sz="1400" dirty="0"/>
              <a:t>Raw Data</a:t>
            </a:r>
          </a:p>
          <a:p>
            <a:r>
              <a:rPr lang="en-IN" sz="1400" dirty="0"/>
              <a:t>     ↓</a:t>
            </a:r>
          </a:p>
          <a:p>
            <a:r>
              <a:rPr lang="en-IN" sz="1400" dirty="0"/>
              <a:t>Data Cleaning</a:t>
            </a:r>
          </a:p>
          <a:p>
            <a:r>
              <a:rPr lang="en-IN" sz="1400" dirty="0"/>
              <a:t>     ↓</a:t>
            </a:r>
          </a:p>
          <a:p>
            <a:r>
              <a:rPr lang="en-IN" sz="1400" dirty="0"/>
              <a:t>Feature Scaling</a:t>
            </a:r>
          </a:p>
          <a:p>
            <a:r>
              <a:rPr lang="en-IN" sz="1400" dirty="0"/>
              <a:t>     ↓</a:t>
            </a:r>
          </a:p>
          <a:p>
            <a:r>
              <a:rPr lang="en-IN" sz="1400" dirty="0"/>
              <a:t>Feature Selection</a:t>
            </a:r>
          </a:p>
          <a:p>
            <a:r>
              <a:rPr lang="en-IN" sz="1400" dirty="0"/>
              <a:t>     ↓</a:t>
            </a:r>
          </a:p>
          <a:p>
            <a:r>
              <a:rPr lang="en-IN" sz="1400" dirty="0"/>
              <a:t>Machine Learning Model</a:t>
            </a:r>
          </a:p>
          <a:p>
            <a:r>
              <a:rPr lang="en-IN" sz="1400" dirty="0"/>
              <a:t>     ↓</a:t>
            </a:r>
          </a:p>
          <a:p>
            <a:r>
              <a:rPr lang="en-IN" sz="1400" dirty="0"/>
              <a:t>Prediction</a:t>
            </a:r>
          </a:p>
        </p:txBody>
      </p:sp>
      <p:sp>
        <p:nvSpPr>
          <p:cNvPr id="9" name="TextBox 8">
            <a:extLst>
              <a:ext uri="{FF2B5EF4-FFF2-40B4-BE49-F238E27FC236}">
                <a16:creationId xmlns:a16="http://schemas.microsoft.com/office/drawing/2014/main" id="{160FBD0E-FDCE-4228-9C22-CD2B1FEEBBAE}"/>
              </a:ext>
            </a:extLst>
          </p:cNvPr>
          <p:cNvSpPr txBox="1"/>
          <p:nvPr/>
        </p:nvSpPr>
        <p:spPr>
          <a:xfrm>
            <a:off x="4285131" y="888468"/>
            <a:ext cx="3634290" cy="5539978"/>
          </a:xfrm>
          <a:prstGeom prst="rect">
            <a:avLst/>
          </a:prstGeom>
          <a:noFill/>
        </p:spPr>
        <p:txBody>
          <a:bodyPr wrap="square" rtlCol="0">
            <a:spAutoFit/>
          </a:bodyPr>
          <a:lstStyle/>
          <a:p>
            <a:r>
              <a:rPr lang="en-US" b="1" dirty="0" err="1">
                <a:solidFill>
                  <a:srgbClr val="C00000"/>
                </a:solidFill>
              </a:rPr>
              <a:t>ColumnTransformer</a:t>
            </a:r>
            <a:endParaRPr lang="en-US" b="1" dirty="0">
              <a:solidFill>
                <a:srgbClr val="C00000"/>
              </a:solidFill>
            </a:endParaRPr>
          </a:p>
          <a:p>
            <a:r>
              <a:rPr lang="en-US" sz="1600" dirty="0"/>
              <a:t>Processes </a:t>
            </a:r>
            <a:r>
              <a:rPr lang="en-US" sz="1600" b="1" dirty="0"/>
              <a:t>different data types</a:t>
            </a:r>
            <a:r>
              <a:rPr lang="en-US" sz="1600" dirty="0"/>
              <a:t> using different preprocessing techniques.</a:t>
            </a:r>
          </a:p>
          <a:p>
            <a:r>
              <a:rPr lang="en-US" sz="1600" b="1" dirty="0">
                <a:solidFill>
                  <a:schemeClr val="accent6">
                    <a:lumMod val="75000"/>
                  </a:schemeClr>
                </a:solidFill>
              </a:rPr>
              <a:t>Example:</a:t>
            </a: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r>
              <a:rPr lang="en-IN" sz="1600" b="1" dirty="0">
                <a:solidFill>
                  <a:schemeClr val="accent6">
                    <a:lumMod val="75000"/>
                  </a:schemeClr>
                </a:solidFill>
              </a:rPr>
              <a:t>Workflow:</a:t>
            </a:r>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a:p>
            <a:endParaRPr lang="en-US" sz="1600" b="1" dirty="0">
              <a:solidFill>
                <a:schemeClr val="accent6">
                  <a:lumMod val="75000"/>
                </a:schemeClr>
              </a:solidFill>
            </a:endParaRPr>
          </a:p>
        </p:txBody>
      </p:sp>
      <p:graphicFrame>
        <p:nvGraphicFramePr>
          <p:cNvPr id="10" name="Table 9">
            <a:extLst>
              <a:ext uri="{FF2B5EF4-FFF2-40B4-BE49-F238E27FC236}">
                <a16:creationId xmlns:a16="http://schemas.microsoft.com/office/drawing/2014/main" id="{7EFF21B4-FF79-4A19-B78A-F626E6537A94}"/>
              </a:ext>
            </a:extLst>
          </p:cNvPr>
          <p:cNvGraphicFramePr>
            <a:graphicFrameLocks noGrp="1"/>
          </p:cNvGraphicFramePr>
          <p:nvPr>
            <p:extLst>
              <p:ext uri="{D42A27DB-BD31-4B8C-83A1-F6EECF244321}">
                <p14:modId xmlns:p14="http://schemas.microsoft.com/office/powerpoint/2010/main" val="3967969805"/>
              </p:ext>
            </p:extLst>
          </p:nvPr>
        </p:nvGraphicFramePr>
        <p:xfrm>
          <a:off x="4328464" y="1979796"/>
          <a:ext cx="3426012" cy="1310516"/>
        </p:xfrm>
        <a:graphic>
          <a:graphicData uri="http://schemas.openxmlformats.org/drawingml/2006/table">
            <a:tbl>
              <a:tblPr firstRow="1" bandRow="1">
                <a:tableStyleId>{5C22544A-7EE6-4342-B048-85BDC9FD1C3A}</a:tableStyleId>
              </a:tblPr>
              <a:tblGrid>
                <a:gridCol w="1695824">
                  <a:extLst>
                    <a:ext uri="{9D8B030D-6E8A-4147-A177-3AD203B41FA5}">
                      <a16:colId xmlns:a16="http://schemas.microsoft.com/office/drawing/2014/main" val="2418255760"/>
                    </a:ext>
                  </a:extLst>
                </a:gridCol>
                <a:gridCol w="1730188">
                  <a:extLst>
                    <a:ext uri="{9D8B030D-6E8A-4147-A177-3AD203B41FA5}">
                      <a16:colId xmlns:a16="http://schemas.microsoft.com/office/drawing/2014/main" val="2484617637"/>
                    </a:ext>
                  </a:extLst>
                </a:gridCol>
              </a:tblGrid>
              <a:tr h="327629">
                <a:tc>
                  <a:txBody>
                    <a:bodyPr/>
                    <a:lstStyle/>
                    <a:p>
                      <a:r>
                        <a:rPr lang="en-IN" sz="1400" dirty="0"/>
                        <a:t>Data Type</a:t>
                      </a:r>
                    </a:p>
                  </a:txBody>
                  <a:tcPr anchor="ctr"/>
                </a:tc>
                <a:tc>
                  <a:txBody>
                    <a:bodyPr/>
                    <a:lstStyle/>
                    <a:p>
                      <a:r>
                        <a:rPr lang="en-IN" sz="1400" dirty="0"/>
                        <a:t>Transformation</a:t>
                      </a:r>
                    </a:p>
                  </a:txBody>
                  <a:tcPr anchor="ctr"/>
                </a:tc>
                <a:extLst>
                  <a:ext uri="{0D108BD9-81ED-4DB2-BD59-A6C34878D82A}">
                    <a16:rowId xmlns:a16="http://schemas.microsoft.com/office/drawing/2014/main" val="270019579"/>
                  </a:ext>
                </a:extLst>
              </a:tr>
              <a:tr h="327629">
                <a:tc>
                  <a:txBody>
                    <a:bodyPr/>
                    <a:lstStyle/>
                    <a:p>
                      <a:r>
                        <a:rPr lang="en-IN" sz="1400" dirty="0"/>
                        <a:t>Numerical</a:t>
                      </a:r>
                    </a:p>
                  </a:txBody>
                  <a:tcPr anchor="ctr"/>
                </a:tc>
                <a:tc>
                  <a:txBody>
                    <a:bodyPr/>
                    <a:lstStyle/>
                    <a:p>
                      <a:r>
                        <a:rPr lang="en-IN" sz="1400" dirty="0" err="1"/>
                        <a:t>StandardScaler</a:t>
                      </a:r>
                      <a:endParaRPr lang="en-IN" sz="1400" dirty="0"/>
                    </a:p>
                  </a:txBody>
                  <a:tcPr anchor="ctr"/>
                </a:tc>
                <a:extLst>
                  <a:ext uri="{0D108BD9-81ED-4DB2-BD59-A6C34878D82A}">
                    <a16:rowId xmlns:a16="http://schemas.microsoft.com/office/drawing/2014/main" val="4107763966"/>
                  </a:ext>
                </a:extLst>
              </a:tr>
              <a:tr h="327629">
                <a:tc>
                  <a:txBody>
                    <a:bodyPr/>
                    <a:lstStyle/>
                    <a:p>
                      <a:r>
                        <a:rPr lang="en-IN" sz="1400"/>
                        <a:t>Categorical</a:t>
                      </a:r>
                    </a:p>
                  </a:txBody>
                  <a:tcPr anchor="ctr"/>
                </a:tc>
                <a:tc>
                  <a:txBody>
                    <a:bodyPr/>
                    <a:lstStyle/>
                    <a:p>
                      <a:r>
                        <a:rPr lang="en-IN" sz="1400" dirty="0" err="1"/>
                        <a:t>OneHotEncoder</a:t>
                      </a:r>
                      <a:endParaRPr lang="en-IN" sz="1400" dirty="0"/>
                    </a:p>
                  </a:txBody>
                  <a:tcPr anchor="ctr"/>
                </a:tc>
                <a:extLst>
                  <a:ext uri="{0D108BD9-81ED-4DB2-BD59-A6C34878D82A}">
                    <a16:rowId xmlns:a16="http://schemas.microsoft.com/office/drawing/2014/main" val="1101968279"/>
                  </a:ext>
                </a:extLst>
              </a:tr>
              <a:tr h="327629">
                <a:tc>
                  <a:txBody>
                    <a:bodyPr/>
                    <a:lstStyle/>
                    <a:p>
                      <a:r>
                        <a:rPr lang="en-IN" sz="1400" dirty="0"/>
                        <a:t>Text</a:t>
                      </a:r>
                    </a:p>
                  </a:txBody>
                  <a:tcPr anchor="ctr"/>
                </a:tc>
                <a:tc>
                  <a:txBody>
                    <a:bodyPr/>
                    <a:lstStyle/>
                    <a:p>
                      <a:r>
                        <a:rPr lang="en-IN" sz="1400" dirty="0"/>
                        <a:t>TF-IDF Vectorizer</a:t>
                      </a:r>
                    </a:p>
                  </a:txBody>
                  <a:tcPr anchor="ctr"/>
                </a:tc>
                <a:extLst>
                  <a:ext uri="{0D108BD9-81ED-4DB2-BD59-A6C34878D82A}">
                    <a16:rowId xmlns:a16="http://schemas.microsoft.com/office/drawing/2014/main" val="687192060"/>
                  </a:ext>
                </a:extLst>
              </a:tr>
            </a:tbl>
          </a:graphicData>
        </a:graphic>
      </p:graphicFrame>
      <p:sp>
        <p:nvSpPr>
          <p:cNvPr id="11" name="Rectangle 10">
            <a:extLst>
              <a:ext uri="{FF2B5EF4-FFF2-40B4-BE49-F238E27FC236}">
                <a16:creationId xmlns:a16="http://schemas.microsoft.com/office/drawing/2014/main" id="{AB4D18E6-860A-4AFF-85E0-79AE5CA93E6F}"/>
              </a:ext>
            </a:extLst>
          </p:cNvPr>
          <p:cNvSpPr/>
          <p:nvPr/>
        </p:nvSpPr>
        <p:spPr>
          <a:xfrm>
            <a:off x="6320120" y="3428999"/>
            <a:ext cx="1407460" cy="3046988"/>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IN" sz="1200" dirty="0"/>
              <a:t>   Dataset</a:t>
            </a:r>
          </a:p>
          <a:p>
            <a:r>
              <a:rPr lang="en-IN" sz="1200" dirty="0"/>
              <a:t>      │</a:t>
            </a:r>
          </a:p>
          <a:p>
            <a:r>
              <a:rPr lang="en-IN" sz="1200" dirty="0"/>
              <a:t> ┌────┴────┐</a:t>
            </a:r>
          </a:p>
          <a:p>
            <a:r>
              <a:rPr lang="en-IN" sz="1200" dirty="0"/>
              <a:t> │         │</a:t>
            </a:r>
          </a:p>
          <a:p>
            <a:r>
              <a:rPr lang="en-IN" sz="1200" dirty="0"/>
              <a:t>Numeric  Categorical</a:t>
            </a:r>
          </a:p>
          <a:p>
            <a:r>
              <a:rPr lang="en-IN" sz="1200" dirty="0"/>
              <a:t> │          │</a:t>
            </a:r>
          </a:p>
          <a:p>
            <a:r>
              <a:rPr lang="en-IN" sz="1200" dirty="0"/>
              <a:t>Scaling  One-Hot Encoding</a:t>
            </a:r>
          </a:p>
          <a:p>
            <a:r>
              <a:rPr lang="en-IN" sz="1200" dirty="0"/>
              <a:t> │          │</a:t>
            </a:r>
          </a:p>
          <a:p>
            <a:r>
              <a:rPr lang="en-IN" sz="1200" dirty="0"/>
              <a:t> └────┬─────┘</a:t>
            </a:r>
          </a:p>
          <a:p>
            <a:r>
              <a:rPr lang="en-IN" sz="1200" dirty="0"/>
              <a:t>      ↓</a:t>
            </a:r>
          </a:p>
          <a:p>
            <a:r>
              <a:rPr lang="en-IN" sz="1200" dirty="0"/>
              <a:t>Combined Features</a:t>
            </a:r>
          </a:p>
          <a:p>
            <a:r>
              <a:rPr lang="en-IN" sz="1200" dirty="0"/>
              <a:t>      ↓</a:t>
            </a:r>
          </a:p>
          <a:p>
            <a:r>
              <a:rPr lang="en-IN" sz="1200" dirty="0"/>
              <a:t>Machine Learning Model</a:t>
            </a:r>
          </a:p>
        </p:txBody>
      </p:sp>
      <p:sp>
        <p:nvSpPr>
          <p:cNvPr id="21" name="TextBox 20">
            <a:extLst>
              <a:ext uri="{FF2B5EF4-FFF2-40B4-BE49-F238E27FC236}">
                <a16:creationId xmlns:a16="http://schemas.microsoft.com/office/drawing/2014/main" id="{BC4F7E4C-E013-44B5-9CAA-371065F1AEE4}"/>
              </a:ext>
            </a:extLst>
          </p:cNvPr>
          <p:cNvSpPr txBox="1"/>
          <p:nvPr/>
        </p:nvSpPr>
        <p:spPr>
          <a:xfrm>
            <a:off x="8355650" y="1103426"/>
            <a:ext cx="3155576" cy="3600986"/>
          </a:xfrm>
          <a:prstGeom prst="rect">
            <a:avLst/>
          </a:prstGeom>
          <a:noFill/>
        </p:spPr>
        <p:txBody>
          <a:bodyPr wrap="square" rtlCol="0">
            <a:spAutoFit/>
          </a:bodyPr>
          <a:lstStyle/>
          <a:p>
            <a:r>
              <a:rPr lang="en-US" sz="1600" b="1" dirty="0">
                <a:solidFill>
                  <a:schemeClr val="accent6">
                    <a:lumMod val="75000"/>
                  </a:schemeClr>
                </a:solidFill>
              </a:rPr>
              <a:t>Benefits:</a:t>
            </a:r>
          </a:p>
          <a:p>
            <a:pPr marL="285750" indent="-285750">
              <a:buFont typeface="Wingdings" panose="05000000000000000000" pitchFamily="2" charset="2"/>
              <a:buChar char="ü"/>
            </a:pPr>
            <a:r>
              <a:rPr lang="en-US" sz="1600" dirty="0"/>
              <a:t>Handles mixed data types efficiently. </a:t>
            </a:r>
          </a:p>
          <a:p>
            <a:pPr marL="285750" indent="-285750">
              <a:buFont typeface="Wingdings" panose="05000000000000000000" pitchFamily="2" charset="2"/>
              <a:buChar char="ü"/>
            </a:pPr>
            <a:r>
              <a:rPr lang="en-US" sz="1600" dirty="0"/>
              <a:t>Applies different preprocessing to different columns. </a:t>
            </a:r>
          </a:p>
          <a:p>
            <a:pPr marL="285750" indent="-285750">
              <a:buFont typeface="Wingdings" panose="05000000000000000000" pitchFamily="2" charset="2"/>
              <a:buChar char="ü"/>
            </a:pPr>
            <a:r>
              <a:rPr lang="en-US" sz="1600" dirty="0"/>
              <a:t>Improves code readability and scalability</a:t>
            </a:r>
            <a:r>
              <a:rPr lang="en-US" dirty="0"/>
              <a:t>. </a:t>
            </a:r>
          </a:p>
          <a:p>
            <a:r>
              <a:rPr lang="en-US" sz="1600" b="1" dirty="0">
                <a:solidFill>
                  <a:schemeClr val="accent6">
                    <a:lumMod val="75000"/>
                  </a:schemeClr>
                </a:solidFill>
              </a:rPr>
              <a:t>Applications:</a:t>
            </a:r>
          </a:p>
          <a:p>
            <a:pPr marL="285750" indent="-285750">
              <a:buFont typeface="Arial" panose="020B0604020202020204" pitchFamily="34" charset="0"/>
              <a:buChar char="•"/>
            </a:pPr>
            <a:r>
              <a:rPr lang="en-US" sz="1600" dirty="0"/>
              <a:t>Customer Churn Prediction </a:t>
            </a:r>
          </a:p>
          <a:p>
            <a:pPr marL="285750" indent="-285750">
              <a:buFont typeface="Arial" panose="020B0604020202020204" pitchFamily="34" charset="0"/>
              <a:buChar char="•"/>
            </a:pPr>
            <a:r>
              <a:rPr lang="en-US" sz="1600" dirty="0"/>
              <a:t>House Price Prediction </a:t>
            </a:r>
          </a:p>
          <a:p>
            <a:pPr marL="285750" indent="-285750">
              <a:buFont typeface="Arial" panose="020B0604020202020204" pitchFamily="34" charset="0"/>
              <a:buChar char="•"/>
            </a:pPr>
            <a:r>
              <a:rPr lang="en-US" sz="1600" dirty="0"/>
              <a:t>Credit Risk Analysis </a:t>
            </a:r>
          </a:p>
          <a:p>
            <a:pPr marL="285750" indent="-285750">
              <a:buFont typeface="Arial" panose="020B0604020202020204" pitchFamily="34" charset="0"/>
              <a:buChar char="•"/>
            </a:pPr>
            <a:r>
              <a:rPr lang="en-US" sz="1600" dirty="0"/>
              <a:t>Medical Diagnosis </a:t>
            </a:r>
          </a:p>
          <a:p>
            <a:pPr marL="285750" indent="-285750">
              <a:buFont typeface="Arial" panose="020B0604020202020204" pitchFamily="34" charset="0"/>
              <a:buChar char="•"/>
            </a:pPr>
            <a:r>
              <a:rPr lang="en-US" sz="1600" dirty="0"/>
              <a:t>Recommendation Systems </a:t>
            </a:r>
          </a:p>
          <a:p>
            <a:endParaRPr lang="en-US" dirty="0"/>
          </a:p>
        </p:txBody>
      </p:sp>
      <p:sp>
        <p:nvSpPr>
          <p:cNvPr id="22" name="Rectangle 21">
            <a:extLst>
              <a:ext uri="{FF2B5EF4-FFF2-40B4-BE49-F238E27FC236}">
                <a16:creationId xmlns:a16="http://schemas.microsoft.com/office/drawing/2014/main" id="{0AC8EC15-E14D-48B4-B073-B6FF5895ABE0}"/>
              </a:ext>
            </a:extLst>
          </p:cNvPr>
          <p:cNvSpPr/>
          <p:nvPr/>
        </p:nvSpPr>
        <p:spPr>
          <a:xfrm>
            <a:off x="11283946" y="6584434"/>
            <a:ext cx="418704" cy="369332"/>
          </a:xfrm>
          <a:prstGeom prst="rect">
            <a:avLst/>
          </a:prstGeom>
        </p:spPr>
        <p:txBody>
          <a:bodyPr wrap="none">
            <a:spAutoFit/>
          </a:bodyPr>
          <a:lstStyle/>
          <a:p>
            <a:r>
              <a:rPr lang="en-US" dirty="0">
                <a:solidFill>
                  <a:schemeClr val="bg1"/>
                </a:solidFill>
              </a:rPr>
              <a:t>17</a:t>
            </a:r>
            <a:endParaRPr lang="en-IN" dirty="0">
              <a:solidFill>
                <a:schemeClr val="bg1"/>
              </a:solidFill>
            </a:endParaRPr>
          </a:p>
        </p:txBody>
      </p:sp>
    </p:spTree>
    <p:extLst>
      <p:ext uri="{BB962C8B-B14F-4D97-AF65-F5344CB8AC3E}">
        <p14:creationId xmlns:p14="http://schemas.microsoft.com/office/powerpoint/2010/main" val="1032321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IN" sz="2800" b="1" dirty="0">
                <a:solidFill>
                  <a:schemeClr val="accent1">
                    <a:lumMod val="50000"/>
                  </a:schemeClr>
                </a:solidFill>
              </a:rPr>
              <a:t>Text </a:t>
            </a:r>
            <a:r>
              <a:rPr lang="en-IN" sz="2800" b="1" dirty="0" err="1">
                <a:solidFill>
                  <a:schemeClr val="accent1">
                    <a:lumMod val="50000"/>
                  </a:schemeClr>
                </a:solidFill>
              </a:rPr>
              <a:t>Preprocessing</a:t>
            </a:r>
            <a:r>
              <a:rPr lang="en-IN" sz="2800" b="1" dirty="0">
                <a:solidFill>
                  <a:schemeClr val="accent1">
                    <a:lumMod val="50000"/>
                  </a:schemeClr>
                </a:solidFill>
              </a:rPr>
              <a:t> &amp; Vectorization</a:t>
            </a:r>
            <a:endParaRPr lang="en-US" sz="2800" b="1" dirty="0">
              <a:solidFill>
                <a:schemeClr val="accent1">
                  <a:lumMod val="50000"/>
                </a:schemeClr>
              </a:solidFill>
            </a:endParaRPr>
          </a:p>
        </p:txBody>
      </p:sp>
      <p:sp>
        <p:nvSpPr>
          <p:cNvPr id="7" name="TextBox 6">
            <a:extLst>
              <a:ext uri="{FF2B5EF4-FFF2-40B4-BE49-F238E27FC236}">
                <a16:creationId xmlns:a16="http://schemas.microsoft.com/office/drawing/2014/main" id="{8CF55A31-C492-4847-8F37-AAD1EC333F7D}"/>
              </a:ext>
            </a:extLst>
          </p:cNvPr>
          <p:cNvSpPr txBox="1"/>
          <p:nvPr/>
        </p:nvSpPr>
        <p:spPr>
          <a:xfrm>
            <a:off x="435685" y="1193473"/>
            <a:ext cx="5391374" cy="4308872"/>
          </a:xfrm>
          <a:prstGeom prst="rect">
            <a:avLst/>
          </a:prstGeom>
          <a:solidFill>
            <a:schemeClr val="tx2">
              <a:lumMod val="20000"/>
              <a:lumOff val="80000"/>
            </a:schemeClr>
          </a:solidFill>
        </p:spPr>
        <p:txBody>
          <a:bodyPr wrap="square" rtlCol="0">
            <a:spAutoFit/>
          </a:bodyPr>
          <a:lstStyle/>
          <a:p>
            <a:r>
              <a:rPr lang="en-US" b="1" dirty="0">
                <a:solidFill>
                  <a:srgbClr val="C00000"/>
                </a:solidFill>
              </a:rPr>
              <a:t>Text Preprocessing</a:t>
            </a:r>
          </a:p>
          <a:p>
            <a:r>
              <a:rPr lang="en-US" sz="1600" dirty="0"/>
              <a:t>Text data must be cleaned and converted into structured form before modeling.</a:t>
            </a:r>
          </a:p>
          <a:p>
            <a:r>
              <a:rPr lang="en-US" sz="1600" b="1" dirty="0">
                <a:solidFill>
                  <a:schemeClr val="accent1">
                    <a:lumMod val="75000"/>
                  </a:schemeClr>
                </a:solidFill>
              </a:rPr>
              <a:t>Tokenization:</a:t>
            </a:r>
          </a:p>
          <a:p>
            <a:r>
              <a:rPr lang="en-US" sz="1600" dirty="0"/>
              <a:t>Splitting text into smaller units (words or sentences). </a:t>
            </a:r>
          </a:p>
          <a:p>
            <a:r>
              <a:rPr lang="en-US" sz="1600" b="1" dirty="0">
                <a:solidFill>
                  <a:schemeClr val="accent6">
                    <a:lumMod val="75000"/>
                  </a:schemeClr>
                </a:solidFill>
              </a:rPr>
              <a:t>Example: </a:t>
            </a:r>
          </a:p>
          <a:p>
            <a:pPr lvl="1"/>
            <a:r>
              <a:rPr lang="en-US" sz="1600" dirty="0"/>
              <a:t>“I HATE ML” → [“I”, “HATE”, “ML”] </a:t>
            </a:r>
          </a:p>
          <a:p>
            <a:r>
              <a:rPr lang="en-US" sz="1600" b="1" dirty="0">
                <a:solidFill>
                  <a:schemeClr val="accent1">
                    <a:lumMod val="75000"/>
                  </a:schemeClr>
                </a:solidFill>
              </a:rPr>
              <a:t> </a:t>
            </a:r>
            <a:r>
              <a:rPr lang="en-US" sz="1600" b="1" dirty="0" err="1">
                <a:solidFill>
                  <a:schemeClr val="accent1">
                    <a:lumMod val="75000"/>
                  </a:schemeClr>
                </a:solidFill>
              </a:rPr>
              <a:t>Stopwords</a:t>
            </a:r>
            <a:r>
              <a:rPr lang="en-US" sz="1600" b="1" dirty="0">
                <a:solidFill>
                  <a:schemeClr val="accent1">
                    <a:lumMod val="75000"/>
                  </a:schemeClr>
                </a:solidFill>
              </a:rPr>
              <a:t> Removal:</a:t>
            </a:r>
          </a:p>
          <a:p>
            <a:r>
              <a:rPr lang="en-US" sz="1600" dirty="0"/>
              <a:t>Removes common words that do not add meaning. </a:t>
            </a:r>
          </a:p>
          <a:p>
            <a:r>
              <a:rPr lang="en-US" sz="1600" b="1" dirty="0">
                <a:solidFill>
                  <a:schemeClr val="accent6">
                    <a:lumMod val="75000"/>
                  </a:schemeClr>
                </a:solidFill>
              </a:rPr>
              <a:t>Examples:</a:t>
            </a:r>
            <a:r>
              <a:rPr lang="en-US" sz="1600" dirty="0"/>
              <a:t> </a:t>
            </a:r>
            <a:r>
              <a:rPr lang="en-US" sz="1600" i="1" dirty="0"/>
              <a:t>is, the, a, and, in</a:t>
            </a:r>
            <a:r>
              <a:rPr lang="en-US" sz="1600" dirty="0"/>
              <a:t> </a:t>
            </a:r>
          </a:p>
          <a:p>
            <a:r>
              <a:rPr lang="en-US" sz="1600" dirty="0"/>
              <a:t>Helps reduce noise in data. </a:t>
            </a:r>
          </a:p>
          <a:p>
            <a:r>
              <a:rPr lang="en-US" sz="1600" b="1" dirty="0">
                <a:solidFill>
                  <a:schemeClr val="accent1">
                    <a:lumMod val="75000"/>
                  </a:schemeClr>
                </a:solidFill>
              </a:rPr>
              <a:t> Stemming:</a:t>
            </a:r>
          </a:p>
          <a:p>
            <a:r>
              <a:rPr lang="en-US" sz="1600" dirty="0"/>
              <a:t>Reduces words to their root form. </a:t>
            </a:r>
          </a:p>
          <a:p>
            <a:r>
              <a:rPr lang="en-US" sz="1600" b="1" dirty="0">
                <a:solidFill>
                  <a:schemeClr val="accent6">
                    <a:lumMod val="75000"/>
                  </a:schemeClr>
                </a:solidFill>
              </a:rPr>
              <a:t>Example: </a:t>
            </a:r>
          </a:p>
          <a:p>
            <a:pPr lvl="1"/>
            <a:r>
              <a:rPr lang="en-US" sz="1600" dirty="0"/>
              <a:t>“playing”, “played” → “play” </a:t>
            </a:r>
          </a:p>
          <a:p>
            <a:r>
              <a:rPr lang="en-US" sz="1600" dirty="0"/>
              <a:t>Improves consistency in text analysis. </a:t>
            </a:r>
          </a:p>
          <a:p>
            <a:endParaRPr lang="en-US" sz="1600" dirty="0"/>
          </a:p>
        </p:txBody>
      </p:sp>
      <p:sp>
        <p:nvSpPr>
          <p:cNvPr id="12" name="TextBox 11">
            <a:extLst>
              <a:ext uri="{FF2B5EF4-FFF2-40B4-BE49-F238E27FC236}">
                <a16:creationId xmlns:a16="http://schemas.microsoft.com/office/drawing/2014/main" id="{A9C863C9-06EF-4C17-BA84-6FB10C50EFE2}"/>
              </a:ext>
            </a:extLst>
          </p:cNvPr>
          <p:cNvSpPr txBox="1"/>
          <p:nvPr/>
        </p:nvSpPr>
        <p:spPr>
          <a:xfrm>
            <a:off x="5988424" y="1193473"/>
            <a:ext cx="5504874" cy="4308872"/>
          </a:xfrm>
          <a:prstGeom prst="rect">
            <a:avLst/>
          </a:prstGeom>
          <a:solidFill>
            <a:schemeClr val="tx2">
              <a:lumMod val="20000"/>
              <a:lumOff val="80000"/>
            </a:schemeClr>
          </a:solidFill>
        </p:spPr>
        <p:txBody>
          <a:bodyPr wrap="square" rtlCol="0">
            <a:spAutoFit/>
          </a:bodyPr>
          <a:lstStyle/>
          <a:p>
            <a:r>
              <a:rPr lang="en-US" b="1" dirty="0">
                <a:solidFill>
                  <a:srgbClr val="C00000"/>
                </a:solidFill>
              </a:rPr>
              <a:t>Bag of Words (</a:t>
            </a:r>
            <a:r>
              <a:rPr lang="en-US" b="1" dirty="0" err="1">
                <a:solidFill>
                  <a:srgbClr val="C00000"/>
                </a:solidFill>
              </a:rPr>
              <a:t>BoW</a:t>
            </a:r>
            <a:r>
              <a:rPr lang="en-US" b="1" dirty="0">
                <a:solidFill>
                  <a:srgbClr val="C00000"/>
                </a:solidFill>
              </a:rPr>
              <a:t>)</a:t>
            </a:r>
          </a:p>
          <a:p>
            <a:pPr marL="285750" indent="-285750">
              <a:buFont typeface="Arial" panose="020B0604020202020204" pitchFamily="34" charset="0"/>
              <a:buChar char="•"/>
            </a:pPr>
            <a:r>
              <a:rPr lang="en-US" sz="1600" dirty="0"/>
              <a:t>Converts text into numerical form based on word frequency. </a:t>
            </a:r>
          </a:p>
          <a:p>
            <a:pPr marL="285750" indent="-285750">
              <a:buFont typeface="Arial" panose="020B0604020202020204" pitchFamily="34" charset="0"/>
              <a:buChar char="•"/>
            </a:pPr>
            <a:r>
              <a:rPr lang="en-US" sz="1600" dirty="0"/>
              <a:t>Ignores grammar and word order. </a:t>
            </a:r>
          </a:p>
          <a:p>
            <a:r>
              <a:rPr lang="en-US" sz="1600" dirty="0"/>
              <a:t>Example: </a:t>
            </a:r>
          </a:p>
          <a:p>
            <a:pPr lvl="1"/>
            <a:r>
              <a:rPr lang="en-US" sz="1600" dirty="0"/>
              <a:t>“I love ML” → vector of word counts. </a:t>
            </a:r>
          </a:p>
          <a:p>
            <a:r>
              <a:rPr lang="en-US" sz="1600" b="1" dirty="0">
                <a:solidFill>
                  <a:schemeClr val="accent6">
                    <a:lumMod val="75000"/>
                  </a:schemeClr>
                </a:solidFill>
              </a:rPr>
              <a:t>Limitations:</a:t>
            </a:r>
          </a:p>
          <a:p>
            <a:pPr marL="285750" indent="-285750">
              <a:buFont typeface="Arial" panose="020B0604020202020204" pitchFamily="34" charset="0"/>
              <a:buChar char="•"/>
            </a:pPr>
            <a:r>
              <a:rPr lang="en-US" sz="1600" dirty="0"/>
              <a:t>Large sparse matrices. </a:t>
            </a:r>
          </a:p>
          <a:p>
            <a:pPr marL="285750" indent="-285750">
              <a:buFont typeface="Arial" panose="020B0604020202020204" pitchFamily="34" charset="0"/>
              <a:buChar char="•"/>
            </a:pPr>
            <a:r>
              <a:rPr lang="en-US" sz="1600" dirty="0"/>
              <a:t>No semantic meaning of words. </a:t>
            </a:r>
          </a:p>
          <a:p>
            <a:r>
              <a:rPr lang="en-US" sz="1600" b="1" dirty="0">
                <a:solidFill>
                  <a:schemeClr val="accent1">
                    <a:lumMod val="75000"/>
                  </a:schemeClr>
                </a:solidFill>
              </a:rPr>
              <a:t>TF-IDF (Term Frequency – Inverse Document Frequency</a:t>
            </a:r>
            <a:r>
              <a:rPr lang="en-US" sz="1600" b="1" dirty="0"/>
              <a:t>)</a:t>
            </a:r>
          </a:p>
          <a:p>
            <a:pPr marL="285750" indent="-285750">
              <a:buFont typeface="Arial" panose="020B0604020202020204" pitchFamily="34" charset="0"/>
              <a:buChar char="•"/>
            </a:pPr>
            <a:r>
              <a:rPr lang="en-US" sz="1600" dirty="0"/>
              <a:t>Assigns importance to words based on frequency. </a:t>
            </a:r>
          </a:p>
          <a:p>
            <a:pPr marL="285750" indent="-285750">
              <a:buFont typeface="Arial" panose="020B0604020202020204" pitchFamily="34" charset="0"/>
              <a:buChar char="•"/>
            </a:pPr>
            <a:r>
              <a:rPr lang="en-US" sz="1600" dirty="0"/>
              <a:t>Reduces importance of common words. </a:t>
            </a:r>
          </a:p>
          <a:p>
            <a:pPr marL="285750" indent="-285750">
              <a:buFont typeface="Arial" panose="020B0604020202020204" pitchFamily="34" charset="0"/>
              <a:buChar char="•"/>
            </a:pPr>
            <a:r>
              <a:rPr lang="en-US" sz="1600" dirty="0"/>
              <a:t>Formula idea: </a:t>
            </a:r>
          </a:p>
          <a:p>
            <a:pPr lvl="1"/>
            <a:r>
              <a:rPr lang="en-US" sz="1600" dirty="0"/>
              <a:t>High TF × Low DF = Important word </a:t>
            </a:r>
          </a:p>
          <a:p>
            <a:r>
              <a:rPr lang="en-US" sz="1600" b="1" dirty="0">
                <a:solidFill>
                  <a:schemeClr val="accent6">
                    <a:lumMod val="75000"/>
                  </a:schemeClr>
                </a:solidFill>
              </a:rPr>
              <a:t>Advantages:</a:t>
            </a:r>
          </a:p>
          <a:p>
            <a:pPr marL="285750" indent="-285750">
              <a:buFont typeface="Wingdings" panose="05000000000000000000" pitchFamily="2" charset="2"/>
              <a:buChar char="ü"/>
            </a:pPr>
            <a:r>
              <a:rPr lang="en-US" sz="1600" dirty="0"/>
              <a:t>Better than </a:t>
            </a:r>
            <a:r>
              <a:rPr lang="en-US" sz="1600" dirty="0" err="1"/>
              <a:t>BoW</a:t>
            </a:r>
            <a:r>
              <a:rPr lang="en-US" sz="1600" dirty="0"/>
              <a:t> for feature weighting. </a:t>
            </a:r>
          </a:p>
          <a:p>
            <a:pPr marL="285750" indent="-285750">
              <a:buFont typeface="Wingdings" panose="05000000000000000000" pitchFamily="2" charset="2"/>
              <a:buChar char="ü"/>
            </a:pPr>
            <a:r>
              <a:rPr lang="en-US" sz="1600" dirty="0"/>
              <a:t>Captures importance of rare but meaningful words</a:t>
            </a:r>
          </a:p>
          <a:p>
            <a:endParaRPr lang="en-US" sz="1600" dirty="0"/>
          </a:p>
        </p:txBody>
      </p:sp>
      <p:sp>
        <p:nvSpPr>
          <p:cNvPr id="13" name="Rectangle 12">
            <a:extLst>
              <a:ext uri="{FF2B5EF4-FFF2-40B4-BE49-F238E27FC236}">
                <a16:creationId xmlns:a16="http://schemas.microsoft.com/office/drawing/2014/main" id="{EFF0D53E-8222-4737-831B-473A6B3E37B9}"/>
              </a:ext>
            </a:extLst>
          </p:cNvPr>
          <p:cNvSpPr/>
          <p:nvPr/>
        </p:nvSpPr>
        <p:spPr>
          <a:xfrm>
            <a:off x="11423945" y="6584434"/>
            <a:ext cx="418704" cy="369332"/>
          </a:xfrm>
          <a:prstGeom prst="rect">
            <a:avLst/>
          </a:prstGeom>
        </p:spPr>
        <p:txBody>
          <a:bodyPr wrap="none">
            <a:spAutoFit/>
          </a:bodyPr>
          <a:lstStyle/>
          <a:p>
            <a:r>
              <a:rPr lang="en-US" dirty="0">
                <a:solidFill>
                  <a:schemeClr val="bg1"/>
                </a:solidFill>
              </a:rPr>
              <a:t>18</a:t>
            </a:r>
            <a:endParaRPr lang="en-IN" dirty="0">
              <a:solidFill>
                <a:schemeClr val="bg1"/>
              </a:solidFill>
            </a:endParaRPr>
          </a:p>
        </p:txBody>
      </p:sp>
    </p:spTree>
    <p:extLst>
      <p:ext uri="{BB962C8B-B14F-4D97-AF65-F5344CB8AC3E}">
        <p14:creationId xmlns:p14="http://schemas.microsoft.com/office/powerpoint/2010/main" val="2234354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3"/>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4"/>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IN" sz="2800" b="1" dirty="0">
                <a:solidFill>
                  <a:schemeClr val="accent1">
                    <a:lumMod val="50000"/>
                  </a:schemeClr>
                </a:solidFill>
              </a:rPr>
              <a:t>Naive Bayes &amp; Sentiment Analysis</a:t>
            </a:r>
            <a:endParaRPr lang="en-US" sz="2800" b="1" dirty="0">
              <a:solidFill>
                <a:schemeClr val="accent1">
                  <a:lumMod val="50000"/>
                </a:schemeClr>
              </a:solidFill>
            </a:endParaRPr>
          </a:p>
        </p:txBody>
      </p:sp>
      <p:sp>
        <p:nvSpPr>
          <p:cNvPr id="7" name="TextBox 6">
            <a:extLst>
              <a:ext uri="{FF2B5EF4-FFF2-40B4-BE49-F238E27FC236}">
                <a16:creationId xmlns:a16="http://schemas.microsoft.com/office/drawing/2014/main" id="{F9345E80-16BB-4B7F-B0A0-770969467680}"/>
              </a:ext>
            </a:extLst>
          </p:cNvPr>
          <p:cNvSpPr txBox="1"/>
          <p:nvPr/>
        </p:nvSpPr>
        <p:spPr>
          <a:xfrm>
            <a:off x="435685" y="947560"/>
            <a:ext cx="5660315" cy="4524315"/>
          </a:xfrm>
          <a:prstGeom prst="rect">
            <a:avLst/>
          </a:prstGeom>
          <a:noFill/>
        </p:spPr>
        <p:txBody>
          <a:bodyPr wrap="square" rtlCol="0">
            <a:spAutoFit/>
          </a:bodyPr>
          <a:lstStyle/>
          <a:p>
            <a:r>
              <a:rPr lang="en-US" b="1" dirty="0">
                <a:solidFill>
                  <a:srgbClr val="C00000"/>
                </a:solidFill>
              </a:rPr>
              <a:t>Naive Bayes Classifier (Text Classification)</a:t>
            </a:r>
          </a:p>
          <a:p>
            <a:pPr marL="285750" indent="-285750">
              <a:buFont typeface="Arial" panose="020B0604020202020204" pitchFamily="34" charset="0"/>
              <a:buChar char="•"/>
            </a:pPr>
            <a:r>
              <a:rPr lang="en-US" dirty="0"/>
              <a:t>A probabilistic machine learning algorithm based on </a:t>
            </a:r>
            <a:r>
              <a:rPr lang="en-US" b="1" dirty="0"/>
              <a:t>Bayes Theorem</a:t>
            </a:r>
            <a:r>
              <a:rPr lang="en-US" dirty="0"/>
              <a:t>. </a:t>
            </a:r>
          </a:p>
          <a:p>
            <a:pPr marL="285750" indent="-285750">
              <a:buFont typeface="Arial" panose="020B0604020202020204" pitchFamily="34" charset="0"/>
              <a:buChar char="•"/>
            </a:pPr>
            <a:r>
              <a:rPr lang="en-US" dirty="0"/>
              <a:t>Commonly used for </a:t>
            </a:r>
            <a:r>
              <a:rPr lang="en-US" b="1" dirty="0"/>
              <a:t>text classification tasks</a:t>
            </a:r>
            <a:r>
              <a:rPr lang="en-US" dirty="0"/>
              <a:t>. </a:t>
            </a:r>
          </a:p>
          <a:p>
            <a:r>
              <a:rPr lang="en-US" b="1" dirty="0">
                <a:solidFill>
                  <a:schemeClr val="accent6">
                    <a:lumMod val="75000"/>
                  </a:schemeClr>
                </a:solidFill>
              </a:rPr>
              <a:t>How it works:</a:t>
            </a:r>
          </a:p>
          <a:p>
            <a:pPr marL="285750" indent="-285750">
              <a:buFont typeface="Arial" panose="020B0604020202020204" pitchFamily="34" charset="0"/>
              <a:buChar char="•"/>
            </a:pPr>
            <a:r>
              <a:rPr lang="en-US" dirty="0"/>
              <a:t>Calculates probability of a class given words in a document. </a:t>
            </a:r>
          </a:p>
          <a:p>
            <a:pPr marL="285750" indent="-285750">
              <a:buFont typeface="Arial" panose="020B0604020202020204" pitchFamily="34" charset="0"/>
              <a:buChar char="•"/>
            </a:pPr>
            <a:r>
              <a:rPr lang="en-US" dirty="0"/>
              <a:t>Assumes features are independent (naive assumption). </a:t>
            </a:r>
          </a:p>
          <a:p>
            <a:r>
              <a:rPr lang="en-US" b="1" dirty="0">
                <a:solidFill>
                  <a:schemeClr val="accent6">
                    <a:lumMod val="75000"/>
                  </a:schemeClr>
                </a:solidFill>
              </a:rPr>
              <a:t>Types:</a:t>
            </a:r>
          </a:p>
          <a:p>
            <a:pPr marL="285750" indent="-285750">
              <a:buFont typeface="Arial" panose="020B0604020202020204" pitchFamily="34" charset="0"/>
              <a:buChar char="•"/>
            </a:pPr>
            <a:r>
              <a:rPr lang="en-US" dirty="0"/>
              <a:t>Multinomial Naive Bayes (best for text data) </a:t>
            </a:r>
          </a:p>
          <a:p>
            <a:pPr marL="285750" indent="-285750">
              <a:buFont typeface="Arial" panose="020B0604020202020204" pitchFamily="34" charset="0"/>
              <a:buChar char="•"/>
            </a:pPr>
            <a:r>
              <a:rPr lang="en-US" dirty="0"/>
              <a:t>Bernoulli Naive Bayes </a:t>
            </a:r>
          </a:p>
          <a:p>
            <a:pPr marL="285750" indent="-285750">
              <a:buFont typeface="Arial" panose="020B0604020202020204" pitchFamily="34" charset="0"/>
              <a:buChar char="•"/>
            </a:pPr>
            <a:r>
              <a:rPr lang="en-US" dirty="0"/>
              <a:t>Gaussian Naive Bayes </a:t>
            </a:r>
          </a:p>
          <a:p>
            <a:r>
              <a:rPr lang="en-US" b="1" dirty="0">
                <a:solidFill>
                  <a:schemeClr val="accent6">
                    <a:lumMod val="75000"/>
                  </a:schemeClr>
                </a:solidFill>
              </a:rPr>
              <a:t>Advantages:</a:t>
            </a:r>
          </a:p>
          <a:p>
            <a:pPr marL="285750" indent="-285750">
              <a:buFont typeface="Wingdings" panose="05000000000000000000" pitchFamily="2" charset="2"/>
              <a:buChar char="ü"/>
            </a:pPr>
            <a:r>
              <a:rPr lang="en-US" dirty="0"/>
              <a:t>Fast and efficient. </a:t>
            </a:r>
          </a:p>
          <a:p>
            <a:pPr marL="285750" indent="-285750">
              <a:buFont typeface="Wingdings" panose="05000000000000000000" pitchFamily="2" charset="2"/>
              <a:buChar char="ü"/>
            </a:pPr>
            <a:r>
              <a:rPr lang="en-US" dirty="0"/>
              <a:t>Works well with high-dimensional text data. </a:t>
            </a:r>
          </a:p>
          <a:p>
            <a:pPr marL="285750" indent="-285750">
              <a:buFont typeface="Wingdings" panose="05000000000000000000" pitchFamily="2" charset="2"/>
              <a:buChar char="ü"/>
            </a:pPr>
            <a:r>
              <a:rPr lang="en-US" dirty="0"/>
              <a:t>Performs well even with small datasets.</a:t>
            </a:r>
          </a:p>
        </p:txBody>
      </p:sp>
      <p:sp>
        <p:nvSpPr>
          <p:cNvPr id="8" name="TextBox 7">
            <a:extLst>
              <a:ext uri="{FF2B5EF4-FFF2-40B4-BE49-F238E27FC236}">
                <a16:creationId xmlns:a16="http://schemas.microsoft.com/office/drawing/2014/main" id="{FC0E1979-C349-4982-861C-4AD9691B07F2}"/>
              </a:ext>
            </a:extLst>
          </p:cNvPr>
          <p:cNvSpPr txBox="1"/>
          <p:nvPr/>
        </p:nvSpPr>
        <p:spPr>
          <a:xfrm>
            <a:off x="6454589" y="924531"/>
            <a:ext cx="5038709" cy="3693319"/>
          </a:xfrm>
          <a:prstGeom prst="rect">
            <a:avLst/>
          </a:prstGeom>
          <a:noFill/>
        </p:spPr>
        <p:txBody>
          <a:bodyPr wrap="square" rtlCol="0">
            <a:spAutoFit/>
          </a:bodyPr>
          <a:lstStyle/>
          <a:p>
            <a:r>
              <a:rPr lang="en-IN" b="1" dirty="0">
                <a:solidFill>
                  <a:srgbClr val="C00000"/>
                </a:solidFill>
              </a:rPr>
              <a:t>Sentiment Analysis Basics</a:t>
            </a:r>
          </a:p>
          <a:p>
            <a:pPr marL="285750" indent="-285750">
              <a:buFont typeface="Arial" panose="020B0604020202020204" pitchFamily="34" charset="0"/>
              <a:buChar char="•"/>
            </a:pPr>
            <a:r>
              <a:rPr lang="en-IN" dirty="0"/>
              <a:t>Process of identifying </a:t>
            </a:r>
            <a:r>
              <a:rPr lang="en-IN" b="1" dirty="0"/>
              <a:t>emotion or opinion</a:t>
            </a:r>
            <a:r>
              <a:rPr lang="en-IN" dirty="0"/>
              <a:t> in text. </a:t>
            </a:r>
          </a:p>
          <a:p>
            <a:pPr marL="285750" indent="-285750">
              <a:buFont typeface="Arial" panose="020B0604020202020204" pitchFamily="34" charset="0"/>
              <a:buChar char="•"/>
            </a:pPr>
            <a:r>
              <a:rPr lang="en-IN" dirty="0"/>
              <a:t>Classifies text into: </a:t>
            </a:r>
          </a:p>
          <a:p>
            <a:pPr marL="742950" lvl="1" indent="-285750">
              <a:buFont typeface="Arial" panose="020B0604020202020204" pitchFamily="34" charset="0"/>
              <a:buChar char="•"/>
            </a:pPr>
            <a:r>
              <a:rPr lang="en-IN" dirty="0"/>
              <a:t>Positive 😊 </a:t>
            </a:r>
          </a:p>
          <a:p>
            <a:pPr marL="742950" lvl="1" indent="-285750">
              <a:buFont typeface="Arial" panose="020B0604020202020204" pitchFamily="34" charset="0"/>
              <a:buChar char="•"/>
            </a:pPr>
            <a:r>
              <a:rPr lang="en-IN" dirty="0"/>
              <a:t>Negative 😡 </a:t>
            </a:r>
          </a:p>
          <a:p>
            <a:pPr marL="742950" lvl="1" indent="-285750">
              <a:buFont typeface="Arial" panose="020B0604020202020204" pitchFamily="34" charset="0"/>
              <a:buChar char="•"/>
            </a:pPr>
            <a:r>
              <a:rPr lang="en-IN" dirty="0"/>
              <a:t>Neutral 😐 </a:t>
            </a:r>
          </a:p>
          <a:p>
            <a:r>
              <a:rPr lang="en-IN" b="1" dirty="0"/>
              <a:t>Steps</a:t>
            </a:r>
          </a:p>
          <a:p>
            <a:pPr marL="342900" indent="-342900">
              <a:buFont typeface="+mj-lt"/>
              <a:buAutoNum type="arabicPeriod"/>
            </a:pPr>
            <a:r>
              <a:rPr lang="en-IN" dirty="0"/>
              <a:t>Collect text data (reviews, tweets). </a:t>
            </a:r>
          </a:p>
          <a:p>
            <a:pPr marL="342900" indent="-342900">
              <a:buFont typeface="+mj-lt"/>
              <a:buAutoNum type="arabicPeriod"/>
            </a:pPr>
            <a:r>
              <a:rPr lang="en-IN" dirty="0" err="1"/>
              <a:t>Preprocess</a:t>
            </a:r>
            <a:r>
              <a:rPr lang="en-IN" dirty="0"/>
              <a:t> text (tokenization, </a:t>
            </a:r>
            <a:r>
              <a:rPr lang="en-IN" dirty="0" err="1"/>
              <a:t>stopwords</a:t>
            </a:r>
            <a:r>
              <a:rPr lang="en-IN" dirty="0"/>
              <a:t> removal). </a:t>
            </a:r>
          </a:p>
          <a:p>
            <a:pPr marL="342900" indent="-342900">
              <a:buFont typeface="+mj-lt"/>
              <a:buAutoNum type="arabicPeriod"/>
            </a:pPr>
            <a:r>
              <a:rPr lang="en-IN" dirty="0"/>
              <a:t>Convert text into vectors (</a:t>
            </a:r>
            <a:r>
              <a:rPr lang="en-IN" dirty="0" err="1"/>
              <a:t>BoW</a:t>
            </a:r>
            <a:r>
              <a:rPr lang="en-IN" dirty="0"/>
              <a:t> / TF-IDF). </a:t>
            </a:r>
          </a:p>
          <a:p>
            <a:pPr marL="342900" indent="-342900">
              <a:buFont typeface="+mj-lt"/>
              <a:buAutoNum type="arabicPeriod"/>
            </a:pPr>
            <a:r>
              <a:rPr lang="en-IN" dirty="0"/>
              <a:t>Train classifier (Naive Bayes / ML model). </a:t>
            </a:r>
          </a:p>
          <a:p>
            <a:pPr marL="342900" indent="-342900">
              <a:buFont typeface="+mj-lt"/>
              <a:buAutoNum type="arabicPeriod"/>
            </a:pPr>
            <a:r>
              <a:rPr lang="en-IN" dirty="0"/>
              <a:t>Predict sentiment. </a:t>
            </a:r>
          </a:p>
        </p:txBody>
      </p:sp>
      <p:sp>
        <p:nvSpPr>
          <p:cNvPr id="9" name="Rectangle 8">
            <a:extLst>
              <a:ext uri="{FF2B5EF4-FFF2-40B4-BE49-F238E27FC236}">
                <a16:creationId xmlns:a16="http://schemas.microsoft.com/office/drawing/2014/main" id="{CF666E78-6C8D-4166-A781-B02C4040BE14}"/>
              </a:ext>
            </a:extLst>
          </p:cNvPr>
          <p:cNvSpPr/>
          <p:nvPr/>
        </p:nvSpPr>
        <p:spPr>
          <a:xfrm>
            <a:off x="11423945" y="6610372"/>
            <a:ext cx="418704" cy="369332"/>
          </a:xfrm>
          <a:prstGeom prst="rect">
            <a:avLst/>
          </a:prstGeom>
        </p:spPr>
        <p:txBody>
          <a:bodyPr wrap="none">
            <a:spAutoFit/>
          </a:bodyPr>
          <a:lstStyle/>
          <a:p>
            <a:r>
              <a:rPr lang="en-US" dirty="0">
                <a:solidFill>
                  <a:schemeClr val="bg1"/>
                </a:solidFill>
              </a:rPr>
              <a:t>19</a:t>
            </a:r>
            <a:endParaRPr lang="en-IN" dirty="0">
              <a:solidFill>
                <a:schemeClr val="bg1"/>
              </a:solidFill>
            </a:endParaRPr>
          </a:p>
        </p:txBody>
      </p:sp>
    </p:spTree>
    <p:extLst>
      <p:ext uri="{BB962C8B-B14F-4D97-AF65-F5344CB8AC3E}">
        <p14:creationId xmlns:p14="http://schemas.microsoft.com/office/powerpoint/2010/main" val="3653882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US" sz="2800" b="1" dirty="0">
                <a:solidFill>
                  <a:schemeClr val="accent1">
                    <a:lumMod val="50000"/>
                  </a:schemeClr>
                </a:solidFill>
                <a:latin typeface="Calibri" pitchFamily="34" charset="0"/>
                <a:ea typeface="Calibri" pitchFamily="34" charset="-122"/>
                <a:cs typeface="Calibri" pitchFamily="34" charset="-120"/>
              </a:rPr>
              <a:t>E</a:t>
            </a:r>
            <a:r>
              <a:rPr lang="en-US" sz="2800" b="1" dirty="0">
                <a:solidFill>
                  <a:schemeClr val="accent1">
                    <a:lumMod val="50000"/>
                  </a:schemeClr>
                </a:solidFill>
              </a:rPr>
              <a:t>nd-to-End Machine Learning Project Workflow</a:t>
            </a:r>
          </a:p>
        </p:txBody>
      </p:sp>
      <p:sp>
        <p:nvSpPr>
          <p:cNvPr id="7" name="TextBox 6">
            <a:extLst>
              <a:ext uri="{FF2B5EF4-FFF2-40B4-BE49-F238E27FC236}">
                <a16:creationId xmlns:a16="http://schemas.microsoft.com/office/drawing/2014/main" id="{CEF43B69-2E64-4618-AF9B-BBD1CF2D117C}"/>
              </a:ext>
            </a:extLst>
          </p:cNvPr>
          <p:cNvSpPr txBox="1"/>
          <p:nvPr/>
        </p:nvSpPr>
        <p:spPr>
          <a:xfrm>
            <a:off x="435686" y="924531"/>
            <a:ext cx="4333538" cy="5816977"/>
          </a:xfrm>
          <a:prstGeom prst="rect">
            <a:avLst/>
          </a:prstGeom>
          <a:noFill/>
        </p:spPr>
        <p:txBody>
          <a:bodyPr wrap="square" rtlCol="0">
            <a:spAutoFit/>
          </a:bodyPr>
          <a:lstStyle/>
          <a:p>
            <a:r>
              <a:rPr lang="en-US" b="1" dirty="0">
                <a:solidFill>
                  <a:srgbClr val="C00000"/>
                </a:solidFill>
              </a:rPr>
              <a:t>End-to-End Machine Learning Project Workflow</a:t>
            </a:r>
          </a:p>
          <a:p>
            <a:r>
              <a:rPr lang="en-US" sz="1600" dirty="0"/>
              <a:t>An end-to-end Machine Learning (ML) project follows a structured pipeline from problem understanding to final deployment and reporting.</a:t>
            </a:r>
          </a:p>
          <a:p>
            <a:pPr marL="285750" indent="-285750">
              <a:buFont typeface="Wingdings" panose="05000000000000000000" pitchFamily="2" charset="2"/>
              <a:buChar char="v"/>
            </a:pPr>
            <a:r>
              <a:rPr lang="en-US" sz="1600" b="1" dirty="0">
                <a:solidFill>
                  <a:schemeClr val="accent1">
                    <a:lumMod val="75000"/>
                  </a:schemeClr>
                </a:solidFill>
              </a:rPr>
              <a:t>Problem Definition</a:t>
            </a:r>
          </a:p>
          <a:p>
            <a:r>
              <a:rPr lang="en-US" sz="1600" dirty="0"/>
              <a:t>Clearly define the objective of the ML project. </a:t>
            </a:r>
          </a:p>
          <a:p>
            <a:r>
              <a:rPr lang="en-US" sz="1600" dirty="0">
                <a:solidFill>
                  <a:schemeClr val="accent6">
                    <a:lumMod val="75000"/>
                  </a:schemeClr>
                </a:solidFill>
              </a:rPr>
              <a:t>Identify: </a:t>
            </a:r>
          </a:p>
          <a:p>
            <a:pPr marL="742950" lvl="1" indent="-285750">
              <a:buFont typeface="Arial" panose="020B0604020202020204" pitchFamily="34" charset="0"/>
              <a:buChar char="•"/>
            </a:pPr>
            <a:r>
              <a:rPr lang="en-US" sz="1600" dirty="0"/>
              <a:t>Type of problem (Classification / Regression / Clustering) </a:t>
            </a:r>
          </a:p>
          <a:p>
            <a:pPr marL="742950" lvl="1" indent="-285750">
              <a:buFont typeface="Arial" panose="020B0604020202020204" pitchFamily="34" charset="0"/>
              <a:buChar char="•"/>
            </a:pPr>
            <a:r>
              <a:rPr lang="en-US" sz="1600" dirty="0"/>
              <a:t>Target variable </a:t>
            </a:r>
          </a:p>
          <a:p>
            <a:pPr marL="742950" lvl="1" indent="-285750">
              <a:buFont typeface="Arial" panose="020B0604020202020204" pitchFamily="34" charset="0"/>
              <a:buChar char="•"/>
            </a:pPr>
            <a:r>
              <a:rPr lang="en-US" sz="1600" dirty="0"/>
              <a:t>Success metrics (Accuracy, RMSE, F1-score) </a:t>
            </a:r>
          </a:p>
          <a:p>
            <a:pPr marL="285750" indent="-285750">
              <a:buFont typeface="Wingdings" panose="05000000000000000000" pitchFamily="2" charset="2"/>
              <a:buChar char="v"/>
            </a:pPr>
            <a:r>
              <a:rPr lang="en-US" sz="1600" b="1" dirty="0">
                <a:solidFill>
                  <a:schemeClr val="accent1">
                    <a:lumMod val="75000"/>
                  </a:schemeClr>
                </a:solidFill>
              </a:rPr>
              <a:t>Dataset Selection</a:t>
            </a:r>
          </a:p>
          <a:p>
            <a:r>
              <a:rPr lang="en-US" sz="1600" dirty="0"/>
              <a:t>Choose a relevant and high-quality dataset. </a:t>
            </a:r>
          </a:p>
          <a:p>
            <a:r>
              <a:rPr lang="en-US" sz="1600" dirty="0">
                <a:solidFill>
                  <a:schemeClr val="accent6">
                    <a:lumMod val="75000"/>
                  </a:schemeClr>
                </a:solidFill>
              </a:rPr>
              <a:t>Sources: </a:t>
            </a:r>
          </a:p>
          <a:p>
            <a:pPr marL="742950" lvl="1" indent="-285750">
              <a:buFont typeface="Arial" panose="020B0604020202020204" pitchFamily="34" charset="0"/>
              <a:buChar char="•"/>
            </a:pPr>
            <a:r>
              <a:rPr lang="en-US" sz="1600" dirty="0"/>
              <a:t>Kaggle </a:t>
            </a:r>
          </a:p>
          <a:p>
            <a:pPr marL="742950" lvl="1" indent="-285750">
              <a:buFont typeface="Arial" panose="020B0604020202020204" pitchFamily="34" charset="0"/>
              <a:buChar char="•"/>
            </a:pPr>
            <a:r>
              <a:rPr lang="en-US" sz="1600" dirty="0"/>
              <a:t>UCI Machine Learning Repository </a:t>
            </a:r>
          </a:p>
          <a:p>
            <a:pPr marL="742950" lvl="1" indent="-285750">
              <a:buFont typeface="Arial" panose="020B0604020202020204" pitchFamily="34" charset="0"/>
              <a:buChar char="•"/>
            </a:pPr>
            <a:r>
              <a:rPr lang="en-US" sz="1600" dirty="0"/>
              <a:t>Real-world company data </a:t>
            </a:r>
          </a:p>
          <a:p>
            <a:r>
              <a:rPr lang="en-US" sz="1600" dirty="0">
                <a:solidFill>
                  <a:schemeClr val="accent6">
                    <a:lumMod val="75000"/>
                  </a:schemeClr>
                </a:solidFill>
              </a:rPr>
              <a:t>Ensure: </a:t>
            </a:r>
          </a:p>
          <a:p>
            <a:pPr marL="742950" lvl="1" indent="-285750">
              <a:buFont typeface="Arial" panose="020B0604020202020204" pitchFamily="34" charset="0"/>
              <a:buChar char="•"/>
            </a:pPr>
            <a:r>
              <a:rPr lang="en-US" sz="1600" dirty="0"/>
              <a:t>Sufficient data size </a:t>
            </a:r>
          </a:p>
          <a:p>
            <a:pPr marL="742950" lvl="1" indent="-285750">
              <a:buFont typeface="Arial" panose="020B0604020202020204" pitchFamily="34" charset="0"/>
              <a:buChar char="•"/>
            </a:pPr>
            <a:r>
              <a:rPr lang="en-US" sz="1600" dirty="0"/>
              <a:t>Balanced classes (if classification) </a:t>
            </a:r>
          </a:p>
          <a:p>
            <a:pPr marL="742950" lvl="1" indent="-285750">
              <a:buFont typeface="Arial" panose="020B0604020202020204" pitchFamily="34" charset="0"/>
              <a:buChar char="•"/>
            </a:pPr>
            <a:r>
              <a:rPr lang="en-US" sz="1600" dirty="0"/>
              <a:t>Minimal missing values</a:t>
            </a:r>
          </a:p>
        </p:txBody>
      </p:sp>
      <p:sp>
        <p:nvSpPr>
          <p:cNvPr id="8" name="TextBox 7">
            <a:extLst>
              <a:ext uri="{FF2B5EF4-FFF2-40B4-BE49-F238E27FC236}">
                <a16:creationId xmlns:a16="http://schemas.microsoft.com/office/drawing/2014/main" id="{461659B2-0865-4C94-9F15-55CDFFCE4412}"/>
              </a:ext>
            </a:extLst>
          </p:cNvPr>
          <p:cNvSpPr txBox="1"/>
          <p:nvPr/>
        </p:nvSpPr>
        <p:spPr>
          <a:xfrm>
            <a:off x="4769224" y="920643"/>
            <a:ext cx="3827929" cy="4308872"/>
          </a:xfrm>
          <a:prstGeom prst="rect">
            <a:avLst/>
          </a:prstGeom>
          <a:noFill/>
        </p:spPr>
        <p:txBody>
          <a:bodyPr wrap="square" rtlCol="0">
            <a:spAutoFit/>
          </a:bodyPr>
          <a:lstStyle/>
          <a:p>
            <a:r>
              <a:rPr lang="en-IN" sz="1600" b="1" dirty="0">
                <a:solidFill>
                  <a:srgbClr val="C00000"/>
                </a:solidFill>
              </a:rPr>
              <a:t>Full ML Pipeline</a:t>
            </a:r>
          </a:p>
          <a:p>
            <a:r>
              <a:rPr lang="en-IN" sz="1600" b="1" dirty="0">
                <a:solidFill>
                  <a:schemeClr val="accent1">
                    <a:lumMod val="75000"/>
                  </a:schemeClr>
                </a:solidFill>
              </a:rPr>
              <a:t>Step-by-step Workflow</a:t>
            </a:r>
          </a:p>
          <a:p>
            <a:pPr marL="285750" indent="-285750">
              <a:buFont typeface="Arial" panose="020B0604020202020204" pitchFamily="34" charset="0"/>
              <a:buChar char="•"/>
            </a:pPr>
            <a:r>
              <a:rPr lang="en-IN" sz="1600" b="1" dirty="0"/>
              <a:t>EDA (Exploratory Data Analysis)</a:t>
            </a:r>
            <a:r>
              <a:rPr lang="en-IN" sz="1600" dirty="0"/>
              <a:t> </a:t>
            </a:r>
          </a:p>
          <a:p>
            <a:pPr marL="742950" lvl="1" indent="-285750">
              <a:buFont typeface="Wingdings" panose="05000000000000000000" pitchFamily="2" charset="2"/>
              <a:buChar char="§"/>
            </a:pPr>
            <a:r>
              <a:rPr lang="en-IN" sz="1600" dirty="0"/>
              <a:t>Understand patterns, distributions, and correlations </a:t>
            </a:r>
          </a:p>
          <a:p>
            <a:pPr marL="285750" indent="-285750">
              <a:buFont typeface="Arial" panose="020B0604020202020204" pitchFamily="34" charset="0"/>
              <a:buChar char="•"/>
            </a:pPr>
            <a:r>
              <a:rPr lang="en-IN" sz="1600" b="1" dirty="0"/>
              <a:t>Data </a:t>
            </a:r>
            <a:r>
              <a:rPr lang="en-IN" sz="1600" b="1" dirty="0" err="1"/>
              <a:t>Preprocessing</a:t>
            </a:r>
            <a:r>
              <a:rPr lang="en-IN" sz="1600" dirty="0"/>
              <a:t> </a:t>
            </a:r>
          </a:p>
          <a:p>
            <a:pPr marL="742950" lvl="1" indent="-285750">
              <a:buFont typeface="Wingdings" panose="05000000000000000000" pitchFamily="2" charset="2"/>
              <a:buChar char="§"/>
            </a:pPr>
            <a:r>
              <a:rPr lang="en-IN" sz="1600" dirty="0"/>
              <a:t>Handling missing values </a:t>
            </a:r>
          </a:p>
          <a:p>
            <a:pPr marL="742950" lvl="1" indent="-285750">
              <a:buFont typeface="Wingdings" panose="05000000000000000000" pitchFamily="2" charset="2"/>
              <a:buChar char="§"/>
            </a:pPr>
            <a:r>
              <a:rPr lang="en-IN" sz="1600" dirty="0"/>
              <a:t>Encoding categorical variables </a:t>
            </a:r>
          </a:p>
          <a:p>
            <a:pPr marL="742950" lvl="1" indent="-285750">
              <a:buFont typeface="Wingdings" panose="05000000000000000000" pitchFamily="2" charset="2"/>
              <a:buChar char="§"/>
            </a:pPr>
            <a:r>
              <a:rPr lang="en-IN" sz="1600" dirty="0"/>
              <a:t>Feature scaling </a:t>
            </a:r>
          </a:p>
          <a:p>
            <a:pPr marL="285750" indent="-285750">
              <a:buFont typeface="Arial" panose="020B0604020202020204" pitchFamily="34" charset="0"/>
              <a:buChar char="•"/>
            </a:pPr>
            <a:r>
              <a:rPr lang="en-IN" sz="1600" b="1" dirty="0" err="1"/>
              <a:t>Modeling</a:t>
            </a:r>
            <a:r>
              <a:rPr lang="en-IN" sz="1600" dirty="0"/>
              <a:t> </a:t>
            </a:r>
          </a:p>
          <a:p>
            <a:pPr marL="742950" lvl="1" indent="-285750">
              <a:buFont typeface="Wingdings" panose="05000000000000000000" pitchFamily="2" charset="2"/>
              <a:buChar char="§"/>
            </a:pPr>
            <a:r>
              <a:rPr lang="en-IN" sz="1600" dirty="0"/>
              <a:t>Train ML models (e.g., Linear Regression, Random Forest, SVM) </a:t>
            </a:r>
          </a:p>
          <a:p>
            <a:pPr marL="285750" indent="-285750">
              <a:buFont typeface="Arial" panose="020B0604020202020204" pitchFamily="34" charset="0"/>
              <a:buChar char="•"/>
            </a:pPr>
            <a:r>
              <a:rPr lang="en-IN" sz="1600" b="1" dirty="0"/>
              <a:t>Evaluation</a:t>
            </a:r>
            <a:r>
              <a:rPr lang="en-IN" sz="1600" dirty="0"/>
              <a:t> </a:t>
            </a:r>
          </a:p>
          <a:p>
            <a:pPr marL="742950" lvl="1" indent="-285750">
              <a:buFont typeface="Wingdings" panose="05000000000000000000" pitchFamily="2" charset="2"/>
              <a:buChar char="§"/>
            </a:pPr>
            <a:r>
              <a:rPr lang="en-IN" sz="1600" dirty="0"/>
              <a:t>Measure performance using metrics </a:t>
            </a:r>
          </a:p>
          <a:p>
            <a:pPr marL="742950" lvl="1" indent="-285750">
              <a:buFont typeface="Wingdings" panose="05000000000000000000" pitchFamily="2" charset="2"/>
              <a:buChar char="§"/>
            </a:pPr>
            <a:r>
              <a:rPr lang="en-IN" sz="1600" dirty="0"/>
              <a:t>Compare multiple models</a:t>
            </a:r>
          </a:p>
          <a:p>
            <a:endParaRPr lang="en-IN" dirty="0"/>
          </a:p>
        </p:txBody>
      </p:sp>
      <p:sp>
        <p:nvSpPr>
          <p:cNvPr id="9" name="Rectangle 8">
            <a:extLst>
              <a:ext uri="{FF2B5EF4-FFF2-40B4-BE49-F238E27FC236}">
                <a16:creationId xmlns:a16="http://schemas.microsoft.com/office/drawing/2014/main" id="{8D400F96-E775-48D2-AEA1-5AD4E15C6530}"/>
              </a:ext>
            </a:extLst>
          </p:cNvPr>
          <p:cNvSpPr/>
          <p:nvPr/>
        </p:nvSpPr>
        <p:spPr>
          <a:xfrm>
            <a:off x="9524648" y="1364426"/>
            <a:ext cx="1968650" cy="3970318"/>
          </a:xfrm>
          <a:prstGeom prst="rect">
            <a:avLst/>
          </a:prstGeom>
          <a:solidFill>
            <a:schemeClr val="tx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r>
              <a:rPr lang="en-IN" dirty="0"/>
              <a:t>Problem Definition</a:t>
            </a:r>
          </a:p>
          <a:p>
            <a:r>
              <a:rPr lang="en-IN" dirty="0"/>
              <a:t>        ↓</a:t>
            </a:r>
          </a:p>
          <a:p>
            <a:r>
              <a:rPr lang="en-IN" dirty="0"/>
              <a:t>Dataset Collection</a:t>
            </a:r>
          </a:p>
          <a:p>
            <a:r>
              <a:rPr lang="en-IN" dirty="0"/>
              <a:t>        ↓</a:t>
            </a:r>
          </a:p>
          <a:p>
            <a:r>
              <a:rPr lang="en-IN" dirty="0"/>
              <a:t>EDA (Analysis)</a:t>
            </a:r>
          </a:p>
          <a:p>
            <a:r>
              <a:rPr lang="en-IN" dirty="0"/>
              <a:t>        ↓</a:t>
            </a:r>
          </a:p>
          <a:p>
            <a:r>
              <a:rPr lang="en-IN" dirty="0" err="1"/>
              <a:t>Preprocessing</a:t>
            </a:r>
            <a:endParaRPr lang="en-IN" dirty="0"/>
          </a:p>
          <a:p>
            <a:r>
              <a:rPr lang="en-IN" dirty="0"/>
              <a:t>        ↓</a:t>
            </a:r>
          </a:p>
          <a:p>
            <a:r>
              <a:rPr lang="en-IN" dirty="0"/>
              <a:t>Model Training</a:t>
            </a:r>
          </a:p>
          <a:p>
            <a:r>
              <a:rPr lang="en-IN" dirty="0"/>
              <a:t>        ↓</a:t>
            </a:r>
          </a:p>
          <a:p>
            <a:r>
              <a:rPr lang="en-IN" dirty="0"/>
              <a:t>Evaluation</a:t>
            </a:r>
          </a:p>
          <a:p>
            <a:r>
              <a:rPr lang="en-IN" dirty="0"/>
              <a:t>        ↓</a:t>
            </a:r>
          </a:p>
          <a:p>
            <a:r>
              <a:rPr lang="en-IN" dirty="0"/>
              <a:t>Best Model Selection</a:t>
            </a:r>
          </a:p>
        </p:txBody>
      </p:sp>
      <p:sp>
        <p:nvSpPr>
          <p:cNvPr id="11" name="TextBox 10">
            <a:extLst>
              <a:ext uri="{FF2B5EF4-FFF2-40B4-BE49-F238E27FC236}">
                <a16:creationId xmlns:a16="http://schemas.microsoft.com/office/drawing/2014/main" id="{3E6F8A09-D81B-464A-9B63-48DE5CF15E89}"/>
              </a:ext>
            </a:extLst>
          </p:cNvPr>
          <p:cNvSpPr txBox="1"/>
          <p:nvPr/>
        </p:nvSpPr>
        <p:spPr>
          <a:xfrm>
            <a:off x="9206753" y="925266"/>
            <a:ext cx="2383281" cy="369332"/>
          </a:xfrm>
          <a:prstGeom prst="rect">
            <a:avLst/>
          </a:prstGeom>
          <a:noFill/>
        </p:spPr>
        <p:txBody>
          <a:bodyPr wrap="none" rtlCol="0">
            <a:spAutoFit/>
          </a:bodyPr>
          <a:lstStyle/>
          <a:p>
            <a:r>
              <a:rPr lang="en-IN" b="1" dirty="0">
                <a:solidFill>
                  <a:schemeClr val="accent1">
                    <a:lumMod val="75000"/>
                  </a:schemeClr>
                </a:solidFill>
              </a:rPr>
              <a:t>Pipeline Flow Diagram:</a:t>
            </a:r>
          </a:p>
        </p:txBody>
      </p:sp>
      <p:sp>
        <p:nvSpPr>
          <p:cNvPr id="12" name="Rectangle 11">
            <a:extLst>
              <a:ext uri="{FF2B5EF4-FFF2-40B4-BE49-F238E27FC236}">
                <a16:creationId xmlns:a16="http://schemas.microsoft.com/office/drawing/2014/main" id="{3C104F9D-8368-41B2-8FB4-75D3195DE1D0}"/>
              </a:ext>
            </a:extLst>
          </p:cNvPr>
          <p:cNvSpPr/>
          <p:nvPr/>
        </p:nvSpPr>
        <p:spPr>
          <a:xfrm>
            <a:off x="11283946" y="6584434"/>
            <a:ext cx="418704" cy="369332"/>
          </a:xfrm>
          <a:prstGeom prst="rect">
            <a:avLst/>
          </a:prstGeom>
        </p:spPr>
        <p:txBody>
          <a:bodyPr wrap="none">
            <a:spAutoFit/>
          </a:bodyPr>
          <a:lstStyle/>
          <a:p>
            <a:r>
              <a:rPr lang="en-US" dirty="0">
                <a:solidFill>
                  <a:schemeClr val="bg1"/>
                </a:solidFill>
              </a:rPr>
              <a:t>20</a:t>
            </a:r>
            <a:endParaRPr lang="en-IN" dirty="0">
              <a:solidFill>
                <a:schemeClr val="bg1"/>
              </a:solidFill>
            </a:endParaRPr>
          </a:p>
        </p:txBody>
      </p:sp>
    </p:spTree>
    <p:extLst>
      <p:ext uri="{BB962C8B-B14F-4D97-AF65-F5344CB8AC3E}">
        <p14:creationId xmlns:p14="http://schemas.microsoft.com/office/powerpoint/2010/main" val="4283402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35685" y="10131"/>
            <a:ext cx="11338560" cy="914400"/>
          </a:xfrm>
          <a:prstGeom prst="rect">
            <a:avLst/>
          </a:prstGeom>
          <a:noFill/>
          <a:ln/>
        </p:spPr>
        <p:txBody>
          <a:bodyPr wrap="square" rtlCol="0" anchor="ctr"/>
          <a:lstStyle/>
          <a:p>
            <a:r>
              <a:rPr lang="en-IN" sz="2800" b="1" dirty="0">
                <a:solidFill>
                  <a:schemeClr val="accent1">
                    <a:lumMod val="50000"/>
                  </a:schemeClr>
                </a:solidFill>
              </a:rPr>
              <a:t>Evaluation, Visualization &amp; Reporting</a:t>
            </a:r>
            <a:endParaRPr lang="en-US" sz="2800" b="1" dirty="0">
              <a:solidFill>
                <a:schemeClr val="accent1">
                  <a:lumMod val="50000"/>
                </a:schemeClr>
              </a:solidFill>
            </a:endParaRPr>
          </a:p>
        </p:txBody>
      </p:sp>
      <p:sp>
        <p:nvSpPr>
          <p:cNvPr id="7" name="TextBox 6">
            <a:extLst>
              <a:ext uri="{FF2B5EF4-FFF2-40B4-BE49-F238E27FC236}">
                <a16:creationId xmlns:a16="http://schemas.microsoft.com/office/drawing/2014/main" id="{FC4C9045-0D04-4068-9CFE-D99E1F9BC2ED}"/>
              </a:ext>
            </a:extLst>
          </p:cNvPr>
          <p:cNvSpPr txBox="1"/>
          <p:nvPr/>
        </p:nvSpPr>
        <p:spPr>
          <a:xfrm>
            <a:off x="435686" y="857988"/>
            <a:ext cx="4934174" cy="5786199"/>
          </a:xfrm>
          <a:prstGeom prst="rect">
            <a:avLst/>
          </a:prstGeom>
          <a:noFill/>
        </p:spPr>
        <p:txBody>
          <a:bodyPr wrap="square" rtlCol="0">
            <a:spAutoFit/>
          </a:bodyPr>
          <a:lstStyle/>
          <a:p>
            <a:r>
              <a:rPr lang="en-IN" b="1" dirty="0">
                <a:solidFill>
                  <a:schemeClr val="accent1">
                    <a:lumMod val="50000"/>
                  </a:schemeClr>
                </a:solidFill>
              </a:rPr>
              <a:t>Model Evaluation</a:t>
            </a:r>
          </a:p>
          <a:p>
            <a:r>
              <a:rPr lang="en-IN" sz="1600" dirty="0"/>
              <a:t>Evaluate model performance using: </a:t>
            </a:r>
          </a:p>
          <a:p>
            <a:pPr marL="742950" lvl="1" indent="-285750">
              <a:buFont typeface="Arial" panose="020B0604020202020204" pitchFamily="34" charset="0"/>
              <a:buChar char="•"/>
            </a:pPr>
            <a:r>
              <a:rPr lang="en-IN" sz="1600" dirty="0"/>
              <a:t>Accuracy </a:t>
            </a:r>
          </a:p>
          <a:p>
            <a:pPr marL="742950" lvl="1" indent="-285750">
              <a:buFont typeface="Arial" panose="020B0604020202020204" pitchFamily="34" charset="0"/>
              <a:buChar char="•"/>
            </a:pPr>
            <a:r>
              <a:rPr lang="en-IN" sz="1600" dirty="0"/>
              <a:t>Precision, Recall, F1-score </a:t>
            </a:r>
          </a:p>
          <a:p>
            <a:pPr marL="742950" lvl="1" indent="-285750">
              <a:buFont typeface="Arial" panose="020B0604020202020204" pitchFamily="34" charset="0"/>
              <a:buChar char="•"/>
            </a:pPr>
            <a:r>
              <a:rPr lang="en-IN" sz="1600" dirty="0"/>
              <a:t>ROC-AUC (for classification) </a:t>
            </a:r>
          </a:p>
          <a:p>
            <a:pPr marL="742950" lvl="1" indent="-285750">
              <a:buFont typeface="Arial" panose="020B0604020202020204" pitchFamily="34" charset="0"/>
              <a:buChar char="•"/>
            </a:pPr>
            <a:r>
              <a:rPr lang="en-IN" sz="1600" dirty="0"/>
              <a:t>RMSE / MAE (for regression)</a:t>
            </a:r>
          </a:p>
          <a:p>
            <a:pPr lvl="1"/>
            <a:endParaRPr lang="en-IN" sz="1600" dirty="0"/>
          </a:p>
          <a:p>
            <a:r>
              <a:rPr lang="en-IN" b="1" dirty="0">
                <a:solidFill>
                  <a:schemeClr val="accent1">
                    <a:lumMod val="50000"/>
                  </a:schemeClr>
                </a:solidFill>
              </a:rPr>
              <a:t>Reporting Results with Visualizations</a:t>
            </a:r>
          </a:p>
          <a:p>
            <a:r>
              <a:rPr lang="en-IN" b="1" dirty="0">
                <a:solidFill>
                  <a:schemeClr val="accent1">
                    <a:lumMod val="50000"/>
                  </a:schemeClr>
                </a:solidFill>
              </a:rPr>
              <a:t>Common Visualizations</a:t>
            </a:r>
          </a:p>
          <a:p>
            <a:pPr marL="285750" indent="-285750">
              <a:buFont typeface="Arial" panose="020B0604020202020204" pitchFamily="34" charset="0"/>
              <a:buChar char="•"/>
            </a:pPr>
            <a:r>
              <a:rPr lang="en-IN" sz="1600" dirty="0"/>
              <a:t>Confusion Matrix (classification performance) </a:t>
            </a:r>
          </a:p>
          <a:p>
            <a:pPr marL="285750" indent="-285750">
              <a:buFont typeface="Arial" panose="020B0604020202020204" pitchFamily="34" charset="0"/>
              <a:buChar char="•"/>
            </a:pPr>
            <a:r>
              <a:rPr lang="en-IN" sz="1600" dirty="0"/>
              <a:t>ROC Curve (model discrimination ability) </a:t>
            </a:r>
          </a:p>
          <a:p>
            <a:pPr marL="285750" indent="-285750">
              <a:buFont typeface="Arial" panose="020B0604020202020204" pitchFamily="34" charset="0"/>
              <a:buChar char="•"/>
            </a:pPr>
            <a:r>
              <a:rPr lang="en-IN" sz="1600" dirty="0"/>
              <a:t>Feature Importance Plot </a:t>
            </a:r>
          </a:p>
          <a:p>
            <a:pPr marL="285750" indent="-285750">
              <a:buFont typeface="Arial" panose="020B0604020202020204" pitchFamily="34" charset="0"/>
              <a:buChar char="•"/>
            </a:pPr>
            <a:r>
              <a:rPr lang="en-IN" sz="1600" dirty="0"/>
              <a:t>Error Distribution Plot </a:t>
            </a:r>
          </a:p>
          <a:p>
            <a:pPr marL="285750" indent="-285750">
              <a:buFont typeface="Arial" panose="020B0604020202020204" pitchFamily="34" charset="0"/>
              <a:buChar char="•"/>
            </a:pPr>
            <a:r>
              <a:rPr lang="en-IN" sz="1600" dirty="0"/>
              <a:t>Actual vs Predicted graph</a:t>
            </a:r>
          </a:p>
          <a:p>
            <a:endParaRPr lang="en-IN" sz="1600" dirty="0"/>
          </a:p>
          <a:p>
            <a:r>
              <a:rPr lang="en-US" b="1" dirty="0">
                <a:solidFill>
                  <a:schemeClr val="accent6">
                    <a:lumMod val="75000"/>
                  </a:schemeClr>
                </a:solidFill>
              </a:rPr>
              <a:t>Why Visualization is Important?</a:t>
            </a:r>
          </a:p>
          <a:p>
            <a:pPr marL="285750" indent="-285750">
              <a:buFont typeface="Arial" panose="020B0604020202020204" pitchFamily="34" charset="0"/>
              <a:buChar char="•"/>
            </a:pPr>
            <a:r>
              <a:rPr lang="en-US" dirty="0"/>
              <a:t>Makes results easy to understand </a:t>
            </a:r>
          </a:p>
          <a:p>
            <a:pPr marL="285750" indent="-285750">
              <a:buFont typeface="Arial" panose="020B0604020202020204" pitchFamily="34" charset="0"/>
              <a:buChar char="•"/>
            </a:pPr>
            <a:r>
              <a:rPr lang="en-US" dirty="0"/>
              <a:t>Helps compare multiple models </a:t>
            </a:r>
          </a:p>
          <a:p>
            <a:pPr marL="285750" indent="-285750">
              <a:buFont typeface="Arial" panose="020B0604020202020204" pitchFamily="34" charset="0"/>
              <a:buChar char="•"/>
            </a:pPr>
            <a:r>
              <a:rPr lang="en-US" dirty="0"/>
              <a:t>Identifies errors and patterns </a:t>
            </a:r>
          </a:p>
          <a:p>
            <a:pPr marL="285750" indent="-285750">
              <a:buFont typeface="Arial" panose="020B0604020202020204" pitchFamily="34" charset="0"/>
              <a:buChar char="•"/>
            </a:pPr>
            <a:r>
              <a:rPr lang="en-US" dirty="0"/>
              <a:t>Supports decision-making </a:t>
            </a:r>
          </a:p>
          <a:p>
            <a:pPr marL="742950" lvl="1" indent="-285750">
              <a:buFont typeface="Arial" panose="020B0604020202020204" pitchFamily="34" charset="0"/>
              <a:buChar char="•"/>
            </a:pPr>
            <a:endParaRPr lang="en-IN" sz="1600" dirty="0"/>
          </a:p>
          <a:p>
            <a:endParaRPr lang="en-IN" dirty="0"/>
          </a:p>
        </p:txBody>
      </p:sp>
      <p:sp>
        <p:nvSpPr>
          <p:cNvPr id="9" name="Rectangle 8">
            <a:extLst>
              <a:ext uri="{FF2B5EF4-FFF2-40B4-BE49-F238E27FC236}">
                <a16:creationId xmlns:a16="http://schemas.microsoft.com/office/drawing/2014/main" id="{825CC24F-DBDA-47B4-9B0F-E9B613F1EBD7}"/>
              </a:ext>
            </a:extLst>
          </p:cNvPr>
          <p:cNvSpPr/>
          <p:nvPr/>
        </p:nvSpPr>
        <p:spPr>
          <a:xfrm>
            <a:off x="5504329" y="888468"/>
            <a:ext cx="5988969" cy="3139321"/>
          </a:xfrm>
          <a:prstGeom prst="rect">
            <a:avLst/>
          </a:prstGeom>
        </p:spPr>
        <p:txBody>
          <a:bodyPr wrap="square">
            <a:spAutoFit/>
          </a:bodyPr>
          <a:lstStyle/>
          <a:p>
            <a:r>
              <a:rPr lang="en-US" b="1" dirty="0">
                <a:solidFill>
                  <a:schemeClr val="accent5">
                    <a:lumMod val="75000"/>
                  </a:schemeClr>
                </a:solidFill>
              </a:rPr>
              <a:t>Final Output</a:t>
            </a:r>
          </a:p>
          <a:p>
            <a:pPr>
              <a:buFont typeface="Arial" panose="020B0604020202020204" pitchFamily="34" charset="0"/>
              <a:buChar char="•"/>
            </a:pPr>
            <a:r>
              <a:rPr lang="en-US" dirty="0"/>
              <a:t>Select the best-performing model </a:t>
            </a:r>
          </a:p>
          <a:p>
            <a:pPr>
              <a:buFont typeface="Arial" panose="020B0604020202020204" pitchFamily="34" charset="0"/>
              <a:buChar char="•"/>
            </a:pPr>
            <a:r>
              <a:rPr lang="en-US" dirty="0"/>
              <a:t>Deploy or present results </a:t>
            </a:r>
          </a:p>
          <a:p>
            <a:pPr>
              <a:buFont typeface="Arial" panose="020B0604020202020204" pitchFamily="34" charset="0"/>
              <a:buChar char="•"/>
            </a:pPr>
            <a:r>
              <a:rPr lang="en-US" dirty="0"/>
              <a:t>Summarize insights and business impact</a:t>
            </a:r>
          </a:p>
          <a:p>
            <a:r>
              <a:rPr lang="en-US" b="1" dirty="0">
                <a:solidFill>
                  <a:schemeClr val="accent6">
                    <a:lumMod val="75000"/>
                  </a:schemeClr>
                </a:solidFill>
              </a:rPr>
              <a:t>Applications</a:t>
            </a:r>
          </a:p>
          <a:p>
            <a:pPr marL="285750" indent="-285750">
              <a:buFont typeface="Arial" panose="020B0604020202020204" pitchFamily="34" charset="0"/>
              <a:buChar char="•"/>
            </a:pPr>
            <a:r>
              <a:rPr lang="en-US" dirty="0"/>
              <a:t>Fraud Detection Systems </a:t>
            </a:r>
          </a:p>
          <a:p>
            <a:pPr marL="285750" indent="-285750">
              <a:buFont typeface="Arial" panose="020B0604020202020204" pitchFamily="34" charset="0"/>
              <a:buChar char="•"/>
            </a:pPr>
            <a:r>
              <a:rPr lang="en-US" dirty="0"/>
              <a:t>House Price Prediction </a:t>
            </a:r>
          </a:p>
          <a:p>
            <a:pPr marL="285750" indent="-285750">
              <a:buFont typeface="Arial" panose="020B0604020202020204" pitchFamily="34" charset="0"/>
              <a:buChar char="•"/>
            </a:pPr>
            <a:r>
              <a:rPr lang="en-US" dirty="0"/>
              <a:t>Customer Churn Prediction </a:t>
            </a:r>
          </a:p>
          <a:p>
            <a:pPr marL="285750" indent="-285750">
              <a:buFont typeface="Arial" panose="020B0604020202020204" pitchFamily="34" charset="0"/>
              <a:buChar char="•"/>
            </a:pPr>
            <a:r>
              <a:rPr lang="en-US" dirty="0"/>
              <a:t>Medical Diagnosis Models </a:t>
            </a:r>
          </a:p>
          <a:p>
            <a:pPr marL="285750" indent="-285750">
              <a:buFont typeface="Arial" panose="020B0604020202020204" pitchFamily="34" charset="0"/>
              <a:buChar char="•"/>
            </a:pPr>
            <a:r>
              <a:rPr lang="en-US" dirty="0"/>
              <a:t>Recommendation Systems </a:t>
            </a:r>
          </a:p>
          <a:p>
            <a:endParaRPr lang="en-US" dirty="0"/>
          </a:p>
        </p:txBody>
      </p:sp>
      <p:sp>
        <p:nvSpPr>
          <p:cNvPr id="10" name="Rectangle 9">
            <a:extLst>
              <a:ext uri="{FF2B5EF4-FFF2-40B4-BE49-F238E27FC236}">
                <a16:creationId xmlns:a16="http://schemas.microsoft.com/office/drawing/2014/main" id="{6D27E734-262E-45D5-B95A-BAC1D501EE18}"/>
              </a:ext>
            </a:extLst>
          </p:cNvPr>
          <p:cNvSpPr/>
          <p:nvPr/>
        </p:nvSpPr>
        <p:spPr>
          <a:xfrm>
            <a:off x="11283946" y="6584434"/>
            <a:ext cx="418704" cy="369332"/>
          </a:xfrm>
          <a:prstGeom prst="rect">
            <a:avLst/>
          </a:prstGeom>
        </p:spPr>
        <p:txBody>
          <a:bodyPr wrap="none">
            <a:spAutoFit/>
          </a:bodyPr>
          <a:lstStyle/>
          <a:p>
            <a:r>
              <a:rPr lang="en-US" dirty="0">
                <a:solidFill>
                  <a:schemeClr val="bg1"/>
                </a:solidFill>
              </a:rPr>
              <a:t>22</a:t>
            </a:r>
            <a:endParaRPr lang="en-IN" dirty="0">
              <a:solidFill>
                <a:schemeClr val="bg1"/>
              </a:solidFill>
            </a:endParaRPr>
          </a:p>
        </p:txBody>
      </p:sp>
    </p:spTree>
    <p:extLst>
      <p:ext uri="{BB962C8B-B14F-4D97-AF65-F5344CB8AC3E}">
        <p14:creationId xmlns:p14="http://schemas.microsoft.com/office/powerpoint/2010/main" val="3258364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1FFE59-026A-473E-A6C1-33BE905C1CD7}"/>
              </a:ext>
            </a:extLst>
          </p:cNvPr>
          <p:cNvPicPr>
            <a:picLocks noChangeAspect="1"/>
          </p:cNvPicPr>
          <p:nvPr/>
        </p:nvPicPr>
        <p:blipFill rotWithShape="1">
          <a:blip r:embed="rId2"/>
          <a:srcRect t="4392"/>
          <a:stretch/>
        </p:blipFill>
        <p:spPr>
          <a:xfrm>
            <a:off x="11493298" y="120228"/>
            <a:ext cx="698703" cy="662205"/>
          </a:xfrm>
          <a:prstGeom prst="rect">
            <a:avLst/>
          </a:prstGeom>
        </p:spPr>
      </p:pic>
      <p:sp>
        <p:nvSpPr>
          <p:cNvPr id="3" name="Rectangle 2">
            <a:extLst>
              <a:ext uri="{FF2B5EF4-FFF2-40B4-BE49-F238E27FC236}">
                <a16:creationId xmlns:a16="http://schemas.microsoft.com/office/drawing/2014/main" id="{C789F53C-0DA9-4701-8524-7428C456B9C0}"/>
              </a:ext>
            </a:extLst>
          </p:cNvPr>
          <p:cNvSpPr/>
          <p:nvPr/>
        </p:nvSpPr>
        <p:spPr>
          <a:xfrm>
            <a:off x="0" y="827509"/>
            <a:ext cx="12192000" cy="6095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pic>
        <p:nvPicPr>
          <p:cNvPr id="4" name="Picture 3">
            <a:extLst>
              <a:ext uri="{FF2B5EF4-FFF2-40B4-BE49-F238E27FC236}">
                <a16:creationId xmlns:a16="http://schemas.microsoft.com/office/drawing/2014/main" id="{E8DC0CBA-66F4-4490-B6C3-E30F70CD7B72}"/>
              </a:ext>
            </a:extLst>
          </p:cNvPr>
          <p:cNvPicPr>
            <a:picLocks noChangeAspect="1"/>
          </p:cNvPicPr>
          <p:nvPr/>
        </p:nvPicPr>
        <p:blipFill>
          <a:blip r:embed="rId3"/>
          <a:stretch>
            <a:fillRect/>
          </a:stretch>
        </p:blipFill>
        <p:spPr>
          <a:xfrm>
            <a:off x="9727856" y="6292828"/>
            <a:ext cx="2464144" cy="317544"/>
          </a:xfrm>
          <a:prstGeom prst="rect">
            <a:avLst/>
          </a:prstGeom>
        </p:spPr>
      </p:pic>
      <p:sp>
        <p:nvSpPr>
          <p:cNvPr id="5" name="Rectangle 4">
            <a:extLst>
              <a:ext uri="{FF2B5EF4-FFF2-40B4-BE49-F238E27FC236}">
                <a16:creationId xmlns:a16="http://schemas.microsoft.com/office/drawing/2014/main" id="{FBA78B91-1AE7-4F8C-97C7-A0C50D96305D}"/>
              </a:ext>
            </a:extLst>
          </p:cNvPr>
          <p:cNvSpPr/>
          <p:nvPr/>
        </p:nvSpPr>
        <p:spPr>
          <a:xfrm>
            <a:off x="0" y="6680200"/>
            <a:ext cx="12192000" cy="17780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6" name="Text 1">
            <a:extLst>
              <a:ext uri="{FF2B5EF4-FFF2-40B4-BE49-F238E27FC236}">
                <a16:creationId xmlns:a16="http://schemas.microsoft.com/office/drawing/2014/main" id="{4BEB3655-4959-4283-BBCE-3F68CEC4998C}"/>
              </a:ext>
            </a:extLst>
          </p:cNvPr>
          <p:cNvSpPr/>
          <p:nvPr/>
        </p:nvSpPr>
        <p:spPr>
          <a:xfrm>
            <a:off x="426720" y="10131"/>
            <a:ext cx="11338560" cy="914400"/>
          </a:xfrm>
          <a:prstGeom prst="rect">
            <a:avLst/>
          </a:prstGeom>
          <a:noFill/>
          <a:ln/>
        </p:spPr>
        <p:txBody>
          <a:bodyPr wrap="square" rtlCol="0" anchor="ctr"/>
          <a:lstStyle/>
          <a:p>
            <a:r>
              <a:rPr lang="en-US" sz="2800" b="1" dirty="0">
                <a:solidFill>
                  <a:srgbClr val="002060"/>
                </a:solidFill>
                <a:latin typeface="Calibri" pitchFamily="34" charset="0"/>
                <a:ea typeface="Calibri" pitchFamily="34" charset="-122"/>
                <a:cs typeface="Calibri" pitchFamily="34" charset="-120"/>
              </a:rPr>
              <a:t>References</a:t>
            </a:r>
            <a:endParaRPr lang="en-US" sz="2800" dirty="0">
              <a:solidFill>
                <a:srgbClr val="002060"/>
              </a:solidFill>
            </a:endParaRPr>
          </a:p>
        </p:txBody>
      </p:sp>
      <p:graphicFrame>
        <p:nvGraphicFramePr>
          <p:cNvPr id="7" name="Table 6">
            <a:extLst>
              <a:ext uri="{FF2B5EF4-FFF2-40B4-BE49-F238E27FC236}">
                <a16:creationId xmlns:a16="http://schemas.microsoft.com/office/drawing/2014/main" id="{4591D496-15D2-468E-B61D-66C6DF749904}"/>
              </a:ext>
            </a:extLst>
          </p:cNvPr>
          <p:cNvGraphicFramePr>
            <a:graphicFrameLocks noGrp="1"/>
          </p:cNvGraphicFramePr>
          <p:nvPr>
            <p:extLst>
              <p:ext uri="{D42A27DB-BD31-4B8C-83A1-F6EECF244321}">
                <p14:modId xmlns:p14="http://schemas.microsoft.com/office/powerpoint/2010/main" val="2846591865"/>
              </p:ext>
            </p:extLst>
          </p:nvPr>
        </p:nvGraphicFramePr>
        <p:xfrm>
          <a:off x="426720" y="1153271"/>
          <a:ext cx="11066578" cy="4808259"/>
        </p:xfrm>
        <a:graphic>
          <a:graphicData uri="http://schemas.openxmlformats.org/drawingml/2006/table">
            <a:tbl>
              <a:tblPr>
                <a:tableStyleId>{69C7853C-536D-4A76-A0AE-DD22124D55A5}</a:tableStyleId>
              </a:tblPr>
              <a:tblGrid>
                <a:gridCol w="3643494">
                  <a:extLst>
                    <a:ext uri="{9D8B030D-6E8A-4147-A177-3AD203B41FA5}">
                      <a16:colId xmlns:a16="http://schemas.microsoft.com/office/drawing/2014/main" val="2953596856"/>
                    </a:ext>
                  </a:extLst>
                </a:gridCol>
                <a:gridCol w="3711542">
                  <a:extLst>
                    <a:ext uri="{9D8B030D-6E8A-4147-A177-3AD203B41FA5}">
                      <a16:colId xmlns:a16="http://schemas.microsoft.com/office/drawing/2014/main" val="3415645173"/>
                    </a:ext>
                  </a:extLst>
                </a:gridCol>
                <a:gridCol w="3711542">
                  <a:extLst>
                    <a:ext uri="{9D8B030D-6E8A-4147-A177-3AD203B41FA5}">
                      <a16:colId xmlns:a16="http://schemas.microsoft.com/office/drawing/2014/main" val="1781286888"/>
                    </a:ext>
                  </a:extLst>
                </a:gridCol>
              </a:tblGrid>
              <a:tr h="438183">
                <a:tc>
                  <a:txBody>
                    <a:bodyPr/>
                    <a:lstStyle/>
                    <a:p>
                      <a:r>
                        <a:rPr lang="en-IN" sz="1600" b="1" dirty="0" err="1"/>
                        <a:t>Webesite</a:t>
                      </a:r>
                      <a:endParaRPr lang="en-IN" sz="1600" b="1" dirty="0"/>
                    </a:p>
                  </a:txBody>
                  <a:tcPr marL="69069" marR="69069" marT="34534" marB="34534" anchor="ctr">
                    <a:solidFill>
                      <a:schemeClr val="tx2">
                        <a:lumMod val="20000"/>
                        <a:lumOff val="80000"/>
                      </a:schemeClr>
                    </a:solidFill>
                  </a:tcPr>
                </a:tc>
                <a:tc>
                  <a:txBody>
                    <a:bodyPr/>
                    <a:lstStyle/>
                    <a:p>
                      <a:r>
                        <a:rPr lang="en-IN" sz="1600" b="1" dirty="0"/>
                        <a:t>Link</a:t>
                      </a:r>
                    </a:p>
                  </a:txBody>
                  <a:tcPr marL="69069" marR="69069" marT="34534" marB="34534" anchor="ctr">
                    <a:solidFill>
                      <a:schemeClr val="tx2">
                        <a:lumMod val="20000"/>
                        <a:lumOff val="80000"/>
                      </a:schemeClr>
                    </a:solidFill>
                  </a:tcPr>
                </a:tc>
                <a:tc>
                  <a:txBody>
                    <a:bodyPr/>
                    <a:lstStyle/>
                    <a:p>
                      <a:r>
                        <a:rPr lang="en-IN" sz="1600" b="1" dirty="0"/>
                        <a:t>Why it is Useful</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986192060"/>
                  </a:ext>
                </a:extLst>
              </a:tr>
              <a:tr h="779645">
                <a:tc>
                  <a:txBody>
                    <a:bodyPr/>
                    <a:lstStyle/>
                    <a:p>
                      <a:r>
                        <a:rPr lang="en-IN" sz="1600" dirty="0" err="1"/>
                        <a:t>GeeksforGeeks</a:t>
                      </a:r>
                      <a:endParaRPr lang="en-IN" sz="1600" dirty="0"/>
                    </a:p>
                  </a:txBody>
                  <a:tcPr marL="69069" marR="69069" marT="34534" marB="34534" anchor="ctr">
                    <a:solidFill>
                      <a:schemeClr val="tx2">
                        <a:lumMod val="20000"/>
                        <a:lumOff val="80000"/>
                      </a:schemeClr>
                    </a:solidFill>
                  </a:tcPr>
                </a:tc>
                <a:tc>
                  <a:txBody>
                    <a:bodyPr/>
                    <a:lstStyle/>
                    <a:p>
                      <a:r>
                        <a:rPr lang="en-IN" sz="1600" dirty="0">
                          <a:hlinkClick r:id="rId4"/>
                        </a:rPr>
                        <a:t>https://www.geeksforgeeks.org/machine-learning/</a:t>
                      </a:r>
                      <a:endParaRPr lang="en-IN" sz="1600" dirty="0"/>
                    </a:p>
                  </a:txBody>
                  <a:tcPr marL="69069" marR="69069" marT="34534" marB="34534" anchor="ctr">
                    <a:solidFill>
                      <a:schemeClr val="tx2">
                        <a:lumMod val="20000"/>
                        <a:lumOff val="80000"/>
                      </a:schemeClr>
                    </a:solidFill>
                  </a:tcPr>
                </a:tc>
                <a:tc>
                  <a:txBody>
                    <a:bodyPr/>
                    <a:lstStyle/>
                    <a:p>
                      <a:r>
                        <a:rPr lang="en-IN" sz="1600" dirty="0"/>
                        <a:t>Simple explanations, beginner-friendly content</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1211497379"/>
                  </a:ext>
                </a:extLst>
              </a:tr>
              <a:tr h="779645">
                <a:tc>
                  <a:txBody>
                    <a:bodyPr/>
                    <a:lstStyle/>
                    <a:p>
                      <a:r>
                        <a:rPr lang="en-IN" sz="1600" dirty="0"/>
                        <a:t>Wikipedia</a:t>
                      </a:r>
                    </a:p>
                  </a:txBody>
                  <a:tcPr marL="69069" marR="69069" marT="34534" marB="34534" anchor="ctr">
                    <a:solidFill>
                      <a:schemeClr val="tx2">
                        <a:lumMod val="20000"/>
                        <a:lumOff val="80000"/>
                      </a:schemeClr>
                    </a:solidFill>
                  </a:tcPr>
                </a:tc>
                <a:tc>
                  <a:txBody>
                    <a:bodyPr/>
                    <a:lstStyle/>
                    <a:p>
                      <a:r>
                        <a:rPr lang="en-IN" sz="1600" dirty="0">
                          <a:hlinkClick r:id="rId5"/>
                        </a:rPr>
                        <a:t>https://en.wikipedia.org/wiki/Machine_learning</a:t>
                      </a:r>
                      <a:endParaRPr lang="en-IN" sz="1600" dirty="0"/>
                    </a:p>
                  </a:txBody>
                  <a:tcPr marL="69069" marR="69069" marT="34534" marB="34534" anchor="ctr">
                    <a:solidFill>
                      <a:schemeClr val="tx2">
                        <a:lumMod val="20000"/>
                        <a:lumOff val="80000"/>
                      </a:schemeClr>
                    </a:solidFill>
                  </a:tcPr>
                </a:tc>
                <a:tc>
                  <a:txBody>
                    <a:bodyPr/>
                    <a:lstStyle/>
                    <a:p>
                      <a:r>
                        <a:rPr lang="en-US" sz="1600" dirty="0"/>
                        <a:t>Reliable definitions and background knowledge</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3579346981"/>
                  </a:ext>
                </a:extLst>
              </a:tr>
              <a:tr h="677047">
                <a:tc>
                  <a:txBody>
                    <a:bodyPr/>
                    <a:lstStyle/>
                    <a:p>
                      <a:r>
                        <a:rPr lang="en-IN" sz="1600" dirty="0"/>
                        <a:t>Analytics Vidhya</a:t>
                      </a:r>
                    </a:p>
                  </a:txBody>
                  <a:tcPr marL="69069" marR="69069" marT="34534" marB="34534" anchor="ctr">
                    <a:solidFill>
                      <a:schemeClr val="tx2">
                        <a:lumMod val="20000"/>
                        <a:lumOff val="80000"/>
                      </a:schemeClr>
                    </a:solidFill>
                  </a:tcPr>
                </a:tc>
                <a:tc>
                  <a:txBody>
                    <a:bodyPr/>
                    <a:lstStyle/>
                    <a:p>
                      <a:r>
                        <a:rPr lang="en-IN" sz="1600" dirty="0">
                          <a:hlinkClick r:id="rId6"/>
                        </a:rPr>
                        <a:t>https://www.analyticsvidhya.com</a:t>
                      </a:r>
                      <a:endParaRPr lang="en-IN" sz="1600" dirty="0"/>
                    </a:p>
                  </a:txBody>
                  <a:tcPr marL="69069" marR="69069" marT="34534" marB="34534" anchor="ctr">
                    <a:solidFill>
                      <a:schemeClr val="tx2">
                        <a:lumMod val="20000"/>
                        <a:lumOff val="80000"/>
                      </a:schemeClr>
                    </a:solidFill>
                  </a:tcPr>
                </a:tc>
                <a:tc>
                  <a:txBody>
                    <a:bodyPr/>
                    <a:lstStyle/>
                    <a:p>
                      <a:r>
                        <a:rPr lang="en-IN" sz="1600" dirty="0"/>
                        <a:t>Easy-to-understand ML explanations</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852863023"/>
                  </a:ext>
                </a:extLst>
              </a:tr>
              <a:tr h="677047">
                <a:tc>
                  <a:txBody>
                    <a:bodyPr/>
                    <a:lstStyle/>
                    <a:p>
                      <a:r>
                        <a:rPr lang="en-IN" sz="1600" dirty="0"/>
                        <a:t>Towards Data Science</a:t>
                      </a:r>
                    </a:p>
                  </a:txBody>
                  <a:tcPr marL="69069" marR="69069" marT="34534" marB="34534" anchor="ctr">
                    <a:solidFill>
                      <a:schemeClr val="tx2">
                        <a:lumMod val="20000"/>
                        <a:lumOff val="80000"/>
                      </a:schemeClr>
                    </a:solidFill>
                  </a:tcPr>
                </a:tc>
                <a:tc>
                  <a:txBody>
                    <a:bodyPr/>
                    <a:lstStyle/>
                    <a:p>
                      <a:r>
                        <a:rPr lang="en-IN" sz="1600" dirty="0">
                          <a:hlinkClick r:id="rId7"/>
                        </a:rPr>
                        <a:t>https://towardsdatascience.com</a:t>
                      </a:r>
                      <a:endParaRPr lang="en-IN" sz="1600" dirty="0"/>
                    </a:p>
                  </a:txBody>
                  <a:tcPr marL="69069" marR="69069" marT="34534" marB="34534" anchor="ctr">
                    <a:solidFill>
                      <a:schemeClr val="tx2">
                        <a:lumMod val="20000"/>
                        <a:lumOff val="80000"/>
                      </a:schemeClr>
                    </a:solidFill>
                  </a:tcPr>
                </a:tc>
                <a:tc>
                  <a:txBody>
                    <a:bodyPr/>
                    <a:lstStyle/>
                    <a:p>
                      <a:r>
                        <a:rPr lang="en-US" sz="1600" dirty="0"/>
                        <a:t>Real-world ML examples and insights</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3746782634"/>
                  </a:ext>
                </a:extLst>
              </a:tr>
              <a:tr h="677047">
                <a:tc>
                  <a:txBody>
                    <a:bodyPr/>
                    <a:lstStyle/>
                    <a:p>
                      <a:r>
                        <a:rPr lang="en-IN" sz="1600"/>
                        <a:t>Kaggle</a:t>
                      </a:r>
                    </a:p>
                  </a:txBody>
                  <a:tcPr marL="69069" marR="69069" marT="34534" marB="34534" anchor="ctr">
                    <a:solidFill>
                      <a:schemeClr val="tx2">
                        <a:lumMod val="20000"/>
                        <a:lumOff val="80000"/>
                      </a:schemeClr>
                    </a:solidFill>
                  </a:tcPr>
                </a:tc>
                <a:tc>
                  <a:txBody>
                    <a:bodyPr/>
                    <a:lstStyle/>
                    <a:p>
                      <a:r>
                        <a:rPr lang="en-IN" sz="1600" dirty="0">
                          <a:hlinkClick r:id="rId8"/>
                        </a:rPr>
                        <a:t>https://www.kaggle.com</a:t>
                      </a:r>
                      <a:endParaRPr lang="en-IN" sz="1600" dirty="0"/>
                    </a:p>
                  </a:txBody>
                  <a:tcPr marL="69069" marR="69069" marT="34534" marB="34534" anchor="ctr">
                    <a:solidFill>
                      <a:schemeClr val="tx2">
                        <a:lumMod val="20000"/>
                        <a:lumOff val="80000"/>
                      </a:schemeClr>
                    </a:solidFill>
                  </a:tcPr>
                </a:tc>
                <a:tc>
                  <a:txBody>
                    <a:bodyPr/>
                    <a:lstStyle/>
                    <a:p>
                      <a:r>
                        <a:rPr lang="en-US" sz="1600" dirty="0"/>
                        <a:t>Best for practical examples and visuals</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2566682413"/>
                  </a:ext>
                </a:extLst>
              </a:tr>
              <a:tr h="779645">
                <a:tc>
                  <a:txBody>
                    <a:bodyPr/>
                    <a:lstStyle/>
                    <a:p>
                      <a:r>
                        <a:rPr lang="en-IN" sz="1600"/>
                        <a:t>Scikit-learn documentation</a:t>
                      </a:r>
                    </a:p>
                  </a:txBody>
                  <a:tcPr marL="69069" marR="69069" marT="34534" marB="34534" anchor="ctr">
                    <a:solidFill>
                      <a:schemeClr val="tx2">
                        <a:lumMod val="20000"/>
                        <a:lumOff val="80000"/>
                      </a:schemeClr>
                    </a:solidFill>
                  </a:tcPr>
                </a:tc>
                <a:tc>
                  <a:txBody>
                    <a:bodyPr/>
                    <a:lstStyle/>
                    <a:p>
                      <a:r>
                        <a:rPr lang="en-IN" sz="1600">
                          <a:hlinkClick r:id="rId9"/>
                        </a:rPr>
                        <a:t>https://scikit-learn.org</a:t>
                      </a:r>
                      <a:endParaRPr lang="en-IN" sz="1600"/>
                    </a:p>
                  </a:txBody>
                  <a:tcPr marL="69069" marR="69069" marT="34534" marB="34534" anchor="ctr">
                    <a:solidFill>
                      <a:schemeClr val="tx2">
                        <a:lumMod val="20000"/>
                        <a:lumOff val="80000"/>
                      </a:schemeClr>
                    </a:solidFill>
                  </a:tcPr>
                </a:tc>
                <a:tc>
                  <a:txBody>
                    <a:bodyPr/>
                    <a:lstStyle/>
                    <a:p>
                      <a:r>
                        <a:rPr lang="en-US" sz="1600" dirty="0"/>
                        <a:t>Accurate technical reference for ML models</a:t>
                      </a:r>
                    </a:p>
                  </a:txBody>
                  <a:tcPr marL="69069" marR="69069" marT="34534" marB="34534" anchor="ctr">
                    <a:solidFill>
                      <a:schemeClr val="tx2">
                        <a:lumMod val="20000"/>
                        <a:lumOff val="80000"/>
                      </a:schemeClr>
                    </a:solidFill>
                  </a:tcPr>
                </a:tc>
                <a:extLst>
                  <a:ext uri="{0D108BD9-81ED-4DB2-BD59-A6C34878D82A}">
                    <a16:rowId xmlns:a16="http://schemas.microsoft.com/office/drawing/2014/main" val="1574849927"/>
                  </a:ext>
                </a:extLst>
              </a:tr>
            </a:tbl>
          </a:graphicData>
        </a:graphic>
      </p:graphicFrame>
    </p:spTree>
    <p:extLst>
      <p:ext uri="{BB962C8B-B14F-4D97-AF65-F5344CB8AC3E}">
        <p14:creationId xmlns:p14="http://schemas.microsoft.com/office/powerpoint/2010/main" val="3751360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750</TotalTime>
  <Words>4024</Words>
  <Application>Microsoft Office PowerPoint</Application>
  <PresentationFormat>Widescreen</PresentationFormat>
  <Paragraphs>877</Paragraphs>
  <Slides>26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Courier New</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user1</cp:lastModifiedBy>
  <cp:revision>68</cp:revision>
  <dcterms:created xsi:type="dcterms:W3CDTF">2026-05-21T06:29:53Z</dcterms:created>
  <dcterms:modified xsi:type="dcterms:W3CDTF">2026-07-02T03:43:05Z</dcterms:modified>
</cp:coreProperties>
</file>